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slides/slide15.xml" ContentType="application/vnd.openxmlformats-officedocument.presentationml.slide+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s/slide32.xml" ContentType="application/vnd.openxmlformats-officedocument.presentationml.slide+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8.xml" ContentType="application/vnd.openxmlformats-officedocument.presentationml.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3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Lst>
  <p:sldSz cx="12191695"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notesMaster" Target="notesMasters/notesMaster1.xml"/><Relationship Id="rId37" Type="http://schemas.openxmlformats.org/officeDocument/2006/relationships/presProps" Target="presProps.xml" /><Relationship Id="rId38" Type="http://schemas.openxmlformats.org/officeDocument/2006/relationships/tableStyles" Target="tableStyles.xml" /><Relationship Id="rId39"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ECEEED1-91B3-9C70-6BEE-2B1DBEA409F6}"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1674860-53B1-61BE-60E9-A9B3621F2DB8}"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8BE79DE-EA2F-27D8-DC49-CFA39F5AF10D}"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6DEFD2B-0806-3FC5-76AF-B52828E9B65B}"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3B6A097-CD35-C5B7-B34B-102A3D180346}"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CE746AA-B349-5C80-8F3F-D483BC9B164E}"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30834F1-29E7-6D1C-8A1E-F779BA0E866E}"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4703325-4C76-990B-D668-B9E4E0371A5D}"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3F7B04C-47FB-9D19-4171-DE07AC655B92}"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029AAA3-F2B8-CBD9-A172-0A9CDA3CB02F}"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342981E-25A1-4508-FA4E-3620164F1EAE}"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A7ACDF4-63FB-9F04-A97C-B8E32DEFD004}"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94D6DC9-24EB-1BCA-3E0E-C1A01ED6314B}"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C306501-FE0F-450A-5D45-878B22AAA6C3}"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C18394B-C378-F057-1416-8F75577CBFD4}"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E7F382B-1F85-C133-E651-07B2F05458A8}"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7A3DC10-5C1C-9B53-69F5-F773C59E7548}"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7164DDB-F711-5916-9500-783E43C73A84}"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72FC129-A702-4B1D-88B7-E71A18AF0285}"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A5FC67D-2172-3147-08A5-100E2F99E843}"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DBDA340-E2D5-559E-9047-23034D0E4092}"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937C5EC-9CF0-3DF0-2403-E2115AF46952}"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B5186F9-DEF1-D8B6-E75C-F678842E97BD}"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C5C6791-0A7F-C3F3-FFBD-C8B2AF3FDCA8}"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94355CF-8F6C-7B6F-256F-B728C34EE368}"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867B14D-5519-0809-9713-D583B3F22EAB}"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7DCC4DA-6C6F-84B8-D531-FC25CD893E63}"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9CBC58D-1669-3778-84FE-4232E6F93A24}"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A68EA8C-C990-AEA0-02EB-857E48AB54AF}"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FAD0224-F5E9-7C65-D60F-E2B2A90C66C0}"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E8B4E69-2E1C-B512-E446-5B53333A32A1}"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8A1BE7B-2265-9C86-07DE-1C0A821DD492}"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359571612"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1388822954"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2033052686"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460709287" name="Footer Placeholder 4"/>
          <p:cNvSpPr>
            <a:spLocks noGrp="1"/>
          </p:cNvSpPr>
          <p:nvPr>
            <p:ph type="ftr" sz="quarter" idx="11"/>
          </p:nvPr>
        </p:nvSpPr>
        <p:spPr bwMode="auto"/>
        <p:txBody>
          <a:bodyPr/>
          <a:lstStyle/>
          <a:p>
            <a:pPr>
              <a:defRPr/>
            </a:pPr>
            <a:endParaRPr lang="en-US"/>
          </a:p>
        </p:txBody>
      </p:sp>
      <p:sp>
        <p:nvSpPr>
          <p:cNvPr id="15401875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669055233" name="Title 1"/>
          <p:cNvSpPr>
            <a:spLocks noGrp="1"/>
          </p:cNvSpPr>
          <p:nvPr>
            <p:ph type="title"/>
          </p:nvPr>
        </p:nvSpPr>
        <p:spPr bwMode="auto"/>
        <p:txBody>
          <a:bodyPr/>
          <a:lstStyle/>
          <a:p>
            <a:pPr>
              <a:defRPr/>
            </a:pPr>
            <a:r>
              <a:rPr lang="en-US"/>
              <a:t>Click to edit Master title style</a:t>
            </a:r>
            <a:endParaRPr lang="en-US"/>
          </a:p>
        </p:txBody>
      </p:sp>
      <p:sp>
        <p:nvSpPr>
          <p:cNvPr id="1050497469"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52841497"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913098808" name="Footer Placeholder 4"/>
          <p:cNvSpPr>
            <a:spLocks noGrp="1"/>
          </p:cNvSpPr>
          <p:nvPr>
            <p:ph type="ftr" sz="quarter" idx="11"/>
          </p:nvPr>
        </p:nvSpPr>
        <p:spPr bwMode="auto"/>
        <p:txBody>
          <a:bodyPr/>
          <a:lstStyle/>
          <a:p>
            <a:pPr>
              <a:defRPr/>
            </a:pPr>
            <a:endParaRPr lang="en-US"/>
          </a:p>
        </p:txBody>
      </p:sp>
      <p:sp>
        <p:nvSpPr>
          <p:cNvPr id="962644910"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751571784"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599271075"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537584117"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734397861" name="Footer Placeholder 4"/>
          <p:cNvSpPr>
            <a:spLocks noGrp="1"/>
          </p:cNvSpPr>
          <p:nvPr>
            <p:ph type="ftr" sz="quarter" idx="11"/>
          </p:nvPr>
        </p:nvSpPr>
        <p:spPr bwMode="auto"/>
        <p:txBody>
          <a:bodyPr/>
          <a:lstStyle/>
          <a:p>
            <a:pPr>
              <a:defRPr/>
            </a:pPr>
            <a:endParaRPr lang="en-US"/>
          </a:p>
        </p:txBody>
      </p:sp>
      <p:sp>
        <p:nvSpPr>
          <p:cNvPr id="1119080653"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682638194" name="Title 1"/>
          <p:cNvSpPr>
            <a:spLocks noGrp="1"/>
          </p:cNvSpPr>
          <p:nvPr>
            <p:ph type="title"/>
          </p:nvPr>
        </p:nvSpPr>
        <p:spPr bwMode="auto"/>
        <p:txBody>
          <a:bodyPr/>
          <a:lstStyle/>
          <a:p>
            <a:pPr>
              <a:defRPr/>
            </a:pPr>
            <a:r>
              <a:rPr lang="en-US"/>
              <a:t>Click to edit Master title style</a:t>
            </a:r>
            <a:endParaRPr lang="en-US"/>
          </a:p>
        </p:txBody>
      </p:sp>
      <p:sp>
        <p:nvSpPr>
          <p:cNvPr id="1573577267"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64399206"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24136195"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794792393" name="Footer Placeholder 5"/>
          <p:cNvSpPr>
            <a:spLocks noGrp="1"/>
          </p:cNvSpPr>
          <p:nvPr>
            <p:ph type="ftr" sz="quarter" idx="11"/>
          </p:nvPr>
        </p:nvSpPr>
        <p:spPr bwMode="auto"/>
        <p:txBody>
          <a:bodyPr/>
          <a:lstStyle/>
          <a:p>
            <a:pPr>
              <a:defRPr/>
            </a:pPr>
            <a:endParaRPr lang="en-US"/>
          </a:p>
        </p:txBody>
      </p:sp>
      <p:sp>
        <p:nvSpPr>
          <p:cNvPr id="1567409385"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404808869"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461279515"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26684427"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25640487"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850159655"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04992459" name="Date Placeholder 6"/>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09550179" name="Footer Placeholder 7"/>
          <p:cNvSpPr>
            <a:spLocks noGrp="1"/>
          </p:cNvSpPr>
          <p:nvPr>
            <p:ph type="ftr" sz="quarter" idx="11"/>
          </p:nvPr>
        </p:nvSpPr>
        <p:spPr bwMode="auto"/>
        <p:txBody>
          <a:bodyPr/>
          <a:lstStyle/>
          <a:p>
            <a:pPr>
              <a:defRPr/>
            </a:pPr>
            <a:endParaRPr lang="en-US"/>
          </a:p>
        </p:txBody>
      </p:sp>
      <p:sp>
        <p:nvSpPr>
          <p:cNvPr id="25673400"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759016879" name="Title 1"/>
          <p:cNvSpPr>
            <a:spLocks noGrp="1"/>
          </p:cNvSpPr>
          <p:nvPr>
            <p:ph type="title"/>
          </p:nvPr>
        </p:nvSpPr>
        <p:spPr bwMode="auto"/>
        <p:txBody>
          <a:bodyPr/>
          <a:lstStyle/>
          <a:p>
            <a:pPr>
              <a:defRPr/>
            </a:pPr>
            <a:r>
              <a:rPr lang="en-US"/>
              <a:t>Click to edit Master title style</a:t>
            </a:r>
            <a:endParaRPr lang="en-US"/>
          </a:p>
        </p:txBody>
      </p:sp>
      <p:sp>
        <p:nvSpPr>
          <p:cNvPr id="211686696" name="Date Placeholder 2"/>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259921207" name="Footer Placeholder 3"/>
          <p:cNvSpPr>
            <a:spLocks noGrp="1"/>
          </p:cNvSpPr>
          <p:nvPr>
            <p:ph type="ftr" sz="quarter" idx="11"/>
          </p:nvPr>
        </p:nvSpPr>
        <p:spPr bwMode="auto"/>
        <p:txBody>
          <a:bodyPr/>
          <a:lstStyle/>
          <a:p>
            <a:pPr>
              <a:defRPr/>
            </a:pPr>
            <a:endParaRPr lang="en-US"/>
          </a:p>
        </p:txBody>
      </p:sp>
      <p:sp>
        <p:nvSpPr>
          <p:cNvPr id="2092813018"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638010151" name="Date Placeholder 1"/>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671054871" name="Footer Placeholder 2"/>
          <p:cNvSpPr>
            <a:spLocks noGrp="1"/>
          </p:cNvSpPr>
          <p:nvPr>
            <p:ph type="ftr" sz="quarter" idx="11"/>
          </p:nvPr>
        </p:nvSpPr>
        <p:spPr bwMode="auto"/>
        <p:txBody>
          <a:bodyPr/>
          <a:lstStyle/>
          <a:p>
            <a:pPr>
              <a:defRPr/>
            </a:pPr>
            <a:endParaRPr lang="en-US"/>
          </a:p>
        </p:txBody>
      </p:sp>
      <p:sp>
        <p:nvSpPr>
          <p:cNvPr id="882918343"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648665859"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2042125138"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37069119"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378498172"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143786520" name="Footer Placeholder 5"/>
          <p:cNvSpPr>
            <a:spLocks noGrp="1"/>
          </p:cNvSpPr>
          <p:nvPr>
            <p:ph type="ftr" sz="quarter" idx="11"/>
          </p:nvPr>
        </p:nvSpPr>
        <p:spPr bwMode="auto"/>
        <p:txBody>
          <a:bodyPr/>
          <a:lstStyle/>
          <a:p>
            <a:pPr>
              <a:defRPr/>
            </a:pPr>
            <a:endParaRPr lang="en-US"/>
          </a:p>
        </p:txBody>
      </p:sp>
      <p:sp>
        <p:nvSpPr>
          <p:cNvPr id="1378713069"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679952763"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1191508903"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614218639"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698634218"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298437200" name="Footer Placeholder 5"/>
          <p:cNvSpPr>
            <a:spLocks noGrp="1"/>
          </p:cNvSpPr>
          <p:nvPr>
            <p:ph type="ftr" sz="quarter" idx="11"/>
          </p:nvPr>
        </p:nvSpPr>
        <p:spPr bwMode="auto"/>
        <p:txBody>
          <a:bodyPr/>
          <a:lstStyle/>
          <a:p>
            <a:pPr>
              <a:defRPr/>
            </a:pPr>
            <a:endParaRPr lang="en-US"/>
          </a:p>
        </p:txBody>
      </p:sp>
      <p:sp>
        <p:nvSpPr>
          <p:cNvPr id="2066544153"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830069224" name="Title 1"/>
          <p:cNvSpPr>
            <a:spLocks noGrp="1"/>
          </p:cNvSpPr>
          <p:nvPr>
            <p:ph type="title"/>
          </p:nvPr>
        </p:nvSpPr>
        <p:spPr bwMode="auto"/>
        <p:txBody>
          <a:bodyPr/>
          <a:lstStyle/>
          <a:p>
            <a:pPr>
              <a:defRPr/>
            </a:pPr>
            <a:r>
              <a:rPr lang="en-US"/>
              <a:t>Click to edit Master title style</a:t>
            </a:r>
            <a:endParaRPr lang="en-US"/>
          </a:p>
        </p:txBody>
      </p:sp>
      <p:sp>
        <p:nvSpPr>
          <p:cNvPr id="181704502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87994392"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872615415" name="Footer Placeholder 4"/>
          <p:cNvSpPr>
            <a:spLocks noGrp="1"/>
          </p:cNvSpPr>
          <p:nvPr>
            <p:ph type="ftr" sz="quarter" idx="11"/>
          </p:nvPr>
        </p:nvSpPr>
        <p:spPr bwMode="auto"/>
        <p:txBody>
          <a:bodyPr/>
          <a:lstStyle/>
          <a:p>
            <a:pPr>
              <a:defRPr/>
            </a:pPr>
            <a:endParaRPr lang="en-US"/>
          </a:p>
        </p:txBody>
      </p:sp>
      <p:sp>
        <p:nvSpPr>
          <p:cNvPr id="70710015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258321478"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1389186995"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77645961"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269026204" name="Footer Placeholder 4"/>
          <p:cNvSpPr>
            <a:spLocks noGrp="1"/>
          </p:cNvSpPr>
          <p:nvPr>
            <p:ph type="ftr" sz="quarter" idx="11"/>
          </p:nvPr>
        </p:nvSpPr>
        <p:spPr bwMode="auto"/>
        <p:txBody>
          <a:bodyPr/>
          <a:lstStyle/>
          <a:p>
            <a:pPr>
              <a:defRPr/>
            </a:pPr>
            <a:endParaRPr lang="en-US"/>
          </a:p>
        </p:txBody>
      </p:sp>
      <p:sp>
        <p:nvSpPr>
          <p:cNvPr id="837383378"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92910617"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216150645"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41698823"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1/27/13</a:t>
            </a:fld>
            <a:endParaRPr lang="en-US"/>
          </a:p>
        </p:txBody>
      </p:sp>
      <p:sp>
        <p:nvSpPr>
          <p:cNvPr id="1499562686"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715914726"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75679852" name="Rectangle 1"/>
          <p:cNvSpPr/>
          <p:nvPr/>
        </p:nvSpPr>
        <p:spPr bwMode="auto">
          <a:xfrm>
            <a:off x="0" y="0"/>
            <a:ext cx="914400" cy="685800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78913710" name="TextBox 2"/>
          <p:cNvSpPr txBox="1"/>
          <p:nvPr/>
        </p:nvSpPr>
        <p:spPr bwMode="auto">
          <a:xfrm>
            <a:off x="1280160" y="1097280"/>
            <a:ext cx="10060919" cy="1676759"/>
          </a:xfrm>
          <a:prstGeom prst="rect">
            <a:avLst/>
          </a:prstGeom>
          <a:noFill/>
        </p:spPr>
        <p:txBody>
          <a:bodyPr wrap="square">
            <a:spAutoFit/>
          </a:bodyPr>
          <a:lstStyle/>
          <a:p>
            <a:pPr>
              <a:defRPr sz="4400" b="1">
                <a:solidFill>
                  <a:srgbClr val="182B49"/>
                </a:solidFill>
                <a:latin typeface="Arial"/>
              </a:defRPr>
            </a:pPr>
            <a:r>
              <a:rPr b="1">
                <a:solidFill>
                  <a:schemeClr val="tx1"/>
                </a:solidFill>
              </a:rPr>
              <a:t>MediPrep</a:t>
            </a:r>
            <a:endParaRPr b="1">
              <a:solidFill>
                <a:schemeClr val="tx1"/>
              </a:solidFill>
            </a:endParaRPr>
          </a:p>
          <a:p>
            <a:pPr>
              <a:spcBef>
                <a:spcPts val="600"/>
              </a:spcBef>
              <a:defRPr sz="2200" b="1">
                <a:solidFill>
                  <a:srgbClr val="212529"/>
                </a:solidFill>
                <a:latin typeface="Arial"/>
              </a:defRPr>
            </a:pPr>
            <a:r>
              <a:rPr b="1">
                <a:solidFill>
                  <a:schemeClr val="tx1"/>
                </a:solidFill>
              </a:rPr>
              <a:t>Hospital Procedure Preparation and Readiness System</a:t>
            </a:r>
            <a:endParaRPr b="1">
              <a:solidFill>
                <a:schemeClr val="tx1"/>
              </a:solidFill>
            </a:endParaRPr>
          </a:p>
          <a:p>
            <a:pPr>
              <a:spcBef>
                <a:spcPts val="1800"/>
              </a:spcBef>
              <a:defRPr sz="1800">
                <a:solidFill>
                  <a:srgbClr val="6C757D"/>
                </a:solidFill>
                <a:latin typeface="Courier New"/>
              </a:defRPr>
            </a:pPr>
            <a:r>
              <a:rPr b="1">
                <a:solidFill>
                  <a:schemeClr val="tx1"/>
                </a:solidFill>
              </a:rPr>
              <a:t>MCA Project Review Presentation</a:t>
            </a:r>
            <a:endParaRPr/>
          </a:p>
        </p:txBody>
      </p:sp>
      <p:sp>
        <p:nvSpPr>
          <p:cNvPr id="646019025" name="Rounded Rectangle 3"/>
          <p:cNvSpPr/>
          <p:nvPr/>
        </p:nvSpPr>
        <p:spPr bwMode="auto">
          <a:xfrm>
            <a:off x="4754880" y="4297680"/>
            <a:ext cx="6858000" cy="2011680"/>
          </a:xfrm>
          <a:prstGeom prst="roundRect">
            <a:avLst>
              <a:gd name="adj" fmla="val 16667"/>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lIns="274320" tIns="182880" rtlCol="0" anchor="ctr"/>
          <a:lstStyle/>
          <a:p>
            <a:pPr algn="ctr">
              <a:defRPr sz="1300" b="1">
                <a:solidFill>
                  <a:srgbClr val="FFFFFF"/>
                </a:solidFill>
                <a:latin typeface="Arial"/>
              </a:defRPr>
            </a:pPr>
            <a:r>
              <a:rPr/>
              <a:t>STUDENT NAME: RYNU REJI   |   REGISTER NO: </a:t>
            </a:r>
            <a:r>
              <a:rPr/>
              <a:t>24SJMCA-2052</a:t>
            </a:r>
            <a:endParaRPr/>
          </a:p>
          <a:p>
            <a:pPr>
              <a:spcBef>
                <a:spcPts val="400"/>
              </a:spcBef>
              <a:defRPr sz="1100">
                <a:solidFill>
                  <a:srgbClr val="DCE6F5"/>
                </a:solidFill>
                <a:latin typeface="Arial"/>
              </a:defRPr>
            </a:pPr>
            <a:endParaRPr/>
          </a:p>
          <a:p>
            <a:pPr>
              <a:spcBef>
                <a:spcPts val="400"/>
              </a:spcBef>
              <a:defRPr sz="1100">
                <a:solidFill>
                  <a:srgbClr val="DCE6F5"/>
                </a:solidFill>
                <a:latin typeface="Arial"/>
              </a:defRPr>
            </a:pPr>
            <a:r>
              <a:rPr/>
              <a:t>S3 MCA</a:t>
            </a:r>
            <a:endParaRPr/>
          </a:p>
          <a:p>
            <a:pPr>
              <a:spcBef>
                <a:spcPts val="400"/>
              </a:spcBef>
              <a:defRPr sz="1100">
                <a:solidFill>
                  <a:srgbClr val="B4D2EB"/>
                </a:solidFill>
                <a:latin typeface="Arial"/>
              </a:defRPr>
            </a:pPr>
            <a:r>
              <a:rPr/>
              <a:t>PROJECT GUIDE: Assistant Professor Rajesh A.V.</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40057273"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MediPrep – Project Introduction</a:t>
            </a:r>
            <a:endParaRPr/>
          </a:p>
        </p:txBody>
      </p:sp>
      <p:sp>
        <p:nvSpPr>
          <p:cNvPr id="1812548701" name="TextBox 2"/>
          <p:cNvSpPr txBox="1"/>
          <p:nvPr/>
        </p:nvSpPr>
        <p:spPr bwMode="auto">
          <a:xfrm>
            <a:off x="685800" y="1097279"/>
            <a:ext cx="10817712" cy="5330549"/>
          </a:xfrm>
          <a:prstGeom prst="rect">
            <a:avLst/>
          </a:prstGeom>
          <a:noFill/>
        </p:spPr>
        <p:txBody>
          <a:bodyPr wrap="square">
            <a:spAutoFit/>
          </a:bodyPr>
          <a:lstStyle/>
          <a:p>
            <a:pPr>
              <a:lnSpc>
                <a:spcPct val="150000"/>
              </a:lnSpc>
              <a:spcAft>
                <a:spcPts val="1200"/>
              </a:spcAft>
              <a:defRPr sz="1350">
                <a:solidFill>
                  <a:srgbClr val="212529"/>
                </a:solidFill>
                <a:latin typeface="Arial"/>
              </a:defRPr>
            </a:pPr>
            <a:r>
              <a:rPr/>
              <a:t>MediPrep is a web-based hospital procedure preparation and readiness management system designed to organize pre-operative preparation activities in one centralized platform.</a:t>
            </a:r>
            <a:endParaRPr/>
          </a:p>
          <a:p>
            <a:pPr>
              <a:lnSpc>
                <a:spcPct val="150000"/>
              </a:lnSpc>
              <a:spcAft>
                <a:spcPts val="1200"/>
              </a:spcAft>
              <a:defRPr sz="1350">
                <a:solidFill>
                  <a:srgbClr val="212529"/>
                </a:solidFill>
                <a:latin typeface="Arial"/>
              </a:defRPr>
            </a:pPr>
            <a:r>
              <a:rPr/>
              <a:t>The system provides separate access for Doctors and Patients. Patients can view scheduled procedures, complete pre-op preparation checklists, upload required medical PDF reports, enter pre-operative vitals, and monitor their readiness status. Doctors can schedule procedures, manage preparation checklists, review and verify uploaded reports, monitor patient readiness, check safety alerts, and send clinical board messages.</a:t>
            </a:r>
            <a:endParaRPr/>
          </a:p>
          <a:p>
            <a:pPr>
              <a:lnSpc>
                <a:spcPct val="150000"/>
              </a:lnSpc>
              <a:spcAft>
                <a:spcPts val="1200"/>
              </a:spcAft>
              <a:defRPr sz="1350">
                <a:solidFill>
                  <a:srgbClr val="212529"/>
                </a:solidFill>
                <a:latin typeface="Arial"/>
              </a:defRPr>
            </a:pPr>
            <a:r>
              <a:rPr/>
              <a:t>The main aim of MediPrep is to reduce manual pre-op coordination work, avoid missed or misplaced medical reports, improve communication between doctors and patients, and maintain an organized digital record of procedure readiness. By replacing manual paper methods with a centralized digital system, the project helps make the hospital procedure preparation process more systematic, compliant, and convenient.</a:t>
            </a:r>
            <a:endParaRPr/>
          </a:p>
          <a:p>
            <a:pPr>
              <a:lnSpc>
                <a:spcPct val="150000"/>
              </a:lnSpc>
              <a:spcAft>
                <a:spcPts val="1200"/>
              </a:spcAft>
              <a:defRPr sz="1350">
                <a:solidFill>
                  <a:srgbClr val="212529"/>
                </a:solidFill>
                <a:latin typeface="Arial"/>
              </a:defRPr>
            </a:pPr>
            <a:r>
              <a:rPr/>
              <a:t>MediPrep can also help patients access their pre-operative guidelines and report upload history whenever required. Doctors can audit compliance records in an organized manner from a centralized dashboard, improving the overall safety and efficiency of procedure readiness management.</a:t>
            </a:r>
            <a:endParaRPr/>
          </a:p>
          <a:p>
            <a:pPr>
              <a:lnSpc>
                <a:spcPct val="150000"/>
              </a:lnSpc>
              <a:spcAft>
                <a:spcPts val="1200"/>
              </a:spcAft>
              <a:defRPr sz="1350">
                <a:solidFill>
                  <a:srgbClr val="212529"/>
                </a:solidFill>
                <a:latin typeface="Arial"/>
              </a:defRPr>
            </a:pPr>
            <a:r>
              <a:rPr/>
              <a:t>Overall, MediPrep provides a simple, organized, and centralized solution for managing pre-operative hospital preparation activities, benefiting both patients and healthcare providers.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90387648"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Existing System</a:t>
            </a:r>
            <a:endParaRPr/>
          </a:p>
        </p:txBody>
      </p:sp>
      <p:sp>
        <p:nvSpPr>
          <p:cNvPr id="1635948987" name="TextBox 2"/>
          <p:cNvSpPr txBox="1"/>
          <p:nvPr/>
        </p:nvSpPr>
        <p:spPr bwMode="auto">
          <a:xfrm>
            <a:off x="685800" y="1371600"/>
            <a:ext cx="10817352" cy="5029200"/>
          </a:xfrm>
          <a:prstGeom prst="rect">
            <a:avLst/>
          </a:prstGeom>
          <a:noFill/>
        </p:spPr>
        <p:txBody>
          <a:bodyPr wrap="square">
            <a:spAutoFit/>
          </a:bodyPr>
          <a:lstStyle/>
          <a:p>
            <a:pPr>
              <a:spcAft>
                <a:spcPts val="1000"/>
              </a:spcAft>
              <a:defRPr sz="1300">
                <a:solidFill>
                  <a:srgbClr val="212529"/>
                </a:solidFill>
                <a:latin typeface="Arial"/>
              </a:defRPr>
            </a:pPr>
            <a:r>
              <a:rPr/>
              <a:t>The existing hospital procedure preparation process is mainly handled through manual methods such as direct visits to hospital departments, verbal instructions, paper-based forms, and phone calls.</a:t>
            </a:r>
            <a:endParaRPr/>
          </a:p>
          <a:p>
            <a:pPr>
              <a:spcAft>
                <a:spcPts val="1000"/>
              </a:spcAft>
              <a:defRPr sz="1300">
                <a:solidFill>
                  <a:srgbClr val="212529"/>
                </a:solidFill>
                <a:latin typeface="Arial"/>
              </a:defRPr>
            </a:pPr>
            <a:r>
              <a:rPr/>
              <a:t>Different medical departments provide preparation instructions based on their own protocols and procedure requirements. Each procedure (e.g. MRI, ECG, CT scan, Colonoscopy, Catheterization) has its own specific pre-operative guidelines, required blood tests, and fasting hours.</a:t>
            </a:r>
            <a:endParaRPr/>
          </a:p>
          <a:p>
            <a:pPr>
              <a:spcAft>
                <a:spcPts val="1000"/>
              </a:spcAft>
              <a:defRPr sz="1300">
                <a:solidFill>
                  <a:srgbClr val="212529"/>
                </a:solidFill>
                <a:latin typeface="Arial"/>
              </a:defRPr>
            </a:pPr>
            <a:r>
              <a:rPr/>
              <a:t>Healthcare staff and doctors commonly maintain patient records, consent forms, lab test reports, and scheduled case lists using physical paper files, registers, or separate hospital logs. As a result, managing multiple scheduled patients can be difficult.</a:t>
            </a:r>
            <a:endParaRPr/>
          </a:p>
          <a:p>
            <a:pPr>
              <a:spcAft>
                <a:spcPts val="1000"/>
              </a:spcAft>
              <a:defRPr sz="1300">
                <a:solidFill>
                  <a:srgbClr val="212529"/>
                </a:solidFill>
                <a:latin typeface="Arial"/>
              </a:defRPr>
            </a:pPr>
            <a:r>
              <a:rPr/>
              <a:t>Patients may also have difficulty recalling complex preparation steps (like NPO fasting duration or stopping blood thinners). They may need to make repeated phone calls or hospital visits to clarify instructions or submit lab reports.</a:t>
            </a:r>
            <a:endParaRPr/>
          </a:p>
          <a:p>
            <a:pPr>
              <a:spcAft>
                <a:spcPts val="1000"/>
              </a:spcAft>
              <a:defRPr sz="1300">
                <a:solidFill>
                  <a:srgbClr val="212529"/>
                </a:solidFill>
                <a:latin typeface="Arial"/>
              </a:defRPr>
            </a:pPr>
            <a:r>
              <a:rPr/>
              <a:t>Communication between patients and clinical staff is often dependent on phone calls or verbal reminders. Doctors may only discover missing lab reports or out-of-range vitals shortly before the procedure hour.</a:t>
            </a:r>
            <a:endParaRPr/>
          </a:p>
          <a:p>
            <a:pPr>
              <a:spcAft>
                <a:spcPts val="1000"/>
              </a:spcAft>
              <a:defRPr sz="1300">
                <a:solidFill>
                  <a:srgbClr val="212529"/>
                </a:solidFill>
                <a:latin typeface="Arial"/>
              </a:defRPr>
            </a:pPr>
            <a:r>
              <a:rPr/>
              <a:t>The existing system can therefore lead to manual work, delays, missed prep steps, difficulty in maintaining medical records, communication problems, and inefficient management of pre-operative clinical records.</a:t>
            </a:r>
            <a:endParaRPr/>
          </a:p>
          <a:p>
            <a:pPr>
              <a:spcAft>
                <a:spcPts val="1000"/>
              </a:spcAft>
              <a:defRPr sz="1300">
                <a:solidFill>
                  <a:srgbClr val="212529"/>
                </a:solidFill>
                <a:latin typeface="Arial"/>
              </a:defRPr>
            </a:pPr>
            <a:r>
              <a:rPr/>
              <a:t>Overall, the existing system does not provide a centralized platform where patients can view instructions, upload reports, and track their pre-procedure readiness status.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48058252"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Drawbacks of the Existing System</a:t>
            </a:r>
            <a:endParaRPr/>
          </a:p>
        </p:txBody>
      </p:sp>
      <p:sp>
        <p:nvSpPr>
          <p:cNvPr id="2034322833" name="TextBox 2"/>
          <p:cNvSpPr txBox="1"/>
          <p:nvPr/>
        </p:nvSpPr>
        <p:spPr bwMode="auto">
          <a:xfrm>
            <a:off x="685800" y="1371600"/>
            <a:ext cx="10817352" cy="5029200"/>
          </a:xfrm>
          <a:prstGeom prst="rect">
            <a:avLst/>
          </a:prstGeom>
          <a:noFill/>
        </p:spPr>
        <p:txBody>
          <a:bodyPr wrap="square">
            <a:spAutoFit/>
          </a:bodyPr>
          <a:lstStyle/>
          <a:p>
            <a:pPr>
              <a:spcAft>
                <a:spcPts val="1000"/>
              </a:spcAft>
              <a:defRPr sz="1550">
                <a:solidFill>
                  <a:srgbClr val="212529"/>
                </a:solidFill>
                <a:latin typeface="Arial"/>
              </a:defRPr>
            </a:pPr>
            <a:r>
              <a:rPr/>
              <a:t>•  Manual preparation tracking can cause non-compliance and instruction errors.</a:t>
            </a:r>
            <a:endParaRPr/>
          </a:p>
          <a:p>
            <a:pPr>
              <a:spcAft>
                <a:spcPts val="1000"/>
              </a:spcAft>
              <a:defRPr sz="1550">
                <a:solidFill>
                  <a:srgbClr val="212529"/>
                </a:solidFill>
                <a:latin typeface="Arial"/>
              </a:defRPr>
            </a:pPr>
            <a:r>
              <a:rPr/>
              <a:t>•  Pre-operative medical records and lab reports are difficult to track centrally.</a:t>
            </a:r>
            <a:endParaRPr/>
          </a:p>
          <a:p>
            <a:pPr>
              <a:spcAft>
                <a:spcPts val="1000"/>
              </a:spcAft>
              <a:defRPr sz="1550">
                <a:solidFill>
                  <a:srgbClr val="212529"/>
                </a:solidFill>
                <a:latin typeface="Arial"/>
              </a:defRPr>
            </a:pPr>
            <a:r>
              <a:rPr/>
              <a:t>•  Previous lab results and consent documentation may be misplaced or delayed.</a:t>
            </a:r>
            <a:endParaRPr/>
          </a:p>
          <a:p>
            <a:pPr>
              <a:spcAft>
                <a:spcPts val="1000"/>
              </a:spcAft>
              <a:defRPr sz="1550">
                <a:solidFill>
                  <a:srgbClr val="212529"/>
                </a:solidFill>
                <a:latin typeface="Arial"/>
              </a:defRPr>
            </a:pPr>
            <a:r>
              <a:rPr/>
              <a:t>•  Patients have limited visibility into their pre-procedure readiness status.</a:t>
            </a:r>
            <a:endParaRPr/>
          </a:p>
          <a:p>
            <a:pPr>
              <a:spcAft>
                <a:spcPts val="1000"/>
              </a:spcAft>
              <a:defRPr sz="1550">
                <a:solidFill>
                  <a:srgbClr val="212529"/>
                </a:solidFill>
                <a:latin typeface="Arial"/>
              </a:defRPr>
            </a:pPr>
            <a:r>
              <a:rPr/>
              <a:t>•  Important fasting and medication guidelines may be forgotten or missed.</a:t>
            </a:r>
            <a:endParaRPr/>
          </a:p>
          <a:p>
            <a:pPr>
              <a:spcAft>
                <a:spcPts val="1000"/>
              </a:spcAft>
              <a:defRPr sz="1550">
                <a:solidFill>
                  <a:srgbClr val="212529"/>
                </a:solidFill>
                <a:latin typeface="Arial"/>
              </a:defRPr>
            </a:pPr>
            <a:r>
              <a:rPr/>
              <a:t>•  Hospital clinical staff struggle to manually monitor preparation status for multiple cases.</a:t>
            </a:r>
            <a:endParaRPr/>
          </a:p>
          <a:p>
            <a:pPr>
              <a:spcAft>
                <a:spcPts val="1000"/>
              </a:spcAft>
              <a:defRPr sz="1550">
                <a:solidFill>
                  <a:srgbClr val="212529"/>
                </a:solidFill>
                <a:latin typeface="Arial"/>
              </a:defRPr>
            </a:pPr>
            <a:r>
              <a:rPr/>
              <a:t>•  Unverified lab reports can lead to last-minute procedure delays.</a:t>
            </a:r>
            <a:endParaRPr/>
          </a:p>
          <a:p>
            <a:pPr>
              <a:spcAft>
                <a:spcPts val="1000"/>
              </a:spcAft>
              <a:defRPr sz="1550">
                <a:solidFill>
                  <a:srgbClr val="212529"/>
                </a:solidFill>
                <a:latin typeface="Arial"/>
              </a:defRPr>
            </a:pPr>
            <a:r>
              <a:rPr/>
              <a:t>•  Generating procedure readiness compliance reports manually is difficult.</a:t>
            </a:r>
            <a:endParaRPr/>
          </a:p>
          <a:p>
            <a:pPr>
              <a:spcAft>
                <a:spcPts val="1000"/>
              </a:spcAft>
              <a:defRPr sz="1550">
                <a:solidFill>
                  <a:srgbClr val="212529"/>
                </a:solidFill>
                <a:latin typeface="Arial"/>
              </a:defRPr>
            </a:pPr>
            <a:r>
              <a:rPr/>
              <a:t>•  Communication between attending doctors and scheduled patients is unorganized.</a:t>
            </a:r>
            <a:endParaRPr/>
          </a:p>
          <a:p>
            <a:pPr>
              <a:spcAft>
                <a:spcPts val="1000"/>
              </a:spcAft>
              <a:defRPr sz="1550">
                <a:solidFill>
                  <a:srgbClr val="212529"/>
                </a:solidFill>
                <a:latin typeface="Arial"/>
              </a:defRPr>
            </a:pPr>
            <a:r>
              <a:rPr/>
              <a:t>•  Procedure room schedules can be delayed or canceled due to incomplete preparation.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84689640"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Proposed System</a:t>
            </a:r>
            <a:endParaRPr/>
          </a:p>
        </p:txBody>
      </p:sp>
      <p:sp>
        <p:nvSpPr>
          <p:cNvPr id="190214434" name="TextBox 2"/>
          <p:cNvSpPr txBox="1"/>
          <p:nvPr/>
        </p:nvSpPr>
        <p:spPr bwMode="auto">
          <a:xfrm>
            <a:off x="685800" y="1371600"/>
            <a:ext cx="10817352" cy="5029200"/>
          </a:xfrm>
          <a:prstGeom prst="rect">
            <a:avLst/>
          </a:prstGeom>
          <a:noFill/>
        </p:spPr>
        <p:txBody>
          <a:bodyPr wrap="square">
            <a:spAutoFit/>
          </a:bodyPr>
          <a:lstStyle/>
          <a:p>
            <a:pPr>
              <a:spcAft>
                <a:spcPts val="1400"/>
              </a:spcAft>
              <a:defRPr sz="1500" b="1">
                <a:solidFill>
                  <a:srgbClr val="182B49"/>
                </a:solidFill>
                <a:latin typeface="Arial"/>
              </a:defRPr>
            </a:pPr>
            <a:r>
              <a:rPr/>
              <a:t>MediPrep is a centralized web-based hospital procedure preparation and readiness system that connects patients with attending doctors.</a:t>
            </a:r>
            <a:endParaRPr/>
          </a:p>
          <a:p>
            <a:pPr>
              <a:spcAft>
                <a:spcPts val="800"/>
              </a:spcAft>
              <a:defRPr sz="1500" b="1">
                <a:solidFill>
                  <a:srgbClr val="182B49"/>
                </a:solidFill>
                <a:latin typeface="Arial"/>
              </a:defRPr>
            </a:pPr>
            <a:r>
              <a:rPr/>
              <a:t>Relevance of the Proposed System</a:t>
            </a:r>
            <a:endParaRPr/>
          </a:p>
          <a:p>
            <a:pPr>
              <a:spcAft>
                <a:spcPts val="600"/>
              </a:spcAft>
              <a:defRPr sz="1350">
                <a:solidFill>
                  <a:srgbClr val="212529"/>
                </a:solidFill>
                <a:latin typeface="Arial"/>
              </a:defRPr>
            </a:pPr>
            <a:r>
              <a:rPr/>
              <a:t>•  Provides a centralized digital platform for pre-operative procedure readiness management.</a:t>
            </a:r>
            <a:endParaRPr/>
          </a:p>
          <a:p>
            <a:pPr>
              <a:spcAft>
                <a:spcPts val="600"/>
              </a:spcAft>
              <a:defRPr sz="1350">
                <a:solidFill>
                  <a:srgbClr val="212529"/>
                </a:solidFill>
                <a:latin typeface="Arial"/>
              </a:defRPr>
            </a:pPr>
            <a:r>
              <a:rPr/>
              <a:t>•  Allows doctors to configure procedure-specific preparation checklists matching CPT protocols.</a:t>
            </a:r>
            <a:endParaRPr/>
          </a:p>
          <a:p>
            <a:pPr>
              <a:spcAft>
                <a:spcPts val="600"/>
              </a:spcAft>
              <a:defRPr sz="1350">
                <a:solidFill>
                  <a:srgbClr val="212529"/>
                </a:solidFill>
                <a:latin typeface="Arial"/>
              </a:defRPr>
            </a:pPr>
            <a:r>
              <a:rPr/>
              <a:t>•  Makes it easier for patients to view guidelines, complete tasks, and upload medical PDF reports.</a:t>
            </a:r>
            <a:endParaRPr/>
          </a:p>
          <a:p>
            <a:pPr>
              <a:spcAft>
                <a:spcPts val="600"/>
              </a:spcAft>
              <a:defRPr sz="1350">
                <a:solidFill>
                  <a:srgbClr val="212529"/>
                </a:solidFill>
                <a:latin typeface="Arial"/>
              </a:defRPr>
            </a:pPr>
            <a:r>
              <a:rPr/>
              <a:t>•  Reduces manual pre-procedure coordination and paper documentation.</a:t>
            </a:r>
            <a:endParaRPr/>
          </a:p>
          <a:p>
            <a:pPr>
              <a:spcAft>
                <a:spcPts val="600"/>
              </a:spcAft>
              <a:defRPr sz="1350">
                <a:solidFill>
                  <a:srgbClr val="212529"/>
                </a:solidFill>
                <a:latin typeface="Arial"/>
              </a:defRPr>
            </a:pPr>
            <a:r>
              <a:rPr/>
              <a:t>•  Helps patients and doctors track live pre-operative readiness scores (Green/Yellow/Orange/Red).</a:t>
            </a:r>
            <a:endParaRPr/>
          </a:p>
          <a:p>
            <a:pPr>
              <a:spcAft>
                <a:spcPts val="600"/>
              </a:spcAft>
              <a:defRPr sz="1350">
                <a:solidFill>
                  <a:srgbClr val="212529"/>
                </a:solidFill>
                <a:latin typeface="Arial"/>
              </a:defRPr>
            </a:pPr>
            <a:r>
              <a:rPr/>
              <a:t>•  Maintains a digital log of verified reports and pre-op vitals for clinical audit.</a:t>
            </a:r>
            <a:endParaRPr/>
          </a:p>
          <a:p>
            <a:pPr>
              <a:spcAft>
                <a:spcPts val="600"/>
              </a:spcAft>
              <a:defRPr sz="1350">
                <a:solidFill>
                  <a:srgbClr val="212529"/>
                </a:solidFill>
                <a:latin typeface="Arial"/>
              </a:defRPr>
            </a:pPr>
            <a:r>
              <a:rPr/>
              <a:t>•  Helps attending doctors manage scheduled cases, verify reports, and post board messages efficiently.</a:t>
            </a:r>
            <a:endParaRPr/>
          </a:p>
          <a:p>
            <a:pPr>
              <a:spcAft>
                <a:spcPts val="600"/>
              </a:spcAft>
              <a:defRPr sz="1350">
                <a:solidFill>
                  <a:srgbClr val="212529"/>
                </a:solidFill>
                <a:latin typeface="Arial"/>
              </a:defRPr>
            </a:pPr>
            <a:r>
              <a:rPr/>
              <a:t>•  Automates rule-based safety alerts on patient vital parameters (blood sugar, BP, temperature).</a:t>
            </a:r>
            <a:endParaRPr/>
          </a:p>
          <a:p>
            <a:pPr>
              <a:spcAft>
                <a:spcPts val="600"/>
              </a:spcAft>
              <a:defRPr sz="1350">
                <a:solidFill>
                  <a:srgbClr val="212529"/>
                </a:solidFill>
                <a:latin typeface="Arial"/>
              </a:defRPr>
            </a:pPr>
            <a:r>
              <a:rPr/>
              <a:t>•  Saves time and effort for both patients and hospital clinical teams.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52741915"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Objectives</a:t>
            </a:r>
            <a:endParaRPr/>
          </a:p>
        </p:txBody>
      </p:sp>
      <p:sp>
        <p:nvSpPr>
          <p:cNvPr id="1050769788" name="TextBox 2"/>
          <p:cNvSpPr txBox="1"/>
          <p:nvPr/>
        </p:nvSpPr>
        <p:spPr bwMode="auto">
          <a:xfrm>
            <a:off x="685800" y="1371600"/>
            <a:ext cx="10817352" cy="5029200"/>
          </a:xfrm>
          <a:prstGeom prst="rect">
            <a:avLst/>
          </a:prstGeom>
          <a:noFill/>
        </p:spPr>
        <p:txBody>
          <a:bodyPr wrap="square">
            <a:spAutoFit/>
          </a:bodyPr>
          <a:lstStyle/>
          <a:p>
            <a:pPr>
              <a:spcAft>
                <a:spcPts val="1000"/>
              </a:spcAft>
              <a:defRPr sz="1500">
                <a:solidFill>
                  <a:srgbClr val="212529"/>
                </a:solidFill>
                <a:latin typeface="Arial"/>
              </a:defRPr>
            </a:pPr>
            <a:r>
              <a:rPr/>
              <a:t>•  To provide an online platform for hospital procedure preparation and readiness management.</a:t>
            </a:r>
            <a:endParaRPr/>
          </a:p>
          <a:p>
            <a:pPr>
              <a:spcAft>
                <a:spcPts val="1000"/>
              </a:spcAft>
              <a:defRPr sz="1500">
                <a:solidFill>
                  <a:srgbClr val="212529"/>
                </a:solidFill>
                <a:latin typeface="Arial"/>
              </a:defRPr>
            </a:pPr>
            <a:r>
              <a:rPr/>
              <a:t>•  To simplify procedure scheduling and pre-operative checklist assignment.</a:t>
            </a:r>
            <a:endParaRPr/>
          </a:p>
          <a:p>
            <a:pPr>
              <a:spcAft>
                <a:spcPts val="1000"/>
              </a:spcAft>
              <a:defRPr sz="1500">
                <a:solidFill>
                  <a:srgbClr val="212529"/>
                </a:solidFill>
                <a:latin typeface="Arial"/>
              </a:defRPr>
            </a:pPr>
            <a:r>
              <a:rPr/>
              <a:t>•  To maintain centralized patient pre-op records, lab reports, and vital logs.</a:t>
            </a:r>
            <a:endParaRPr/>
          </a:p>
          <a:p>
            <a:pPr>
              <a:spcAft>
                <a:spcPts val="1000"/>
              </a:spcAft>
              <a:defRPr sz="1500">
                <a:solidFill>
                  <a:srgbClr val="212529"/>
                </a:solidFill>
                <a:latin typeface="Arial"/>
              </a:defRPr>
            </a:pPr>
            <a:r>
              <a:rPr/>
              <a:t>•  To provide dynamic readiness tracking (Ready, Warning, Review Needed, Not Ready).</a:t>
            </a:r>
            <a:endParaRPr/>
          </a:p>
          <a:p>
            <a:pPr>
              <a:spcAft>
                <a:spcPts val="1000"/>
              </a:spcAft>
              <a:defRPr sz="1500">
                <a:solidFill>
                  <a:srgbClr val="212529"/>
                </a:solidFill>
                <a:latin typeface="Arial"/>
              </a:defRPr>
            </a:pPr>
            <a:r>
              <a:rPr/>
              <a:t>•  To improve communication between attending doctors and scheduled patients.</a:t>
            </a:r>
            <a:endParaRPr/>
          </a:p>
          <a:p>
            <a:pPr>
              <a:spcAft>
                <a:spcPts val="1000"/>
              </a:spcAft>
              <a:defRPr sz="1500">
                <a:solidFill>
                  <a:srgbClr val="212529"/>
                </a:solidFill>
                <a:latin typeface="Arial"/>
              </a:defRPr>
            </a:pPr>
            <a:r>
              <a:rPr/>
              <a:t>•  To support online medical PDF document upload and clinician verification.</a:t>
            </a:r>
            <a:endParaRPr/>
          </a:p>
          <a:p>
            <a:pPr>
              <a:spcAft>
                <a:spcPts val="1000"/>
              </a:spcAft>
              <a:defRPr sz="1500">
                <a:solidFill>
                  <a:srgbClr val="212529"/>
                </a:solidFill>
                <a:latin typeface="Arial"/>
              </a:defRPr>
            </a:pPr>
            <a:r>
              <a:rPr/>
              <a:t>•  To enforce rule-based pre-operative vital safety checks (blood sugar, BP, temperature).</a:t>
            </a:r>
            <a:endParaRPr/>
          </a:p>
          <a:p>
            <a:pPr>
              <a:spcAft>
                <a:spcPts val="1000"/>
              </a:spcAft>
              <a:defRPr sz="1500">
                <a:solidFill>
                  <a:srgbClr val="212529"/>
                </a:solidFill>
                <a:latin typeface="Arial"/>
              </a:defRPr>
            </a:pPr>
            <a:r>
              <a:rPr/>
              <a:t>•  To support clinical board messaging and ReportLab PDF readiness report generation.</a:t>
            </a:r>
            <a:endParaRPr/>
          </a:p>
          <a:p>
            <a:pPr>
              <a:spcAft>
                <a:spcPts val="1000"/>
              </a:spcAft>
              <a:defRPr sz="1500">
                <a:solidFill>
                  <a:srgbClr val="212529"/>
                </a:solidFill>
                <a:latin typeface="Arial"/>
              </a:defRPr>
            </a:pPr>
            <a:r>
              <a:rPr/>
              <a:t>•  To help attending doctors monitor overall case readiness from a central dashboard.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65058297"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MediPrep – Module Description</a:t>
            </a:r>
            <a:endParaRPr/>
          </a:p>
        </p:txBody>
      </p:sp>
      <p:sp>
        <p:nvSpPr>
          <p:cNvPr id="35647583" name="TextBox 2"/>
          <p:cNvSpPr txBox="1"/>
          <p:nvPr/>
        </p:nvSpPr>
        <p:spPr bwMode="auto">
          <a:xfrm>
            <a:off x="685800" y="1371600"/>
            <a:ext cx="10817352" cy="5029200"/>
          </a:xfrm>
          <a:prstGeom prst="rect">
            <a:avLst/>
          </a:prstGeom>
          <a:noFill/>
        </p:spPr>
        <p:txBody>
          <a:bodyPr wrap="square">
            <a:spAutoFit/>
          </a:bodyPr>
          <a:lstStyle/>
          <a:p>
            <a:pPr>
              <a:defRPr sz="1600">
                <a:solidFill>
                  <a:srgbClr val="212529"/>
                </a:solidFill>
                <a:latin typeface="Arial"/>
              </a:defRPr>
            </a:pPr>
            <a:r>
              <a:rPr/>
              <a:t>MediPrep can be divided into two main modules:</a:t>
            </a:r>
            <a:br>
              <a:rPr/>
            </a:br>
            <a:endParaRPr/>
          </a:p>
          <a:p>
            <a:pPr>
              <a:spcAft>
                <a:spcPts val="1000"/>
              </a:spcAft>
              <a:defRPr sz="1800" b="1">
                <a:solidFill>
                  <a:srgbClr val="182B49"/>
                </a:solidFill>
                <a:latin typeface="Arial"/>
              </a:defRPr>
            </a:pPr>
            <a:r>
              <a:rPr/>
              <a:t>1.  Doctor Module</a:t>
            </a:r>
            <a:endParaRPr/>
          </a:p>
          <a:p>
            <a:pPr>
              <a:spcAft>
                <a:spcPts val="1400"/>
              </a:spcAft>
              <a:defRPr sz="1800" b="1">
                <a:solidFill>
                  <a:srgbClr val="182B49"/>
                </a:solidFill>
                <a:latin typeface="Arial"/>
              </a:defRPr>
            </a:pPr>
            <a:r>
              <a:rPr/>
              <a:t>2.  Patient Module</a:t>
            </a:r>
            <a:br>
              <a:rPr/>
            </a:br>
            <a:endParaRPr/>
          </a:p>
          <a:p>
            <a:pPr>
              <a:lnSpc>
                <a:spcPct val="130000"/>
              </a:lnSpc>
              <a:defRPr sz="1450">
                <a:solidFill>
                  <a:srgbClr val="212529"/>
                </a:solidFill>
                <a:latin typeface="Arial"/>
              </a:defRPr>
            </a:pPr>
            <a:r>
              <a:rPr/>
              <a:t>Each module has its own specific functions and responsibilities. Attending Doctors schedule procedures, manage checklists, verify uploaded PDF reports, monitor readiness scores, check vital safety flags, and send board directives. Patients log in to view procedure guidelines, complete prep tasks, upload lab reports, enter vitals, and track their readiness status.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31897643"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1. Doctor Module</a:t>
            </a:r>
            <a:endParaRPr/>
          </a:p>
        </p:txBody>
      </p:sp>
      <p:sp>
        <p:nvSpPr>
          <p:cNvPr id="1318304" name="TextBox 2"/>
          <p:cNvSpPr txBox="1"/>
          <p:nvPr/>
        </p:nvSpPr>
        <p:spPr bwMode="auto">
          <a:xfrm>
            <a:off x="685800" y="1280160"/>
            <a:ext cx="10817352" cy="5120640"/>
          </a:xfrm>
          <a:prstGeom prst="rect">
            <a:avLst/>
          </a:prstGeom>
          <a:noFill/>
        </p:spPr>
        <p:txBody>
          <a:bodyPr wrap="square">
            <a:spAutoFit/>
          </a:bodyPr>
          <a:lstStyle/>
          <a:p>
            <a:pPr>
              <a:spcAft>
                <a:spcPts val="1400"/>
              </a:spcAft>
              <a:defRPr sz="1350">
                <a:solidFill>
                  <a:srgbClr val="212529"/>
                </a:solidFill>
                <a:latin typeface="Arial"/>
              </a:defRPr>
            </a:pPr>
            <a:r>
              <a:rPr/>
              <a:t>The Doctor Module is used for procedure scheduling and clinician readiness auditing. Attending doctors manage scheduled cases, review uploaded lab reports, verify compliance tasks, check vital safety flags, and export clinical readiness reports.</a:t>
            </a:r>
            <a:endParaRPr/>
          </a:p>
        </p:txBody>
      </p:sp>
      <p:sp>
        <p:nvSpPr>
          <p:cNvPr id="1326827840" name="TextBox 3"/>
          <p:cNvSpPr txBox="1"/>
          <p:nvPr/>
        </p:nvSpPr>
        <p:spPr bwMode="auto">
          <a:xfrm>
            <a:off x="685800" y="2194560"/>
            <a:ext cx="5120640" cy="4114800"/>
          </a:xfrm>
          <a:prstGeom prst="rect">
            <a:avLst/>
          </a:prstGeom>
          <a:noFill/>
        </p:spPr>
        <p:txBody>
          <a:bodyPr wrap="square">
            <a:spAutoFit/>
          </a:bodyPr>
          <a:lstStyle/>
          <a:p>
            <a:pPr>
              <a:spcAft>
                <a:spcPts val="800"/>
              </a:spcAft>
              <a:defRPr sz="1500" b="1">
                <a:solidFill>
                  <a:srgbClr val="182B49"/>
                </a:solidFill>
                <a:latin typeface="Arial"/>
              </a:defRPr>
            </a:pPr>
            <a:r>
              <a:rPr/>
              <a:t>Functions:</a:t>
            </a:r>
            <a:endParaRPr/>
          </a:p>
          <a:p>
            <a:pPr>
              <a:spcAft>
                <a:spcPts val="400"/>
              </a:spcAft>
              <a:defRPr sz="1250">
                <a:solidFill>
                  <a:srgbClr val="212529"/>
                </a:solidFill>
                <a:latin typeface="Arial"/>
              </a:defRPr>
            </a:pPr>
            <a:r>
              <a:rPr/>
              <a:t>•  Doctor Login &amp; Role Control</a:t>
            </a:r>
            <a:endParaRPr/>
          </a:p>
          <a:p>
            <a:pPr>
              <a:spcAft>
                <a:spcPts val="400"/>
              </a:spcAft>
              <a:defRPr sz="1250">
                <a:solidFill>
                  <a:srgbClr val="212529"/>
                </a:solidFill>
                <a:latin typeface="Arial"/>
              </a:defRPr>
            </a:pPr>
            <a:r>
              <a:rPr/>
              <a:t>•  Schedule Procedure (Patient, CPT, Date, Room)</a:t>
            </a:r>
            <a:endParaRPr/>
          </a:p>
          <a:p>
            <a:pPr>
              <a:spcAft>
                <a:spcPts val="400"/>
              </a:spcAft>
              <a:defRPr sz="1250">
                <a:solidFill>
                  <a:srgbClr val="212529"/>
                </a:solidFill>
                <a:latin typeface="Arial"/>
              </a:defRPr>
            </a:pPr>
            <a:r>
              <a:rPr/>
              <a:t>•  Manage Patient Checklist Tasks</a:t>
            </a:r>
            <a:endParaRPr/>
          </a:p>
          <a:p>
            <a:pPr>
              <a:spcAft>
                <a:spcPts val="400"/>
              </a:spcAft>
              <a:defRPr sz="1250">
                <a:solidFill>
                  <a:srgbClr val="212529"/>
                </a:solidFill>
                <a:latin typeface="Arial"/>
              </a:defRPr>
            </a:pPr>
            <a:r>
              <a:rPr/>
              <a:t>•  View Uploaded Medical PDF Reports</a:t>
            </a:r>
            <a:endParaRPr/>
          </a:p>
          <a:p>
            <a:pPr>
              <a:spcAft>
                <a:spcPts val="400"/>
              </a:spcAft>
              <a:defRPr sz="1250">
                <a:solidFill>
                  <a:srgbClr val="212529"/>
                </a:solidFill>
                <a:latin typeface="Arial"/>
              </a:defRPr>
            </a:pPr>
            <a:r>
              <a:rPr/>
              <a:t>•  Verify Uploaded Reports &amp; Sign-off</a:t>
            </a:r>
            <a:endParaRPr/>
          </a:p>
          <a:p>
            <a:pPr>
              <a:spcAft>
                <a:spcPts val="400"/>
              </a:spcAft>
              <a:defRPr sz="1250">
                <a:solidFill>
                  <a:srgbClr val="212529"/>
                </a:solidFill>
                <a:latin typeface="Arial"/>
              </a:defRPr>
            </a:pPr>
            <a:r>
              <a:rPr/>
              <a:t>•  View Patient Vital Logs</a:t>
            </a:r>
            <a:endParaRPr/>
          </a:p>
          <a:p>
            <a:pPr>
              <a:spcAft>
                <a:spcPts val="400"/>
              </a:spcAft>
              <a:defRPr sz="1250">
                <a:solidFill>
                  <a:srgbClr val="212529"/>
                </a:solidFill>
                <a:latin typeface="Arial"/>
              </a:defRPr>
            </a:pPr>
            <a:r>
              <a:rPr/>
              <a:t>•  Check Vital Risk Safety Alerts</a:t>
            </a:r>
            <a:endParaRPr/>
          </a:p>
          <a:p>
            <a:pPr>
              <a:spcAft>
                <a:spcPts val="400"/>
              </a:spcAft>
              <a:defRPr sz="1250">
                <a:solidFill>
                  <a:srgbClr val="212529"/>
                </a:solidFill>
                <a:latin typeface="Arial"/>
              </a:defRPr>
            </a:pPr>
            <a:r>
              <a:rPr/>
              <a:t>•  Monitor Patient Readiness Scores</a:t>
            </a:r>
            <a:endParaRPr/>
          </a:p>
          <a:p>
            <a:pPr>
              <a:spcAft>
                <a:spcPts val="400"/>
              </a:spcAft>
              <a:defRPr sz="1250">
                <a:solidFill>
                  <a:srgbClr val="212529"/>
                </a:solidFill>
                <a:latin typeface="Arial"/>
              </a:defRPr>
            </a:pPr>
            <a:r>
              <a:rPr/>
              <a:t>•  Send Patient Clinical Board Messages</a:t>
            </a:r>
            <a:endParaRPr/>
          </a:p>
          <a:p>
            <a:pPr>
              <a:spcAft>
                <a:spcPts val="400"/>
              </a:spcAft>
              <a:defRPr sz="1250">
                <a:solidFill>
                  <a:srgbClr val="212529"/>
                </a:solidFill>
                <a:latin typeface="Arial"/>
              </a:defRPr>
            </a:pPr>
            <a:r>
              <a:rPr/>
              <a:t>•  View and Export Clinical Summary Reports</a:t>
            </a:r>
            <a:endParaRPr/>
          </a:p>
        </p:txBody>
      </p:sp>
      <p:sp>
        <p:nvSpPr>
          <p:cNvPr id="525695533" name="TextBox 4"/>
          <p:cNvSpPr txBox="1"/>
          <p:nvPr/>
        </p:nvSpPr>
        <p:spPr bwMode="auto">
          <a:xfrm>
            <a:off x="6382512" y="2194560"/>
            <a:ext cx="5120640" cy="4114800"/>
          </a:xfrm>
          <a:prstGeom prst="rect">
            <a:avLst/>
          </a:prstGeom>
          <a:noFill/>
        </p:spPr>
        <p:txBody>
          <a:bodyPr wrap="square">
            <a:spAutoFit/>
          </a:bodyPr>
          <a:lstStyle/>
          <a:p>
            <a:pPr>
              <a:spcAft>
                <a:spcPts val="800"/>
              </a:spcAft>
              <a:defRPr sz="1500" b="1">
                <a:solidFill>
                  <a:srgbClr val="182B49"/>
                </a:solidFill>
                <a:latin typeface="Arial"/>
              </a:defRPr>
            </a:pPr>
            <a:r>
              <a:rPr/>
              <a:t>Purpose:</a:t>
            </a:r>
            <a:endParaRPr/>
          </a:p>
          <a:p>
            <a:pPr>
              <a:lnSpc>
                <a:spcPct val="130000"/>
              </a:lnSpc>
              <a:defRPr sz="1400">
                <a:solidFill>
                  <a:srgbClr val="212529"/>
                </a:solidFill>
                <a:latin typeface="Arial"/>
              </a:defRPr>
            </a:pPr>
            <a:r>
              <a:rPr/>
              <a:t>Allows attending physicians to manage procedure bookings, audit patient compliance, verify lab files, and ensure patient safety from a centralized dashboard.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0291603"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2. Patient Module</a:t>
            </a:r>
            <a:endParaRPr/>
          </a:p>
        </p:txBody>
      </p:sp>
      <p:sp>
        <p:nvSpPr>
          <p:cNvPr id="130583928" name="TextBox 2"/>
          <p:cNvSpPr txBox="1"/>
          <p:nvPr/>
        </p:nvSpPr>
        <p:spPr bwMode="auto">
          <a:xfrm>
            <a:off x="685800" y="1280160"/>
            <a:ext cx="10817352" cy="5120640"/>
          </a:xfrm>
          <a:prstGeom prst="rect">
            <a:avLst/>
          </a:prstGeom>
          <a:noFill/>
        </p:spPr>
        <p:txBody>
          <a:bodyPr wrap="square">
            <a:spAutoFit/>
          </a:bodyPr>
          <a:lstStyle/>
          <a:p>
            <a:pPr>
              <a:spcAft>
                <a:spcPts val="1400"/>
              </a:spcAft>
              <a:defRPr sz="1350">
                <a:solidFill>
                  <a:srgbClr val="212529"/>
                </a:solidFill>
                <a:latin typeface="Arial"/>
              </a:defRPr>
            </a:pPr>
            <a:r>
              <a:rPr/>
              <a:t>The Patient Module is designed to provide scheduled patients with a clear, convenient portal to view procedure instructions, complete preparation tasks, upload lab documents, enter pre-op vitals, and track readiness status.</a:t>
            </a:r>
            <a:endParaRPr/>
          </a:p>
        </p:txBody>
      </p:sp>
      <p:sp>
        <p:nvSpPr>
          <p:cNvPr id="1510996125" name="TextBox 3"/>
          <p:cNvSpPr txBox="1"/>
          <p:nvPr/>
        </p:nvSpPr>
        <p:spPr bwMode="auto">
          <a:xfrm>
            <a:off x="685800" y="2194560"/>
            <a:ext cx="5120640" cy="4114800"/>
          </a:xfrm>
          <a:prstGeom prst="rect">
            <a:avLst/>
          </a:prstGeom>
          <a:noFill/>
        </p:spPr>
        <p:txBody>
          <a:bodyPr wrap="square">
            <a:spAutoFit/>
          </a:bodyPr>
          <a:lstStyle/>
          <a:p>
            <a:pPr>
              <a:spcAft>
                <a:spcPts val="800"/>
              </a:spcAft>
              <a:defRPr sz="1500" b="1">
                <a:solidFill>
                  <a:srgbClr val="182B49"/>
                </a:solidFill>
                <a:latin typeface="Arial"/>
              </a:defRPr>
            </a:pPr>
            <a:r>
              <a:rPr/>
              <a:t>Functions:</a:t>
            </a:r>
            <a:endParaRPr/>
          </a:p>
          <a:p>
            <a:pPr>
              <a:spcAft>
                <a:spcPts val="400"/>
              </a:spcAft>
              <a:defRPr sz="1250">
                <a:solidFill>
                  <a:srgbClr val="212529"/>
                </a:solidFill>
                <a:latin typeface="Arial"/>
              </a:defRPr>
            </a:pPr>
            <a:r>
              <a:rPr/>
              <a:t>•  Patient Login &amp; Portal Access</a:t>
            </a:r>
            <a:endParaRPr/>
          </a:p>
          <a:p>
            <a:pPr>
              <a:spcAft>
                <a:spcPts val="400"/>
              </a:spcAft>
              <a:defRPr sz="1250">
                <a:solidFill>
                  <a:srgbClr val="212529"/>
                </a:solidFill>
                <a:latin typeface="Arial"/>
              </a:defRPr>
            </a:pPr>
            <a:r>
              <a:rPr/>
              <a:t>•  View Scheduled Procedure Details &amp; Location</a:t>
            </a:r>
            <a:endParaRPr/>
          </a:p>
          <a:p>
            <a:pPr>
              <a:spcAft>
                <a:spcPts val="400"/>
              </a:spcAft>
              <a:defRPr sz="1250">
                <a:solidFill>
                  <a:srgbClr val="212529"/>
                </a:solidFill>
                <a:latin typeface="Arial"/>
              </a:defRPr>
            </a:pPr>
            <a:r>
              <a:rPr/>
              <a:t>•  View Pre-operative Guidelines &amp; Instructions</a:t>
            </a:r>
            <a:endParaRPr/>
          </a:p>
          <a:p>
            <a:pPr>
              <a:spcAft>
                <a:spcPts val="400"/>
              </a:spcAft>
              <a:defRPr sz="1250">
                <a:solidFill>
                  <a:srgbClr val="212529"/>
                </a:solidFill>
                <a:latin typeface="Arial"/>
              </a:defRPr>
            </a:pPr>
            <a:r>
              <a:rPr/>
              <a:t>•  Complete Checklist Tasks (Fasting, Driver Escort)</a:t>
            </a:r>
            <a:endParaRPr/>
          </a:p>
          <a:p>
            <a:pPr>
              <a:spcAft>
                <a:spcPts val="400"/>
              </a:spcAft>
              <a:defRPr sz="1250">
                <a:solidFill>
                  <a:srgbClr val="212529"/>
                </a:solidFill>
                <a:latin typeface="Arial"/>
              </a:defRPr>
            </a:pPr>
            <a:r>
              <a:rPr/>
              <a:t>•  Upload Required Medical PDF Reports</a:t>
            </a:r>
            <a:endParaRPr/>
          </a:p>
          <a:p>
            <a:pPr>
              <a:spcAft>
                <a:spcPts val="400"/>
              </a:spcAft>
              <a:defRPr sz="1250">
                <a:solidFill>
                  <a:srgbClr val="212529"/>
                </a:solidFill>
                <a:latin typeface="Arial"/>
              </a:defRPr>
            </a:pPr>
            <a:r>
              <a:rPr/>
              <a:t>•  Enter Pre-operative Vitals (Sugar, BP, Temp)</a:t>
            </a:r>
            <a:endParaRPr/>
          </a:p>
          <a:p>
            <a:pPr>
              <a:spcAft>
                <a:spcPts val="400"/>
              </a:spcAft>
              <a:defRPr sz="1250">
                <a:solidFill>
                  <a:srgbClr val="212529"/>
                </a:solidFill>
                <a:latin typeface="Arial"/>
              </a:defRPr>
            </a:pPr>
            <a:r>
              <a:rPr/>
              <a:t>•  View Live Readiness Percentage (0% - 100%)</a:t>
            </a:r>
            <a:endParaRPr/>
          </a:p>
          <a:p>
            <a:pPr>
              <a:spcAft>
                <a:spcPts val="400"/>
              </a:spcAft>
              <a:defRPr sz="1250">
                <a:solidFill>
                  <a:srgbClr val="212529"/>
                </a:solidFill>
                <a:latin typeface="Arial"/>
              </a:defRPr>
            </a:pPr>
            <a:r>
              <a:rPr/>
              <a:t>•  View Readiness Status (Ready / Pending)</a:t>
            </a:r>
            <a:endParaRPr/>
          </a:p>
          <a:p>
            <a:pPr>
              <a:spcAft>
                <a:spcPts val="400"/>
              </a:spcAft>
              <a:defRPr sz="1250">
                <a:solidFill>
                  <a:srgbClr val="212529"/>
                </a:solidFill>
                <a:latin typeface="Arial"/>
              </a:defRPr>
            </a:pPr>
            <a:r>
              <a:rPr/>
              <a:t>•  Receive Direct Doctor Messages &amp; Directives</a:t>
            </a:r>
            <a:endParaRPr/>
          </a:p>
        </p:txBody>
      </p:sp>
      <p:sp>
        <p:nvSpPr>
          <p:cNvPr id="728869240" name="TextBox 4"/>
          <p:cNvSpPr txBox="1"/>
          <p:nvPr/>
        </p:nvSpPr>
        <p:spPr bwMode="auto">
          <a:xfrm>
            <a:off x="6382512" y="2194560"/>
            <a:ext cx="5120640" cy="4114800"/>
          </a:xfrm>
          <a:prstGeom prst="rect">
            <a:avLst/>
          </a:prstGeom>
          <a:noFill/>
        </p:spPr>
        <p:txBody>
          <a:bodyPr wrap="square">
            <a:spAutoFit/>
          </a:bodyPr>
          <a:lstStyle/>
          <a:p>
            <a:pPr>
              <a:spcAft>
                <a:spcPts val="800"/>
              </a:spcAft>
              <a:defRPr sz="1500" b="1">
                <a:solidFill>
                  <a:srgbClr val="182B49"/>
                </a:solidFill>
                <a:latin typeface="Arial"/>
              </a:defRPr>
            </a:pPr>
            <a:r>
              <a:rPr/>
              <a:t>Purpose:</a:t>
            </a:r>
            <a:endParaRPr/>
          </a:p>
          <a:p>
            <a:pPr>
              <a:lnSpc>
                <a:spcPct val="130000"/>
              </a:lnSpc>
              <a:defRPr sz="1400">
                <a:solidFill>
                  <a:srgbClr val="212529"/>
                </a:solidFill>
                <a:latin typeface="Arial"/>
              </a:defRPr>
            </a:pPr>
            <a:r>
              <a:rPr/>
              <a:t>Provides patients with an easy, organized, and transparent experience to ensure 100% pre-procedure preparation compliance.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86097923"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Technology Stack</a:t>
            </a:r>
            <a:endParaRPr/>
          </a:p>
        </p:txBody>
      </p:sp>
      <p:sp>
        <p:nvSpPr>
          <p:cNvPr id="851636976" name="TextBox 2"/>
          <p:cNvSpPr txBox="1"/>
          <p:nvPr/>
        </p:nvSpPr>
        <p:spPr bwMode="auto">
          <a:xfrm>
            <a:off x="685800" y="1463040"/>
            <a:ext cx="10817352" cy="4754880"/>
          </a:xfrm>
          <a:prstGeom prst="rect">
            <a:avLst/>
          </a:prstGeom>
          <a:noFill/>
        </p:spPr>
        <p:txBody>
          <a:bodyPr wrap="square">
            <a:spAutoFit/>
          </a:bodyPr>
          <a:lstStyle/>
          <a:p>
            <a:pPr>
              <a:spcAft>
                <a:spcPts val="1800"/>
              </a:spcAft>
              <a:defRPr sz="1800" b="1">
                <a:solidFill>
                  <a:srgbClr val="182B49"/>
                </a:solidFill>
                <a:latin typeface="Arial"/>
              </a:defRPr>
            </a:pPr>
            <a:r>
              <a:rPr/>
              <a:t>•  Frontend: HTML, CSS, JavaScript</a:t>
            </a:r>
            <a:endParaRPr/>
          </a:p>
          <a:p>
            <a:pPr>
              <a:spcAft>
                <a:spcPts val="1800"/>
              </a:spcAft>
              <a:defRPr sz="1800" b="1">
                <a:solidFill>
                  <a:srgbClr val="182B49"/>
                </a:solidFill>
                <a:latin typeface="Arial"/>
              </a:defRPr>
            </a:pPr>
            <a:r>
              <a:rPr/>
              <a:t>•  Backend: Python Flask</a:t>
            </a:r>
            <a:endParaRPr/>
          </a:p>
          <a:p>
            <a:pPr>
              <a:spcAft>
                <a:spcPts val="1800"/>
              </a:spcAft>
              <a:defRPr sz="1800" b="1">
                <a:solidFill>
                  <a:srgbClr val="182B49"/>
                </a:solidFill>
                <a:latin typeface="Arial"/>
              </a:defRPr>
            </a:pPr>
            <a:r>
              <a:rPr/>
              <a:t>•  Database: MySQL</a:t>
            </a:r>
            <a:endParaRPr/>
          </a:p>
          <a:p>
            <a:pPr>
              <a:spcAft>
                <a:spcPts val="1800"/>
              </a:spcAft>
              <a:defRPr sz="1800" b="1">
                <a:solidFill>
                  <a:srgbClr val="182B49"/>
                </a:solidFill>
                <a:latin typeface="Arial"/>
              </a:defRPr>
            </a:pPr>
            <a:r>
              <a:rPr/>
              <a:t>•  Development Environment: Visual Studio Code</a:t>
            </a:r>
            <a:endParaRPr/>
          </a:p>
          <a:p>
            <a:pPr>
              <a:spcAft>
                <a:spcPts val="1800"/>
              </a:spcAft>
              <a:defRPr sz="1800" b="1">
                <a:solidFill>
                  <a:srgbClr val="182B49"/>
                </a:solidFill>
                <a:latin typeface="Arial"/>
              </a:defRPr>
            </a:pPr>
            <a:r>
              <a:rPr/>
              <a:t>•  Operating System: Windows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29115252"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System Workflow</a:t>
            </a:r>
            <a:endParaRPr/>
          </a:p>
        </p:txBody>
      </p:sp>
      <p:sp>
        <p:nvSpPr>
          <p:cNvPr id="661218453" name="Rectangle 2"/>
          <p:cNvSpPr/>
          <p:nvPr/>
        </p:nvSpPr>
        <p:spPr bwMode="auto">
          <a:xfrm>
            <a:off x="685800" y="2011680"/>
            <a:ext cx="2377440" cy="1005840"/>
          </a:xfrm>
          <a:prstGeom prst="rect">
            <a:avLst/>
          </a:prstGeom>
          <a:solidFill>
            <a:srgbClr val="DCEB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050" b="1">
                <a:solidFill>
                  <a:srgbClr val="212529"/>
                </a:solidFill>
                <a:latin typeface="Arial"/>
              </a:defRPr>
            </a:pPr>
            <a:r>
              <a:rPr/>
              <a:t>Doctor schedules procedure</a:t>
            </a:r>
            <a:endParaRPr/>
          </a:p>
        </p:txBody>
      </p:sp>
      <p:sp>
        <p:nvSpPr>
          <p:cNvPr id="1021855293" name="Rectangle 3"/>
          <p:cNvSpPr/>
          <p:nvPr/>
        </p:nvSpPr>
        <p:spPr bwMode="auto">
          <a:xfrm>
            <a:off x="3063240" y="2505074"/>
            <a:ext cx="256032" cy="19050"/>
          </a:xfrm>
          <a:prstGeom prst="rect">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76194909" name="Isosceles Triangle 4"/>
          <p:cNvSpPr/>
          <p:nvPr/>
        </p:nvSpPr>
        <p:spPr bwMode="auto">
          <a:xfrm rot="5400000">
            <a:off x="3319272" y="2441448"/>
            <a:ext cx="109728" cy="146304"/>
          </a:xfrm>
          <a:prstGeom prst="triangle">
            <a:avLst>
              <a:gd name="adj" fmla="val 50000"/>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52826596" name="Rectangle 5"/>
          <p:cNvSpPr/>
          <p:nvPr/>
        </p:nvSpPr>
        <p:spPr bwMode="auto">
          <a:xfrm>
            <a:off x="3429000" y="2011680"/>
            <a:ext cx="2377440" cy="1005840"/>
          </a:xfrm>
          <a:prstGeom prst="rect">
            <a:avLst/>
          </a:prstGeom>
          <a:solidFill>
            <a:srgbClr val="DCEB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050" b="1">
                <a:solidFill>
                  <a:srgbClr val="212529"/>
                </a:solidFill>
                <a:latin typeface="Arial"/>
              </a:defRPr>
            </a:pPr>
            <a:r>
              <a:rPr/>
              <a:t>Checklist is created</a:t>
            </a:r>
            <a:endParaRPr/>
          </a:p>
        </p:txBody>
      </p:sp>
      <p:sp>
        <p:nvSpPr>
          <p:cNvPr id="132834023" name="Rectangle 6"/>
          <p:cNvSpPr/>
          <p:nvPr/>
        </p:nvSpPr>
        <p:spPr bwMode="auto">
          <a:xfrm>
            <a:off x="5806440" y="2505074"/>
            <a:ext cx="256032" cy="19050"/>
          </a:xfrm>
          <a:prstGeom prst="rect">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82362146" name="Isosceles Triangle 7"/>
          <p:cNvSpPr/>
          <p:nvPr/>
        </p:nvSpPr>
        <p:spPr bwMode="auto">
          <a:xfrm rot="5400000">
            <a:off x="6062471" y="2441448"/>
            <a:ext cx="109728" cy="146304"/>
          </a:xfrm>
          <a:prstGeom prst="triangle">
            <a:avLst>
              <a:gd name="adj" fmla="val 50000"/>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11431904" name="Rectangle 8"/>
          <p:cNvSpPr/>
          <p:nvPr/>
        </p:nvSpPr>
        <p:spPr bwMode="auto">
          <a:xfrm>
            <a:off x="6172200" y="2011680"/>
            <a:ext cx="2377440" cy="1005840"/>
          </a:xfrm>
          <a:prstGeom prst="rect">
            <a:avLst/>
          </a:prstGeom>
          <a:solidFill>
            <a:srgbClr val="DCEB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050" b="1">
                <a:solidFill>
                  <a:srgbClr val="212529"/>
                </a:solidFill>
                <a:latin typeface="Arial"/>
              </a:defRPr>
            </a:pPr>
            <a:r>
              <a:rPr/>
              <a:t>Patient views checklist</a:t>
            </a:r>
            <a:endParaRPr/>
          </a:p>
        </p:txBody>
      </p:sp>
      <p:sp>
        <p:nvSpPr>
          <p:cNvPr id="1504640768" name="Rectangle 9"/>
          <p:cNvSpPr/>
          <p:nvPr/>
        </p:nvSpPr>
        <p:spPr bwMode="auto">
          <a:xfrm>
            <a:off x="8549640" y="2505074"/>
            <a:ext cx="256032" cy="19050"/>
          </a:xfrm>
          <a:prstGeom prst="rect">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81037173" name="Isosceles Triangle 10"/>
          <p:cNvSpPr/>
          <p:nvPr/>
        </p:nvSpPr>
        <p:spPr bwMode="auto">
          <a:xfrm rot="5400000">
            <a:off x="8805672" y="2441448"/>
            <a:ext cx="109728" cy="146304"/>
          </a:xfrm>
          <a:prstGeom prst="triangle">
            <a:avLst>
              <a:gd name="adj" fmla="val 50000"/>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3499074" name="Rectangle 11"/>
          <p:cNvSpPr/>
          <p:nvPr/>
        </p:nvSpPr>
        <p:spPr bwMode="auto">
          <a:xfrm>
            <a:off x="8915400" y="2011680"/>
            <a:ext cx="2377440" cy="1005840"/>
          </a:xfrm>
          <a:prstGeom prst="rect">
            <a:avLst/>
          </a:prstGeom>
          <a:solidFill>
            <a:srgbClr val="DCEB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050" b="1">
                <a:solidFill>
                  <a:srgbClr val="212529"/>
                </a:solidFill>
                <a:latin typeface="Arial"/>
              </a:defRPr>
            </a:pPr>
            <a:r>
              <a:rPr/>
              <a:t>Patient completes tasks</a:t>
            </a:r>
            <a:endParaRPr/>
          </a:p>
        </p:txBody>
      </p:sp>
      <p:sp>
        <p:nvSpPr>
          <p:cNvPr id="1656321020" name="Rectangle 12"/>
          <p:cNvSpPr/>
          <p:nvPr/>
        </p:nvSpPr>
        <p:spPr bwMode="auto">
          <a:xfrm>
            <a:off x="10094595" y="3017519"/>
            <a:ext cx="19050" cy="1188720"/>
          </a:xfrm>
          <a:prstGeom prst="rect">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73789947" name="Rectangle 13"/>
          <p:cNvSpPr/>
          <p:nvPr/>
        </p:nvSpPr>
        <p:spPr bwMode="auto">
          <a:xfrm>
            <a:off x="9116568" y="4196715"/>
            <a:ext cx="987552" cy="19050"/>
          </a:xfrm>
          <a:prstGeom prst="rect">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46342112" name="Isosceles Triangle 14"/>
          <p:cNvSpPr/>
          <p:nvPr/>
        </p:nvSpPr>
        <p:spPr bwMode="auto">
          <a:xfrm rot="16199999">
            <a:off x="9006840" y="4133088"/>
            <a:ext cx="109728" cy="146304"/>
          </a:xfrm>
          <a:prstGeom prst="triangle">
            <a:avLst>
              <a:gd name="adj" fmla="val 50000"/>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82574673" name="Rectangle 15"/>
          <p:cNvSpPr/>
          <p:nvPr/>
        </p:nvSpPr>
        <p:spPr bwMode="auto">
          <a:xfrm>
            <a:off x="8915400" y="3703320"/>
            <a:ext cx="2377440" cy="1005840"/>
          </a:xfrm>
          <a:prstGeom prst="rect">
            <a:avLst/>
          </a:prstGeom>
          <a:solidFill>
            <a:srgbClr val="DCEB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050" b="1">
                <a:solidFill>
                  <a:srgbClr val="212529"/>
                </a:solidFill>
                <a:latin typeface="Arial"/>
              </a:defRPr>
            </a:pPr>
            <a:r>
              <a:rPr/>
              <a:t>Patient uploads reports</a:t>
            </a:r>
            <a:endParaRPr/>
          </a:p>
        </p:txBody>
      </p:sp>
      <p:sp>
        <p:nvSpPr>
          <p:cNvPr id="132888080" name="Rectangle 16"/>
          <p:cNvSpPr/>
          <p:nvPr/>
        </p:nvSpPr>
        <p:spPr bwMode="auto">
          <a:xfrm>
            <a:off x="8659368" y="4196715"/>
            <a:ext cx="256032" cy="19050"/>
          </a:xfrm>
          <a:prstGeom prst="rect">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72600409" name="Isosceles Triangle 17"/>
          <p:cNvSpPr/>
          <p:nvPr/>
        </p:nvSpPr>
        <p:spPr bwMode="auto">
          <a:xfrm rot="16199999">
            <a:off x="8549640" y="4133088"/>
            <a:ext cx="109728" cy="146304"/>
          </a:xfrm>
          <a:prstGeom prst="triangle">
            <a:avLst>
              <a:gd name="adj" fmla="val 50000"/>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77931994" name="Rectangle 18"/>
          <p:cNvSpPr/>
          <p:nvPr/>
        </p:nvSpPr>
        <p:spPr bwMode="auto">
          <a:xfrm>
            <a:off x="6172200" y="3703320"/>
            <a:ext cx="2377440" cy="1005840"/>
          </a:xfrm>
          <a:prstGeom prst="rect">
            <a:avLst/>
          </a:prstGeom>
          <a:solidFill>
            <a:srgbClr val="DCEB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050" b="1">
                <a:solidFill>
                  <a:srgbClr val="212529"/>
                </a:solidFill>
                <a:latin typeface="Arial"/>
              </a:defRPr>
            </a:pPr>
            <a:r>
              <a:rPr/>
              <a:t>Doctor verifies reports</a:t>
            </a:r>
            <a:endParaRPr/>
          </a:p>
        </p:txBody>
      </p:sp>
      <p:sp>
        <p:nvSpPr>
          <p:cNvPr id="969821155" name="Rectangle 19"/>
          <p:cNvSpPr/>
          <p:nvPr/>
        </p:nvSpPr>
        <p:spPr bwMode="auto">
          <a:xfrm>
            <a:off x="5916168" y="4196715"/>
            <a:ext cx="256032" cy="19050"/>
          </a:xfrm>
          <a:prstGeom prst="rect">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54478459" name="Isosceles Triangle 20"/>
          <p:cNvSpPr/>
          <p:nvPr/>
        </p:nvSpPr>
        <p:spPr bwMode="auto">
          <a:xfrm rot="16199999">
            <a:off x="5806440" y="4133088"/>
            <a:ext cx="109728" cy="146304"/>
          </a:xfrm>
          <a:prstGeom prst="triangle">
            <a:avLst>
              <a:gd name="adj" fmla="val 50000"/>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5054110" name="Rectangle 21"/>
          <p:cNvSpPr/>
          <p:nvPr/>
        </p:nvSpPr>
        <p:spPr bwMode="auto">
          <a:xfrm>
            <a:off x="3429000" y="3703320"/>
            <a:ext cx="2377440" cy="1005840"/>
          </a:xfrm>
          <a:prstGeom prst="rect">
            <a:avLst/>
          </a:prstGeom>
          <a:solidFill>
            <a:srgbClr val="DCEB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050" b="1">
                <a:solidFill>
                  <a:srgbClr val="212529"/>
                </a:solidFill>
                <a:latin typeface="Arial"/>
              </a:defRPr>
            </a:pPr>
            <a:r>
              <a:rPr/>
              <a:t>System checks readiness</a:t>
            </a:r>
            <a:endParaRPr/>
          </a:p>
        </p:txBody>
      </p:sp>
      <p:sp>
        <p:nvSpPr>
          <p:cNvPr id="419858278" name="Rectangle 22"/>
          <p:cNvSpPr/>
          <p:nvPr/>
        </p:nvSpPr>
        <p:spPr bwMode="auto">
          <a:xfrm>
            <a:off x="3172968" y="4196715"/>
            <a:ext cx="256032" cy="19050"/>
          </a:xfrm>
          <a:prstGeom prst="rect">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43684075" name="Isosceles Triangle 23"/>
          <p:cNvSpPr/>
          <p:nvPr/>
        </p:nvSpPr>
        <p:spPr bwMode="auto">
          <a:xfrm rot="16199999">
            <a:off x="3063240" y="4133088"/>
            <a:ext cx="109728" cy="146304"/>
          </a:xfrm>
          <a:prstGeom prst="triangle">
            <a:avLst>
              <a:gd name="adj" fmla="val 50000"/>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4609081" name="Rectangle 24"/>
          <p:cNvSpPr/>
          <p:nvPr/>
        </p:nvSpPr>
        <p:spPr bwMode="auto">
          <a:xfrm>
            <a:off x="685800" y="3703320"/>
            <a:ext cx="2377440" cy="1005840"/>
          </a:xfrm>
          <a:prstGeom prst="rect">
            <a:avLst/>
          </a:prstGeom>
          <a:solidFill>
            <a:srgbClr val="DCEB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050" b="1">
                <a:solidFill>
                  <a:srgbClr val="212529"/>
                </a:solidFill>
                <a:latin typeface="Arial"/>
              </a:defRPr>
            </a:pPr>
            <a:r>
              <a:rPr/>
              <a:t>Ready / Pending status shown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3698813"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MediPrep – Table Designs: tbl_users</a:t>
            </a:r>
            <a:endParaRPr/>
          </a:p>
        </p:txBody>
      </p:sp>
      <p:graphicFrame>
        <p:nvGraphicFramePr>
          <p:cNvPr id="423111485" name="Table 2"/>
          <p:cNvGraphicFramePr>
            <a:graphicFrameLocks xmlns:a="http://schemas.openxmlformats.org/drawingml/2006/main" noGrp="1"/>
          </p:cNvGraphicFramePr>
          <p:nvPr/>
        </p:nvGraphicFramePr>
        <p:xfrm rot="0">
          <a:off x="685800" y="1371600"/>
          <a:ext cx="10817352" cy="3657600"/>
        </p:xfrm>
        <a:graphic>
          <a:graphicData uri="http://schemas.openxmlformats.org/drawingml/2006/table">
            <a:tbl>
              <a:tblPr firstRow="1" firstCol="0" lastRow="0" lastCol="0" bandRow="1" bandCol="0">
                <a:tableStyleId>{5C22544A-7EE6-4342-B048-85BDC9FD1C3A}</a:tableStyleId>
              </a:tblPr>
              <a:tblGrid>
                <a:gridCol w="2926080"/>
                <a:gridCol w="2011680"/>
                <a:gridCol w="1645920"/>
                <a:gridCol w="4233672"/>
              </a:tblGrid>
              <a:tr h="457200">
                <a:tc>
                  <a:txBody>
                    <a:bodyPr/>
                    <a:p>
                      <a:pPr>
                        <a:defRPr sz="1300" b="1">
                          <a:solidFill>
                            <a:srgbClr val="FFFFFF"/>
                          </a:solidFill>
                          <a:latin typeface="Arial"/>
                        </a:defRPr>
                      </a:pPr>
                      <a:r>
                        <a:rPr/>
                        <a:t>Column Name</a:t>
                      </a:r>
                      <a:endParaRPr/>
                    </a:p>
                  </a:txBody>
                  <a:tcPr>
                    <a:solidFill>
                      <a:srgbClr val="2969B0"/>
                    </a:solidFill>
                  </a:tcPr>
                </a:tc>
                <a:tc>
                  <a:txBody>
                    <a:bodyPr/>
                    <a:p>
                      <a:pPr>
                        <a:defRPr sz="1300" b="1">
                          <a:solidFill>
                            <a:srgbClr val="FFFFFF"/>
                          </a:solidFill>
                          <a:latin typeface="Arial"/>
                        </a:defRPr>
                      </a:pPr>
                      <a:r>
                        <a:rPr/>
                        <a:t>Data Type</a:t>
                      </a:r>
                      <a:endParaRPr/>
                    </a:p>
                  </a:txBody>
                  <a:tcPr>
                    <a:solidFill>
                      <a:srgbClr val="2969B0"/>
                    </a:solidFill>
                  </a:tcPr>
                </a:tc>
                <a:tc>
                  <a:txBody>
                    <a:bodyPr/>
                    <a:p>
                      <a:pPr>
                        <a:defRPr sz="1300" b="1">
                          <a:solidFill>
                            <a:srgbClr val="FFFFFF"/>
                          </a:solidFill>
                          <a:latin typeface="Arial"/>
                        </a:defRPr>
                      </a:pPr>
                      <a:r>
                        <a:rPr/>
                        <a:t>Size</a:t>
                      </a:r>
                      <a:endParaRPr/>
                    </a:p>
                  </a:txBody>
                  <a:tcPr>
                    <a:solidFill>
                      <a:srgbClr val="2969B0"/>
                    </a:solidFill>
                  </a:tcPr>
                </a:tc>
                <a:tc>
                  <a:txBody>
                    <a:bodyPr/>
                    <a:p>
                      <a:pPr>
                        <a:defRPr sz="1300" b="1">
                          <a:solidFill>
                            <a:srgbClr val="FFFFFF"/>
                          </a:solidFill>
                          <a:latin typeface="Arial"/>
                        </a:defRPr>
                      </a:pPr>
                      <a:r>
                        <a:rPr/>
                        <a:t>Constraint</a:t>
                      </a:r>
                      <a:endParaRPr/>
                    </a:p>
                  </a:txBody>
                  <a:tcPr>
                    <a:solidFill>
                      <a:srgbClr val="2969B0"/>
                    </a:solidFill>
                  </a:tcPr>
                </a:tc>
              </a:tr>
              <a:tr h="457200">
                <a:tc>
                  <a:txBody>
                    <a:bodyPr/>
                    <a:p>
                      <a:pPr>
                        <a:defRPr sz="1150">
                          <a:solidFill>
                            <a:srgbClr val="182B49"/>
                          </a:solidFill>
                          <a:latin typeface="Courier New"/>
                        </a:defRPr>
                      </a:pPr>
                      <a:r>
                        <a:rPr/>
                        <a:t>id</a:t>
                      </a:r>
                      <a:endParaRPr/>
                    </a:p>
                  </a:txBody>
                  <a:tcPr>
                    <a:solidFill>
                      <a:srgbClr val="E1EBF8"/>
                    </a:solidFill>
                  </a:tcPr>
                </a:tc>
                <a:tc>
                  <a:txBody>
                    <a:bodyPr/>
                    <a:p>
                      <a:pPr>
                        <a:defRPr sz="1150">
                          <a:solidFill>
                            <a:srgbClr val="212529"/>
                          </a:solidFill>
                          <a:latin typeface="Arial"/>
                        </a:defRPr>
                      </a:pPr>
                      <a:r>
                        <a:rPr/>
                        <a:t>INTEGER</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Primary Key, Auto Increment</a:t>
                      </a:r>
                      <a:endParaRPr/>
                    </a:p>
                  </a:txBody>
                  <a:tcPr>
                    <a:solidFill>
                      <a:srgbClr val="E1EBF8"/>
                    </a:solidFill>
                  </a:tcPr>
                </a:tc>
              </a:tr>
              <a:tr h="457200">
                <a:tc>
                  <a:txBody>
                    <a:bodyPr/>
                    <a:p>
                      <a:pPr>
                        <a:defRPr sz="1150">
                          <a:solidFill>
                            <a:srgbClr val="182B49"/>
                          </a:solidFill>
                          <a:latin typeface="Courier New"/>
                        </a:defRPr>
                      </a:pPr>
                      <a:r>
                        <a:rPr/>
                        <a:t>email</a:t>
                      </a:r>
                      <a:endParaRPr/>
                    </a:p>
                  </a:txBody>
                  <a:tcPr>
                    <a:solidFill>
                      <a:srgbClr val="F0F5FC"/>
                    </a:solidFill>
                  </a:tcPr>
                </a:tc>
                <a:tc>
                  <a:txBody>
                    <a:bodyPr/>
                    <a:p>
                      <a:pPr>
                        <a:defRPr sz="1150">
                          <a:solidFill>
                            <a:srgbClr val="212529"/>
                          </a:solidFill>
                          <a:latin typeface="Arial"/>
                        </a:defRPr>
                      </a:pPr>
                      <a:r>
                        <a:rPr/>
                        <a:t>VARCHAR</a:t>
                      </a:r>
                      <a:endParaRPr/>
                    </a:p>
                  </a:txBody>
                  <a:tcPr>
                    <a:solidFill>
                      <a:srgbClr val="F0F5FC"/>
                    </a:solidFill>
                  </a:tcPr>
                </a:tc>
                <a:tc>
                  <a:txBody>
                    <a:bodyPr/>
                    <a:p>
                      <a:pPr>
                        <a:defRPr sz="1150">
                          <a:solidFill>
                            <a:srgbClr val="212529"/>
                          </a:solidFill>
                          <a:latin typeface="Arial"/>
                        </a:defRPr>
                      </a:pPr>
                      <a:r>
                        <a:rPr/>
                        <a:t>120</a:t>
                      </a:r>
                      <a:endParaRPr/>
                    </a:p>
                  </a:txBody>
                  <a:tcPr>
                    <a:solidFill>
                      <a:srgbClr val="F0F5FC"/>
                    </a:solidFill>
                  </a:tcPr>
                </a:tc>
                <a:tc>
                  <a:txBody>
                    <a:bodyPr/>
                    <a:p>
                      <a:pPr>
                        <a:defRPr sz="1150">
                          <a:solidFill>
                            <a:srgbClr val="212529"/>
                          </a:solidFill>
                          <a:latin typeface="Arial"/>
                        </a:defRPr>
                      </a:pPr>
                      <a:r>
                        <a:rPr/>
                        <a:t>Unique, Not Null</a:t>
                      </a:r>
                      <a:endParaRPr/>
                    </a:p>
                  </a:txBody>
                  <a:tcPr>
                    <a:solidFill>
                      <a:srgbClr val="F0F5FC"/>
                    </a:solidFill>
                  </a:tcPr>
                </a:tc>
              </a:tr>
              <a:tr h="457200">
                <a:tc>
                  <a:txBody>
                    <a:bodyPr/>
                    <a:p>
                      <a:pPr>
                        <a:defRPr sz="1150">
                          <a:solidFill>
                            <a:srgbClr val="182B49"/>
                          </a:solidFill>
                          <a:latin typeface="Courier New"/>
                        </a:defRPr>
                      </a:pPr>
                      <a:r>
                        <a:rPr/>
                        <a:t>password_hash</a:t>
                      </a:r>
                      <a:endParaRPr/>
                    </a:p>
                  </a:txBody>
                  <a:tcPr>
                    <a:solidFill>
                      <a:srgbClr val="E1EBF8"/>
                    </a:solidFill>
                  </a:tcPr>
                </a:tc>
                <a:tc>
                  <a:txBody>
                    <a:bodyPr/>
                    <a:p>
                      <a:pPr>
                        <a:defRPr sz="1150">
                          <a:solidFill>
                            <a:srgbClr val="212529"/>
                          </a:solidFill>
                          <a:latin typeface="Arial"/>
                        </a:defRPr>
                      </a:pPr>
                      <a:r>
                        <a:rPr/>
                        <a:t>VARCHAR</a:t>
                      </a:r>
                      <a:endParaRPr/>
                    </a:p>
                  </a:txBody>
                  <a:tcPr>
                    <a:solidFill>
                      <a:srgbClr val="E1EBF8"/>
                    </a:solidFill>
                  </a:tcPr>
                </a:tc>
                <a:tc>
                  <a:txBody>
                    <a:bodyPr/>
                    <a:p>
                      <a:pPr>
                        <a:defRPr sz="1150">
                          <a:solidFill>
                            <a:srgbClr val="212529"/>
                          </a:solidFill>
                          <a:latin typeface="Arial"/>
                        </a:defRPr>
                      </a:pPr>
                      <a:r>
                        <a:rPr/>
                        <a:t>255</a:t>
                      </a:r>
                      <a:endParaRPr/>
                    </a:p>
                  </a:txBody>
                  <a:tcPr>
                    <a:solidFill>
                      <a:srgbClr val="E1EBF8"/>
                    </a:solidFill>
                  </a:tcPr>
                </a:tc>
                <a:tc>
                  <a:txBody>
                    <a:bodyPr/>
                    <a:p>
                      <a:pPr>
                        <a:defRPr sz="1150">
                          <a:solidFill>
                            <a:srgbClr val="212529"/>
                          </a:solidFill>
                          <a:latin typeface="Arial"/>
                        </a:defRPr>
                      </a:pPr>
                      <a:r>
                        <a:rPr/>
                        <a:t>Not Null</a:t>
                      </a:r>
                      <a:endParaRPr/>
                    </a:p>
                  </a:txBody>
                  <a:tcPr>
                    <a:solidFill>
                      <a:srgbClr val="E1EBF8"/>
                    </a:solidFill>
                  </a:tcPr>
                </a:tc>
              </a:tr>
              <a:tr h="457200">
                <a:tc>
                  <a:txBody>
                    <a:bodyPr/>
                    <a:p>
                      <a:pPr>
                        <a:defRPr sz="1150">
                          <a:solidFill>
                            <a:srgbClr val="182B49"/>
                          </a:solidFill>
                          <a:latin typeface="Courier New"/>
                        </a:defRPr>
                      </a:pPr>
                      <a:r>
                        <a:rPr/>
                        <a:t>role_name</a:t>
                      </a:r>
                      <a:endParaRPr/>
                    </a:p>
                  </a:txBody>
                  <a:tcPr>
                    <a:solidFill>
                      <a:srgbClr val="F0F5FC"/>
                    </a:solidFill>
                  </a:tcPr>
                </a:tc>
                <a:tc>
                  <a:txBody>
                    <a:bodyPr/>
                    <a:p>
                      <a:pPr>
                        <a:defRPr sz="1150">
                          <a:solidFill>
                            <a:srgbClr val="212529"/>
                          </a:solidFill>
                          <a:latin typeface="Arial"/>
                        </a:defRPr>
                      </a:pPr>
                      <a:r>
                        <a:rPr/>
                        <a:t>VARCHAR</a:t>
                      </a:r>
                      <a:endParaRPr/>
                    </a:p>
                  </a:txBody>
                  <a:tcPr>
                    <a:solidFill>
                      <a:srgbClr val="F0F5FC"/>
                    </a:solidFill>
                  </a:tcPr>
                </a:tc>
                <a:tc>
                  <a:txBody>
                    <a:bodyPr/>
                    <a:p>
                      <a:pPr>
                        <a:defRPr sz="1150">
                          <a:solidFill>
                            <a:srgbClr val="212529"/>
                          </a:solidFill>
                          <a:latin typeface="Arial"/>
                        </a:defRPr>
                      </a:pPr>
                      <a:r>
                        <a:rPr/>
                        <a:t>20</a:t>
                      </a:r>
                      <a:endParaRPr/>
                    </a:p>
                  </a:txBody>
                  <a:tcPr>
                    <a:solidFill>
                      <a:srgbClr val="F0F5FC"/>
                    </a:solidFill>
                  </a:tcPr>
                </a:tc>
                <a:tc>
                  <a:txBody>
                    <a:bodyPr/>
                    <a:p>
                      <a:pPr>
                        <a:defRPr sz="1150">
                          <a:solidFill>
                            <a:srgbClr val="212529"/>
                          </a:solidFill>
                          <a:latin typeface="Arial"/>
                        </a:defRPr>
                      </a:pPr>
                      <a:r>
                        <a:rPr/>
                        <a:t>Not Null (doctor / patient)</a:t>
                      </a:r>
                      <a:endParaRPr/>
                    </a:p>
                  </a:txBody>
                  <a:tcPr>
                    <a:solidFill>
                      <a:srgbClr val="F0F5FC"/>
                    </a:solidFill>
                  </a:tcPr>
                </a:tc>
              </a:tr>
              <a:tr h="457200">
                <a:tc>
                  <a:txBody>
                    <a:bodyPr/>
                    <a:p>
                      <a:pPr>
                        <a:defRPr sz="1150">
                          <a:solidFill>
                            <a:srgbClr val="182B49"/>
                          </a:solidFill>
                          <a:latin typeface="Courier New"/>
                        </a:defRPr>
                      </a:pPr>
                      <a:r>
                        <a:rPr/>
                        <a:t>full_name</a:t>
                      </a:r>
                      <a:endParaRPr/>
                    </a:p>
                  </a:txBody>
                  <a:tcPr>
                    <a:solidFill>
                      <a:srgbClr val="E1EBF8"/>
                    </a:solidFill>
                  </a:tcPr>
                </a:tc>
                <a:tc>
                  <a:txBody>
                    <a:bodyPr/>
                    <a:p>
                      <a:pPr>
                        <a:defRPr sz="1150">
                          <a:solidFill>
                            <a:srgbClr val="212529"/>
                          </a:solidFill>
                          <a:latin typeface="Arial"/>
                        </a:defRPr>
                      </a:pPr>
                      <a:r>
                        <a:rPr/>
                        <a:t>VARCHAR</a:t>
                      </a:r>
                      <a:endParaRPr/>
                    </a:p>
                  </a:txBody>
                  <a:tcPr>
                    <a:solidFill>
                      <a:srgbClr val="E1EBF8"/>
                    </a:solidFill>
                  </a:tcPr>
                </a:tc>
                <a:tc>
                  <a:txBody>
                    <a:bodyPr/>
                    <a:p>
                      <a:pPr>
                        <a:defRPr sz="1150">
                          <a:solidFill>
                            <a:srgbClr val="212529"/>
                          </a:solidFill>
                          <a:latin typeface="Arial"/>
                        </a:defRPr>
                      </a:pPr>
                      <a:r>
                        <a:rPr/>
                        <a:t>100</a:t>
                      </a:r>
                      <a:endParaRPr/>
                    </a:p>
                  </a:txBody>
                  <a:tcPr>
                    <a:solidFill>
                      <a:srgbClr val="E1EBF8"/>
                    </a:solidFill>
                  </a:tcPr>
                </a:tc>
                <a:tc>
                  <a:txBody>
                    <a:bodyPr/>
                    <a:p>
                      <a:pPr>
                        <a:defRPr sz="1150">
                          <a:solidFill>
                            <a:srgbClr val="212529"/>
                          </a:solidFill>
                          <a:latin typeface="Arial"/>
                        </a:defRPr>
                      </a:pPr>
                      <a:r>
                        <a:rPr/>
                        <a:t>Not Null</a:t>
                      </a:r>
                      <a:endParaRPr/>
                    </a:p>
                  </a:txBody>
                  <a:tcPr>
                    <a:solidFill>
                      <a:srgbClr val="E1EBF8"/>
                    </a:solidFill>
                  </a:tcPr>
                </a:tc>
              </a:tr>
              <a:tr h="457200">
                <a:tc>
                  <a:txBody>
                    <a:bodyPr/>
                    <a:p>
                      <a:pPr>
                        <a:defRPr sz="1150">
                          <a:solidFill>
                            <a:srgbClr val="182B49"/>
                          </a:solidFill>
                          <a:latin typeface="Courier New"/>
                        </a:defRPr>
                      </a:pPr>
                      <a:r>
                        <a:rPr/>
                        <a:t>phone</a:t>
                      </a:r>
                      <a:endParaRPr/>
                    </a:p>
                  </a:txBody>
                  <a:tcPr>
                    <a:solidFill>
                      <a:srgbClr val="F0F5FC"/>
                    </a:solidFill>
                  </a:tcPr>
                </a:tc>
                <a:tc>
                  <a:txBody>
                    <a:bodyPr/>
                    <a:p>
                      <a:pPr>
                        <a:defRPr sz="1150">
                          <a:solidFill>
                            <a:srgbClr val="212529"/>
                          </a:solidFill>
                          <a:latin typeface="Arial"/>
                        </a:defRPr>
                      </a:pPr>
                      <a:r>
                        <a:rPr/>
                        <a:t>VARCHAR</a:t>
                      </a:r>
                      <a:endParaRPr/>
                    </a:p>
                  </a:txBody>
                  <a:tcPr>
                    <a:solidFill>
                      <a:srgbClr val="F0F5FC"/>
                    </a:solidFill>
                  </a:tcPr>
                </a:tc>
                <a:tc>
                  <a:txBody>
                    <a:bodyPr/>
                    <a:p>
                      <a:pPr>
                        <a:defRPr sz="1150">
                          <a:solidFill>
                            <a:srgbClr val="212529"/>
                          </a:solidFill>
                          <a:latin typeface="Arial"/>
                        </a:defRPr>
                      </a:pPr>
                      <a:r>
                        <a:rPr/>
                        <a:t>20</a:t>
                      </a:r>
                      <a:endParaRPr/>
                    </a:p>
                  </a:txBody>
                  <a:tcPr>
                    <a:solidFill>
                      <a:srgbClr val="F0F5FC"/>
                    </a:solidFill>
                  </a:tcPr>
                </a:tc>
                <a:tc>
                  <a:txBody>
                    <a:bodyPr/>
                    <a:p>
                      <a:pPr>
                        <a:defRPr sz="1150">
                          <a:solidFill>
                            <a:srgbClr val="212529"/>
                          </a:solidFill>
                          <a:latin typeface="Arial"/>
                        </a:defRPr>
                      </a:pPr>
                      <a:r>
                        <a:rPr/>
                        <a:t>Nullable</a:t>
                      </a:r>
                      <a:endParaRPr/>
                    </a:p>
                  </a:txBody>
                  <a:tcPr>
                    <a:solidFill>
                      <a:srgbClr val="F0F5FC"/>
                    </a:solidFill>
                  </a:tcPr>
                </a:tc>
              </a:tr>
              <a:tr h="457200">
                <a:tc>
                  <a:txBody>
                    <a:bodyPr/>
                    <a:p>
                      <a:pPr>
                        <a:defRPr sz="1150">
                          <a:solidFill>
                            <a:srgbClr val="182B49"/>
                          </a:solidFill>
                          <a:latin typeface="Courier New"/>
                        </a:defRPr>
                      </a:pPr>
                      <a:r>
                        <a:rPr/>
                        <a:t>created_at</a:t>
                      </a:r>
                      <a:endParaRPr/>
                    </a:p>
                  </a:txBody>
                  <a:tcPr>
                    <a:solidFill>
                      <a:srgbClr val="E1EBF8"/>
                    </a:solidFill>
                  </a:tcPr>
                </a:tc>
                <a:tc>
                  <a:txBody>
                    <a:bodyPr/>
                    <a:p>
                      <a:pPr>
                        <a:defRPr sz="1150">
                          <a:solidFill>
                            <a:srgbClr val="212529"/>
                          </a:solidFill>
                          <a:latin typeface="Arial"/>
                        </a:defRPr>
                      </a:pPr>
                      <a:r>
                        <a:rPr/>
                        <a:t>DATETIME</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Current Timestamp</a:t>
                      </a:r>
                      <a:endParaRPr/>
                    </a:p>
                  </a:txBody>
                  <a:tcPr>
                    <a:solidFill>
                      <a:srgbClr val="E1EBF8"/>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7221421"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MediPrep – Table Designs: tbl_procedures</a:t>
            </a:r>
            <a:endParaRPr/>
          </a:p>
        </p:txBody>
      </p:sp>
      <p:graphicFrame>
        <p:nvGraphicFramePr>
          <p:cNvPr id="1385494143" name="Table 2"/>
          <p:cNvGraphicFramePr>
            <a:graphicFrameLocks xmlns:a="http://schemas.openxmlformats.org/drawingml/2006/main" noGrp="1"/>
          </p:cNvGraphicFramePr>
          <p:nvPr/>
        </p:nvGraphicFramePr>
        <p:xfrm rot="0">
          <a:off x="685800" y="1371600"/>
          <a:ext cx="10817352" cy="3200400"/>
        </p:xfrm>
        <a:graphic>
          <a:graphicData uri="http://schemas.openxmlformats.org/drawingml/2006/table">
            <a:tbl>
              <a:tblPr firstRow="1" firstCol="0" lastRow="0" lastCol="0" bandRow="1" bandCol="0">
                <a:tableStyleId>{5C22544A-7EE6-4342-B048-85BDC9FD1C3A}</a:tableStyleId>
              </a:tblPr>
              <a:tblGrid>
                <a:gridCol w="2926080"/>
                <a:gridCol w="2011680"/>
                <a:gridCol w="1645920"/>
                <a:gridCol w="4233672"/>
              </a:tblGrid>
              <a:tr h="457200">
                <a:tc>
                  <a:txBody>
                    <a:bodyPr/>
                    <a:p>
                      <a:pPr>
                        <a:defRPr sz="1300" b="1">
                          <a:solidFill>
                            <a:srgbClr val="FFFFFF"/>
                          </a:solidFill>
                          <a:latin typeface="Arial"/>
                        </a:defRPr>
                      </a:pPr>
                      <a:r>
                        <a:rPr/>
                        <a:t>Column Name</a:t>
                      </a:r>
                      <a:endParaRPr/>
                    </a:p>
                  </a:txBody>
                  <a:tcPr>
                    <a:solidFill>
                      <a:srgbClr val="2969B0"/>
                    </a:solidFill>
                  </a:tcPr>
                </a:tc>
                <a:tc>
                  <a:txBody>
                    <a:bodyPr/>
                    <a:p>
                      <a:pPr>
                        <a:defRPr sz="1300" b="1">
                          <a:solidFill>
                            <a:srgbClr val="FFFFFF"/>
                          </a:solidFill>
                          <a:latin typeface="Arial"/>
                        </a:defRPr>
                      </a:pPr>
                      <a:r>
                        <a:rPr/>
                        <a:t>Data Type</a:t>
                      </a:r>
                      <a:endParaRPr/>
                    </a:p>
                  </a:txBody>
                  <a:tcPr>
                    <a:solidFill>
                      <a:srgbClr val="2969B0"/>
                    </a:solidFill>
                  </a:tcPr>
                </a:tc>
                <a:tc>
                  <a:txBody>
                    <a:bodyPr/>
                    <a:p>
                      <a:pPr>
                        <a:defRPr sz="1300" b="1">
                          <a:solidFill>
                            <a:srgbClr val="FFFFFF"/>
                          </a:solidFill>
                          <a:latin typeface="Arial"/>
                        </a:defRPr>
                      </a:pPr>
                      <a:r>
                        <a:rPr/>
                        <a:t>Size</a:t>
                      </a:r>
                      <a:endParaRPr/>
                    </a:p>
                  </a:txBody>
                  <a:tcPr>
                    <a:solidFill>
                      <a:srgbClr val="2969B0"/>
                    </a:solidFill>
                  </a:tcPr>
                </a:tc>
                <a:tc>
                  <a:txBody>
                    <a:bodyPr/>
                    <a:p>
                      <a:pPr>
                        <a:defRPr sz="1300" b="1">
                          <a:solidFill>
                            <a:srgbClr val="FFFFFF"/>
                          </a:solidFill>
                          <a:latin typeface="Arial"/>
                        </a:defRPr>
                      </a:pPr>
                      <a:r>
                        <a:rPr/>
                        <a:t>Constraint</a:t>
                      </a:r>
                      <a:endParaRPr/>
                    </a:p>
                  </a:txBody>
                  <a:tcPr>
                    <a:solidFill>
                      <a:srgbClr val="2969B0"/>
                    </a:solidFill>
                  </a:tcPr>
                </a:tc>
              </a:tr>
              <a:tr h="457200">
                <a:tc>
                  <a:txBody>
                    <a:bodyPr/>
                    <a:p>
                      <a:pPr>
                        <a:defRPr sz="1150">
                          <a:solidFill>
                            <a:srgbClr val="182B49"/>
                          </a:solidFill>
                          <a:latin typeface="Courier New"/>
                        </a:defRPr>
                      </a:pPr>
                      <a:r>
                        <a:rPr/>
                        <a:t>id</a:t>
                      </a:r>
                      <a:endParaRPr/>
                    </a:p>
                  </a:txBody>
                  <a:tcPr>
                    <a:solidFill>
                      <a:srgbClr val="E1EBF8"/>
                    </a:solidFill>
                  </a:tcPr>
                </a:tc>
                <a:tc>
                  <a:txBody>
                    <a:bodyPr/>
                    <a:p>
                      <a:pPr>
                        <a:defRPr sz="1150">
                          <a:solidFill>
                            <a:srgbClr val="212529"/>
                          </a:solidFill>
                          <a:latin typeface="Arial"/>
                        </a:defRPr>
                      </a:pPr>
                      <a:r>
                        <a:rPr/>
                        <a:t>INTEGER</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Primary Key, Auto Increment</a:t>
                      </a:r>
                      <a:endParaRPr/>
                    </a:p>
                  </a:txBody>
                  <a:tcPr>
                    <a:solidFill>
                      <a:srgbClr val="E1EBF8"/>
                    </a:solidFill>
                  </a:tcPr>
                </a:tc>
              </a:tr>
              <a:tr h="457200">
                <a:tc>
                  <a:txBody>
                    <a:bodyPr/>
                    <a:p>
                      <a:pPr>
                        <a:defRPr sz="1150">
                          <a:solidFill>
                            <a:srgbClr val="182B49"/>
                          </a:solidFill>
                          <a:latin typeface="Courier New"/>
                        </a:defRPr>
                      </a:pPr>
                      <a:r>
                        <a:rPr/>
                        <a:t>procedure_code</a:t>
                      </a:r>
                      <a:endParaRPr/>
                    </a:p>
                  </a:txBody>
                  <a:tcPr>
                    <a:solidFill>
                      <a:srgbClr val="F0F5FC"/>
                    </a:solidFill>
                  </a:tcPr>
                </a:tc>
                <a:tc>
                  <a:txBody>
                    <a:bodyPr/>
                    <a:p>
                      <a:pPr>
                        <a:defRPr sz="1150">
                          <a:solidFill>
                            <a:srgbClr val="212529"/>
                          </a:solidFill>
                          <a:latin typeface="Arial"/>
                        </a:defRPr>
                      </a:pPr>
                      <a:r>
                        <a:rPr/>
                        <a:t>VARCHAR</a:t>
                      </a:r>
                      <a:endParaRPr/>
                    </a:p>
                  </a:txBody>
                  <a:tcPr>
                    <a:solidFill>
                      <a:srgbClr val="F0F5FC"/>
                    </a:solidFill>
                  </a:tcPr>
                </a:tc>
                <a:tc>
                  <a:txBody>
                    <a:bodyPr/>
                    <a:p>
                      <a:pPr>
                        <a:defRPr sz="1150">
                          <a:solidFill>
                            <a:srgbClr val="212529"/>
                          </a:solidFill>
                          <a:latin typeface="Arial"/>
                        </a:defRPr>
                      </a:pPr>
                      <a:r>
                        <a:rPr/>
                        <a:t>50</a:t>
                      </a:r>
                      <a:endParaRPr/>
                    </a:p>
                  </a:txBody>
                  <a:tcPr>
                    <a:solidFill>
                      <a:srgbClr val="F0F5FC"/>
                    </a:solidFill>
                  </a:tcPr>
                </a:tc>
                <a:tc>
                  <a:txBody>
                    <a:bodyPr/>
                    <a:p>
                      <a:pPr>
                        <a:defRPr sz="1150">
                          <a:solidFill>
                            <a:srgbClr val="212529"/>
                          </a:solidFill>
                          <a:latin typeface="Arial"/>
                        </a:defRPr>
                      </a:pPr>
                      <a:r>
                        <a:rPr/>
                        <a:t>Unique, Not Null (e.g. CPT-93452)</a:t>
                      </a:r>
                      <a:endParaRPr/>
                    </a:p>
                  </a:txBody>
                  <a:tcPr>
                    <a:solidFill>
                      <a:srgbClr val="F0F5FC"/>
                    </a:solidFill>
                  </a:tcPr>
                </a:tc>
              </a:tr>
              <a:tr h="457200">
                <a:tc>
                  <a:txBody>
                    <a:bodyPr/>
                    <a:p>
                      <a:pPr>
                        <a:defRPr sz="1150">
                          <a:solidFill>
                            <a:srgbClr val="182B49"/>
                          </a:solidFill>
                          <a:latin typeface="Courier New"/>
                        </a:defRPr>
                      </a:pPr>
                      <a:r>
                        <a:rPr/>
                        <a:t>name</a:t>
                      </a:r>
                      <a:endParaRPr/>
                    </a:p>
                  </a:txBody>
                  <a:tcPr>
                    <a:solidFill>
                      <a:srgbClr val="E1EBF8"/>
                    </a:solidFill>
                  </a:tcPr>
                </a:tc>
                <a:tc>
                  <a:txBody>
                    <a:bodyPr/>
                    <a:p>
                      <a:pPr>
                        <a:defRPr sz="1150">
                          <a:solidFill>
                            <a:srgbClr val="212529"/>
                          </a:solidFill>
                          <a:latin typeface="Arial"/>
                        </a:defRPr>
                      </a:pPr>
                      <a:r>
                        <a:rPr/>
                        <a:t>VARCHAR</a:t>
                      </a:r>
                      <a:endParaRPr/>
                    </a:p>
                  </a:txBody>
                  <a:tcPr>
                    <a:solidFill>
                      <a:srgbClr val="E1EBF8"/>
                    </a:solidFill>
                  </a:tcPr>
                </a:tc>
                <a:tc>
                  <a:txBody>
                    <a:bodyPr/>
                    <a:p>
                      <a:pPr>
                        <a:defRPr sz="1150">
                          <a:solidFill>
                            <a:srgbClr val="212529"/>
                          </a:solidFill>
                          <a:latin typeface="Arial"/>
                        </a:defRPr>
                      </a:pPr>
                      <a:r>
                        <a:rPr/>
                        <a:t>150</a:t>
                      </a:r>
                      <a:endParaRPr/>
                    </a:p>
                  </a:txBody>
                  <a:tcPr>
                    <a:solidFill>
                      <a:srgbClr val="E1EBF8"/>
                    </a:solidFill>
                  </a:tcPr>
                </a:tc>
                <a:tc>
                  <a:txBody>
                    <a:bodyPr/>
                    <a:p>
                      <a:pPr>
                        <a:defRPr sz="1150">
                          <a:solidFill>
                            <a:srgbClr val="212529"/>
                          </a:solidFill>
                          <a:latin typeface="Arial"/>
                        </a:defRPr>
                      </a:pPr>
                      <a:r>
                        <a:rPr/>
                        <a:t>Not Null</a:t>
                      </a:r>
                      <a:endParaRPr/>
                    </a:p>
                  </a:txBody>
                  <a:tcPr>
                    <a:solidFill>
                      <a:srgbClr val="E1EBF8"/>
                    </a:solidFill>
                  </a:tcPr>
                </a:tc>
              </a:tr>
              <a:tr h="457200">
                <a:tc>
                  <a:txBody>
                    <a:bodyPr/>
                    <a:p>
                      <a:pPr>
                        <a:defRPr sz="1150">
                          <a:solidFill>
                            <a:srgbClr val="182B49"/>
                          </a:solidFill>
                          <a:latin typeface="Courier New"/>
                        </a:defRPr>
                      </a:pPr>
                      <a:r>
                        <a:rPr/>
                        <a:t>category</a:t>
                      </a:r>
                      <a:endParaRPr/>
                    </a:p>
                  </a:txBody>
                  <a:tcPr>
                    <a:solidFill>
                      <a:srgbClr val="F0F5FC"/>
                    </a:solidFill>
                  </a:tcPr>
                </a:tc>
                <a:tc>
                  <a:txBody>
                    <a:bodyPr/>
                    <a:p>
                      <a:pPr>
                        <a:defRPr sz="1150">
                          <a:solidFill>
                            <a:srgbClr val="212529"/>
                          </a:solidFill>
                          <a:latin typeface="Arial"/>
                        </a:defRPr>
                      </a:pPr>
                      <a:r>
                        <a:rPr/>
                        <a:t>VARCHAR</a:t>
                      </a:r>
                      <a:endParaRPr/>
                    </a:p>
                  </a:txBody>
                  <a:tcPr>
                    <a:solidFill>
                      <a:srgbClr val="F0F5FC"/>
                    </a:solidFill>
                  </a:tcPr>
                </a:tc>
                <a:tc>
                  <a:txBody>
                    <a:bodyPr/>
                    <a:p>
                      <a:pPr>
                        <a:defRPr sz="1150">
                          <a:solidFill>
                            <a:srgbClr val="212529"/>
                          </a:solidFill>
                          <a:latin typeface="Arial"/>
                        </a:defRPr>
                      </a:pPr>
                      <a:r>
                        <a:rPr/>
                        <a:t>50</a:t>
                      </a:r>
                      <a:endParaRPr/>
                    </a:p>
                  </a:txBody>
                  <a:tcPr>
                    <a:solidFill>
                      <a:srgbClr val="F0F5FC"/>
                    </a:solidFill>
                  </a:tcPr>
                </a:tc>
                <a:tc>
                  <a:txBody>
                    <a:bodyPr/>
                    <a:p>
                      <a:pPr>
                        <a:defRPr sz="1150">
                          <a:solidFill>
                            <a:srgbClr val="212529"/>
                          </a:solidFill>
                          <a:latin typeface="Arial"/>
                        </a:defRPr>
                      </a:pPr>
                      <a:r>
                        <a:rPr/>
                        <a:t>Not Null (Cardiology, Radiology)</a:t>
                      </a:r>
                      <a:endParaRPr/>
                    </a:p>
                  </a:txBody>
                  <a:tcPr>
                    <a:solidFill>
                      <a:srgbClr val="F0F5FC"/>
                    </a:solidFill>
                  </a:tcPr>
                </a:tc>
              </a:tr>
              <a:tr h="457200">
                <a:tc>
                  <a:txBody>
                    <a:bodyPr/>
                    <a:p>
                      <a:pPr>
                        <a:defRPr sz="1150">
                          <a:solidFill>
                            <a:srgbClr val="182B49"/>
                          </a:solidFill>
                          <a:latin typeface="Courier New"/>
                        </a:defRPr>
                      </a:pPr>
                      <a:r>
                        <a:rPr/>
                        <a:t>description</a:t>
                      </a:r>
                      <a:endParaRPr/>
                    </a:p>
                  </a:txBody>
                  <a:tcPr>
                    <a:solidFill>
                      <a:srgbClr val="E1EBF8"/>
                    </a:solidFill>
                  </a:tcPr>
                </a:tc>
                <a:tc>
                  <a:txBody>
                    <a:bodyPr/>
                    <a:p>
                      <a:pPr>
                        <a:defRPr sz="1150">
                          <a:solidFill>
                            <a:srgbClr val="212529"/>
                          </a:solidFill>
                          <a:latin typeface="Arial"/>
                        </a:defRPr>
                      </a:pPr>
                      <a:r>
                        <a:rPr/>
                        <a:t>TEXT</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Nullable</a:t>
                      </a:r>
                      <a:endParaRPr/>
                    </a:p>
                  </a:txBody>
                  <a:tcPr>
                    <a:solidFill>
                      <a:srgbClr val="E1EBF8"/>
                    </a:solidFill>
                  </a:tcPr>
                </a:tc>
              </a:tr>
              <a:tr h="457200">
                <a:tc>
                  <a:txBody>
                    <a:bodyPr/>
                    <a:p>
                      <a:pPr>
                        <a:defRPr sz="1150">
                          <a:solidFill>
                            <a:srgbClr val="182B49"/>
                          </a:solidFill>
                          <a:latin typeface="Courier New"/>
                        </a:defRPr>
                      </a:pPr>
                      <a:r>
                        <a:rPr/>
                        <a:t>est_duration_mins</a:t>
                      </a:r>
                      <a:endParaRPr/>
                    </a:p>
                  </a:txBody>
                  <a:tcPr>
                    <a:solidFill>
                      <a:srgbClr val="F0F5FC"/>
                    </a:solidFill>
                  </a:tcPr>
                </a:tc>
                <a:tc>
                  <a:txBody>
                    <a:bodyPr/>
                    <a:p>
                      <a:pPr>
                        <a:defRPr sz="1150">
                          <a:solidFill>
                            <a:srgbClr val="212529"/>
                          </a:solidFill>
                          <a:latin typeface="Arial"/>
                        </a:defRPr>
                      </a:pPr>
                      <a:r>
                        <a:rPr/>
                        <a:t>INTEGER</a:t>
                      </a:r>
                      <a:endParaRPr/>
                    </a:p>
                  </a:txBody>
                  <a:tcPr>
                    <a:solidFill>
                      <a:srgbClr val="F0F5FC"/>
                    </a:solidFill>
                  </a:tcPr>
                </a:tc>
                <a:tc>
                  <a:txBody>
                    <a:bodyPr/>
                    <a:p>
                      <a:pPr>
                        <a:defRPr sz="1150">
                          <a:solidFill>
                            <a:srgbClr val="212529"/>
                          </a:solidFill>
                          <a:latin typeface="Arial"/>
                        </a:defRPr>
                      </a:pPr>
                      <a:r>
                        <a:rPr/>
                        <a:t>-</a:t>
                      </a:r>
                      <a:endParaRPr/>
                    </a:p>
                  </a:txBody>
                  <a:tcPr>
                    <a:solidFill>
                      <a:srgbClr val="F0F5FC"/>
                    </a:solidFill>
                  </a:tcPr>
                </a:tc>
                <a:tc>
                  <a:txBody>
                    <a:bodyPr/>
                    <a:p>
                      <a:pPr>
                        <a:defRPr sz="1150">
                          <a:solidFill>
                            <a:srgbClr val="212529"/>
                          </a:solidFill>
                          <a:latin typeface="Arial"/>
                        </a:defRPr>
                      </a:pPr>
                      <a:r>
                        <a:rPr/>
                        <a:t>Default 60</a:t>
                      </a:r>
                      <a:endParaRPr/>
                    </a:p>
                  </a:txBody>
                  <a:tcPr>
                    <a:solidFill>
                      <a:srgbClr val="F0F5FC"/>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4060302"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MediPrep – Table Designs: tbl_scheduled_procedures</a:t>
            </a:r>
            <a:endParaRPr/>
          </a:p>
        </p:txBody>
      </p:sp>
      <p:graphicFrame>
        <p:nvGraphicFramePr>
          <p:cNvPr id="48229580" name="Table 2"/>
          <p:cNvGraphicFramePr>
            <a:graphicFrameLocks xmlns:a="http://schemas.openxmlformats.org/drawingml/2006/main" noGrp="1"/>
          </p:cNvGraphicFramePr>
          <p:nvPr/>
        </p:nvGraphicFramePr>
        <p:xfrm rot="0">
          <a:off x="685800" y="1371600"/>
          <a:ext cx="10817352" cy="3657600"/>
        </p:xfrm>
        <a:graphic>
          <a:graphicData uri="http://schemas.openxmlformats.org/drawingml/2006/table">
            <a:tbl>
              <a:tblPr firstRow="1" firstCol="0" lastRow="0" lastCol="0" bandRow="1" bandCol="0">
                <a:tableStyleId>{5C22544A-7EE6-4342-B048-85BDC9FD1C3A}</a:tableStyleId>
              </a:tblPr>
              <a:tblGrid>
                <a:gridCol w="2926080"/>
                <a:gridCol w="2011680"/>
                <a:gridCol w="1645920"/>
                <a:gridCol w="4233672"/>
              </a:tblGrid>
              <a:tr h="457200">
                <a:tc>
                  <a:txBody>
                    <a:bodyPr/>
                    <a:p>
                      <a:pPr>
                        <a:defRPr sz="1300" b="1">
                          <a:solidFill>
                            <a:srgbClr val="FFFFFF"/>
                          </a:solidFill>
                          <a:latin typeface="Arial"/>
                        </a:defRPr>
                      </a:pPr>
                      <a:r>
                        <a:rPr/>
                        <a:t>Column Name</a:t>
                      </a:r>
                      <a:endParaRPr/>
                    </a:p>
                  </a:txBody>
                  <a:tcPr>
                    <a:solidFill>
                      <a:srgbClr val="2969B0"/>
                    </a:solidFill>
                  </a:tcPr>
                </a:tc>
                <a:tc>
                  <a:txBody>
                    <a:bodyPr/>
                    <a:p>
                      <a:pPr>
                        <a:defRPr sz="1300" b="1">
                          <a:solidFill>
                            <a:srgbClr val="FFFFFF"/>
                          </a:solidFill>
                          <a:latin typeface="Arial"/>
                        </a:defRPr>
                      </a:pPr>
                      <a:r>
                        <a:rPr/>
                        <a:t>Data Type</a:t>
                      </a:r>
                      <a:endParaRPr/>
                    </a:p>
                  </a:txBody>
                  <a:tcPr>
                    <a:solidFill>
                      <a:srgbClr val="2969B0"/>
                    </a:solidFill>
                  </a:tcPr>
                </a:tc>
                <a:tc>
                  <a:txBody>
                    <a:bodyPr/>
                    <a:p>
                      <a:pPr>
                        <a:defRPr sz="1300" b="1">
                          <a:solidFill>
                            <a:srgbClr val="FFFFFF"/>
                          </a:solidFill>
                          <a:latin typeface="Arial"/>
                        </a:defRPr>
                      </a:pPr>
                      <a:r>
                        <a:rPr/>
                        <a:t>Size</a:t>
                      </a:r>
                      <a:endParaRPr/>
                    </a:p>
                  </a:txBody>
                  <a:tcPr>
                    <a:solidFill>
                      <a:srgbClr val="2969B0"/>
                    </a:solidFill>
                  </a:tcPr>
                </a:tc>
                <a:tc>
                  <a:txBody>
                    <a:bodyPr/>
                    <a:p>
                      <a:pPr>
                        <a:defRPr sz="1300" b="1">
                          <a:solidFill>
                            <a:srgbClr val="FFFFFF"/>
                          </a:solidFill>
                          <a:latin typeface="Arial"/>
                        </a:defRPr>
                      </a:pPr>
                      <a:r>
                        <a:rPr/>
                        <a:t>Constraint</a:t>
                      </a:r>
                      <a:endParaRPr/>
                    </a:p>
                  </a:txBody>
                  <a:tcPr>
                    <a:solidFill>
                      <a:srgbClr val="2969B0"/>
                    </a:solidFill>
                  </a:tcPr>
                </a:tc>
              </a:tr>
              <a:tr h="457200">
                <a:tc>
                  <a:txBody>
                    <a:bodyPr/>
                    <a:p>
                      <a:pPr>
                        <a:defRPr sz="1150">
                          <a:solidFill>
                            <a:srgbClr val="182B49"/>
                          </a:solidFill>
                          <a:latin typeface="Courier New"/>
                        </a:defRPr>
                      </a:pPr>
                      <a:r>
                        <a:rPr/>
                        <a:t>id</a:t>
                      </a:r>
                      <a:endParaRPr/>
                    </a:p>
                  </a:txBody>
                  <a:tcPr>
                    <a:solidFill>
                      <a:srgbClr val="E1EBF8"/>
                    </a:solidFill>
                  </a:tcPr>
                </a:tc>
                <a:tc>
                  <a:txBody>
                    <a:bodyPr/>
                    <a:p>
                      <a:pPr>
                        <a:defRPr sz="1150">
                          <a:solidFill>
                            <a:srgbClr val="212529"/>
                          </a:solidFill>
                          <a:latin typeface="Arial"/>
                        </a:defRPr>
                      </a:pPr>
                      <a:r>
                        <a:rPr/>
                        <a:t>INTEGER</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Primary Key, Auto Increment</a:t>
                      </a:r>
                      <a:endParaRPr/>
                    </a:p>
                  </a:txBody>
                  <a:tcPr>
                    <a:solidFill>
                      <a:srgbClr val="E1EBF8"/>
                    </a:solidFill>
                  </a:tcPr>
                </a:tc>
              </a:tr>
              <a:tr h="457200">
                <a:tc>
                  <a:txBody>
                    <a:bodyPr/>
                    <a:p>
                      <a:pPr>
                        <a:defRPr sz="1150">
                          <a:solidFill>
                            <a:srgbClr val="182B49"/>
                          </a:solidFill>
                          <a:latin typeface="Courier New"/>
                        </a:defRPr>
                      </a:pPr>
                      <a:r>
                        <a:rPr/>
                        <a:t>patient_id</a:t>
                      </a:r>
                      <a:endParaRPr/>
                    </a:p>
                  </a:txBody>
                  <a:tcPr>
                    <a:solidFill>
                      <a:srgbClr val="F0F5FC"/>
                    </a:solidFill>
                  </a:tcPr>
                </a:tc>
                <a:tc>
                  <a:txBody>
                    <a:bodyPr/>
                    <a:p>
                      <a:pPr>
                        <a:defRPr sz="1150">
                          <a:solidFill>
                            <a:srgbClr val="212529"/>
                          </a:solidFill>
                          <a:latin typeface="Arial"/>
                        </a:defRPr>
                      </a:pPr>
                      <a:r>
                        <a:rPr/>
                        <a:t>INTEGER</a:t>
                      </a:r>
                      <a:endParaRPr/>
                    </a:p>
                  </a:txBody>
                  <a:tcPr>
                    <a:solidFill>
                      <a:srgbClr val="F0F5FC"/>
                    </a:solidFill>
                  </a:tcPr>
                </a:tc>
                <a:tc>
                  <a:txBody>
                    <a:bodyPr/>
                    <a:p>
                      <a:pPr>
                        <a:defRPr sz="1150">
                          <a:solidFill>
                            <a:srgbClr val="212529"/>
                          </a:solidFill>
                          <a:latin typeface="Arial"/>
                        </a:defRPr>
                      </a:pPr>
                      <a:r>
                        <a:rPr/>
                        <a:t>-</a:t>
                      </a:r>
                      <a:endParaRPr/>
                    </a:p>
                  </a:txBody>
                  <a:tcPr>
                    <a:solidFill>
                      <a:srgbClr val="F0F5FC"/>
                    </a:solidFill>
                  </a:tcPr>
                </a:tc>
                <a:tc>
                  <a:txBody>
                    <a:bodyPr/>
                    <a:p>
                      <a:pPr>
                        <a:defRPr sz="1150">
                          <a:solidFill>
                            <a:srgbClr val="212529"/>
                          </a:solidFill>
                          <a:latin typeface="Arial"/>
                        </a:defRPr>
                      </a:pPr>
                      <a:r>
                        <a:rPr/>
                        <a:t>Foreign Key → tbl_users.id</a:t>
                      </a:r>
                      <a:endParaRPr/>
                    </a:p>
                  </a:txBody>
                  <a:tcPr>
                    <a:solidFill>
                      <a:srgbClr val="F0F5FC"/>
                    </a:solidFill>
                  </a:tcPr>
                </a:tc>
              </a:tr>
              <a:tr h="457200">
                <a:tc>
                  <a:txBody>
                    <a:bodyPr/>
                    <a:p>
                      <a:pPr>
                        <a:defRPr sz="1150">
                          <a:solidFill>
                            <a:srgbClr val="182B49"/>
                          </a:solidFill>
                          <a:latin typeface="Courier New"/>
                        </a:defRPr>
                      </a:pPr>
                      <a:r>
                        <a:rPr/>
                        <a:t>doctor_id</a:t>
                      </a:r>
                      <a:endParaRPr/>
                    </a:p>
                  </a:txBody>
                  <a:tcPr>
                    <a:solidFill>
                      <a:srgbClr val="E1EBF8"/>
                    </a:solidFill>
                  </a:tcPr>
                </a:tc>
                <a:tc>
                  <a:txBody>
                    <a:bodyPr/>
                    <a:p>
                      <a:pPr>
                        <a:defRPr sz="1150">
                          <a:solidFill>
                            <a:srgbClr val="212529"/>
                          </a:solidFill>
                          <a:latin typeface="Arial"/>
                        </a:defRPr>
                      </a:pPr>
                      <a:r>
                        <a:rPr/>
                        <a:t>INTEGER</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Foreign Key → tbl_users.id</a:t>
                      </a:r>
                      <a:endParaRPr/>
                    </a:p>
                  </a:txBody>
                  <a:tcPr>
                    <a:solidFill>
                      <a:srgbClr val="E1EBF8"/>
                    </a:solidFill>
                  </a:tcPr>
                </a:tc>
              </a:tr>
              <a:tr h="457200">
                <a:tc>
                  <a:txBody>
                    <a:bodyPr/>
                    <a:p>
                      <a:pPr>
                        <a:defRPr sz="1150">
                          <a:solidFill>
                            <a:srgbClr val="182B49"/>
                          </a:solidFill>
                          <a:latin typeface="Courier New"/>
                        </a:defRPr>
                      </a:pPr>
                      <a:r>
                        <a:rPr/>
                        <a:t>procedure_id</a:t>
                      </a:r>
                      <a:endParaRPr/>
                    </a:p>
                  </a:txBody>
                  <a:tcPr>
                    <a:solidFill>
                      <a:srgbClr val="F0F5FC"/>
                    </a:solidFill>
                  </a:tcPr>
                </a:tc>
                <a:tc>
                  <a:txBody>
                    <a:bodyPr/>
                    <a:p>
                      <a:pPr>
                        <a:defRPr sz="1150">
                          <a:solidFill>
                            <a:srgbClr val="212529"/>
                          </a:solidFill>
                          <a:latin typeface="Arial"/>
                        </a:defRPr>
                      </a:pPr>
                      <a:r>
                        <a:rPr/>
                        <a:t>INTEGER</a:t>
                      </a:r>
                      <a:endParaRPr/>
                    </a:p>
                  </a:txBody>
                  <a:tcPr>
                    <a:solidFill>
                      <a:srgbClr val="F0F5FC"/>
                    </a:solidFill>
                  </a:tcPr>
                </a:tc>
                <a:tc>
                  <a:txBody>
                    <a:bodyPr/>
                    <a:p>
                      <a:pPr>
                        <a:defRPr sz="1150">
                          <a:solidFill>
                            <a:srgbClr val="212529"/>
                          </a:solidFill>
                          <a:latin typeface="Arial"/>
                        </a:defRPr>
                      </a:pPr>
                      <a:r>
                        <a:rPr/>
                        <a:t>-</a:t>
                      </a:r>
                      <a:endParaRPr/>
                    </a:p>
                  </a:txBody>
                  <a:tcPr>
                    <a:solidFill>
                      <a:srgbClr val="F0F5FC"/>
                    </a:solidFill>
                  </a:tcPr>
                </a:tc>
                <a:tc>
                  <a:txBody>
                    <a:bodyPr/>
                    <a:p>
                      <a:pPr>
                        <a:defRPr sz="1150">
                          <a:solidFill>
                            <a:srgbClr val="212529"/>
                          </a:solidFill>
                          <a:latin typeface="Arial"/>
                        </a:defRPr>
                      </a:pPr>
                      <a:r>
                        <a:rPr/>
                        <a:t>Foreign Key → tbl_procedures.id</a:t>
                      </a:r>
                      <a:endParaRPr/>
                    </a:p>
                  </a:txBody>
                  <a:tcPr>
                    <a:solidFill>
                      <a:srgbClr val="F0F5FC"/>
                    </a:solidFill>
                  </a:tcPr>
                </a:tc>
              </a:tr>
              <a:tr h="457200">
                <a:tc>
                  <a:txBody>
                    <a:bodyPr/>
                    <a:p>
                      <a:pPr>
                        <a:defRPr sz="1150">
                          <a:solidFill>
                            <a:srgbClr val="182B49"/>
                          </a:solidFill>
                          <a:latin typeface="Courier New"/>
                        </a:defRPr>
                      </a:pPr>
                      <a:r>
                        <a:rPr/>
                        <a:t>scheduled_at</a:t>
                      </a:r>
                      <a:endParaRPr/>
                    </a:p>
                  </a:txBody>
                  <a:tcPr>
                    <a:solidFill>
                      <a:srgbClr val="E1EBF8"/>
                    </a:solidFill>
                  </a:tcPr>
                </a:tc>
                <a:tc>
                  <a:txBody>
                    <a:bodyPr/>
                    <a:p>
                      <a:pPr>
                        <a:defRPr sz="1150">
                          <a:solidFill>
                            <a:srgbClr val="212529"/>
                          </a:solidFill>
                          <a:latin typeface="Arial"/>
                        </a:defRPr>
                      </a:pPr>
                      <a:r>
                        <a:rPr/>
                        <a:t>DATETIME</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Not Null</a:t>
                      </a:r>
                      <a:endParaRPr/>
                    </a:p>
                  </a:txBody>
                  <a:tcPr>
                    <a:solidFill>
                      <a:srgbClr val="E1EBF8"/>
                    </a:solidFill>
                  </a:tcPr>
                </a:tc>
              </a:tr>
              <a:tr h="457200">
                <a:tc>
                  <a:txBody>
                    <a:bodyPr/>
                    <a:p>
                      <a:pPr>
                        <a:defRPr sz="1150">
                          <a:solidFill>
                            <a:srgbClr val="182B49"/>
                          </a:solidFill>
                          <a:latin typeface="Courier New"/>
                        </a:defRPr>
                      </a:pPr>
                      <a:r>
                        <a:rPr/>
                        <a:t>location</a:t>
                      </a:r>
                      <a:endParaRPr/>
                    </a:p>
                  </a:txBody>
                  <a:tcPr>
                    <a:solidFill>
                      <a:srgbClr val="F0F5FC"/>
                    </a:solidFill>
                  </a:tcPr>
                </a:tc>
                <a:tc>
                  <a:txBody>
                    <a:bodyPr/>
                    <a:p>
                      <a:pPr>
                        <a:defRPr sz="1150">
                          <a:solidFill>
                            <a:srgbClr val="212529"/>
                          </a:solidFill>
                          <a:latin typeface="Arial"/>
                        </a:defRPr>
                      </a:pPr>
                      <a:r>
                        <a:rPr/>
                        <a:t>VARCHAR</a:t>
                      </a:r>
                      <a:endParaRPr/>
                    </a:p>
                  </a:txBody>
                  <a:tcPr>
                    <a:solidFill>
                      <a:srgbClr val="F0F5FC"/>
                    </a:solidFill>
                  </a:tcPr>
                </a:tc>
                <a:tc>
                  <a:txBody>
                    <a:bodyPr/>
                    <a:p>
                      <a:pPr>
                        <a:defRPr sz="1150">
                          <a:solidFill>
                            <a:srgbClr val="212529"/>
                          </a:solidFill>
                          <a:latin typeface="Arial"/>
                        </a:defRPr>
                      </a:pPr>
                      <a:r>
                        <a:rPr/>
                        <a:t>100</a:t>
                      </a:r>
                      <a:endParaRPr/>
                    </a:p>
                  </a:txBody>
                  <a:tcPr>
                    <a:solidFill>
                      <a:srgbClr val="F0F5FC"/>
                    </a:solidFill>
                  </a:tcPr>
                </a:tc>
                <a:tc>
                  <a:txBody>
                    <a:bodyPr/>
                    <a:p>
                      <a:pPr>
                        <a:defRPr sz="1150">
                          <a:solidFill>
                            <a:srgbClr val="212529"/>
                          </a:solidFill>
                          <a:latin typeface="Arial"/>
                        </a:defRPr>
                      </a:pPr>
                      <a:r>
                        <a:rPr/>
                        <a:t>Not Null</a:t>
                      </a:r>
                      <a:endParaRPr/>
                    </a:p>
                  </a:txBody>
                  <a:tcPr>
                    <a:solidFill>
                      <a:srgbClr val="F0F5FC"/>
                    </a:solidFill>
                  </a:tcPr>
                </a:tc>
              </a:tr>
              <a:tr h="457200">
                <a:tc>
                  <a:txBody>
                    <a:bodyPr/>
                    <a:p>
                      <a:pPr>
                        <a:defRPr sz="1150">
                          <a:solidFill>
                            <a:srgbClr val="182B49"/>
                          </a:solidFill>
                          <a:latin typeface="Courier New"/>
                        </a:defRPr>
                      </a:pPr>
                      <a:r>
                        <a:rPr/>
                        <a:t>status</a:t>
                      </a:r>
                      <a:endParaRPr/>
                    </a:p>
                  </a:txBody>
                  <a:tcPr>
                    <a:solidFill>
                      <a:srgbClr val="E1EBF8"/>
                    </a:solidFill>
                  </a:tcPr>
                </a:tc>
                <a:tc>
                  <a:txBody>
                    <a:bodyPr/>
                    <a:p>
                      <a:pPr>
                        <a:defRPr sz="1150">
                          <a:solidFill>
                            <a:srgbClr val="212529"/>
                          </a:solidFill>
                          <a:latin typeface="Arial"/>
                        </a:defRPr>
                      </a:pPr>
                      <a:r>
                        <a:rPr/>
                        <a:t>VARCHAR</a:t>
                      </a:r>
                      <a:endParaRPr/>
                    </a:p>
                  </a:txBody>
                  <a:tcPr>
                    <a:solidFill>
                      <a:srgbClr val="E1EBF8"/>
                    </a:solidFill>
                  </a:tcPr>
                </a:tc>
                <a:tc>
                  <a:txBody>
                    <a:bodyPr/>
                    <a:p>
                      <a:pPr>
                        <a:defRPr sz="1150">
                          <a:solidFill>
                            <a:srgbClr val="212529"/>
                          </a:solidFill>
                          <a:latin typeface="Arial"/>
                        </a:defRPr>
                      </a:pPr>
                      <a:r>
                        <a:rPr/>
                        <a:t>30</a:t>
                      </a:r>
                      <a:endParaRPr/>
                    </a:p>
                  </a:txBody>
                  <a:tcPr>
                    <a:solidFill>
                      <a:srgbClr val="E1EBF8"/>
                    </a:solidFill>
                  </a:tcPr>
                </a:tc>
                <a:tc>
                  <a:txBody>
                    <a:bodyPr/>
                    <a:p>
                      <a:pPr>
                        <a:defRPr sz="1150">
                          <a:solidFill>
                            <a:srgbClr val="212529"/>
                          </a:solidFill>
                          <a:latin typeface="Arial"/>
                        </a:defRPr>
                      </a:pPr>
                      <a:r>
                        <a:rPr/>
                        <a:t>Default Scheduled</a:t>
                      </a:r>
                      <a:endParaRPr/>
                    </a:p>
                  </a:txBody>
                  <a:tcPr>
                    <a:solidFill>
                      <a:srgbClr val="E1EBF8"/>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6989184"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MediPrep – Table Designs: tbl_checklist_items</a:t>
            </a:r>
            <a:endParaRPr/>
          </a:p>
        </p:txBody>
      </p:sp>
      <p:graphicFrame>
        <p:nvGraphicFramePr>
          <p:cNvPr id="1026260788" name="Table 2"/>
          <p:cNvGraphicFramePr>
            <a:graphicFrameLocks xmlns:a="http://schemas.openxmlformats.org/drawingml/2006/main" noGrp="1"/>
          </p:cNvGraphicFramePr>
          <p:nvPr/>
        </p:nvGraphicFramePr>
        <p:xfrm rot="0">
          <a:off x="685800" y="1371600"/>
          <a:ext cx="10817352" cy="3200400"/>
        </p:xfrm>
        <a:graphic>
          <a:graphicData uri="http://schemas.openxmlformats.org/drawingml/2006/table">
            <a:tbl>
              <a:tblPr firstRow="1" firstCol="0" lastRow="0" lastCol="0" bandRow="1" bandCol="0">
                <a:tableStyleId>{5C22544A-7EE6-4342-B048-85BDC9FD1C3A}</a:tableStyleId>
              </a:tblPr>
              <a:tblGrid>
                <a:gridCol w="2926080"/>
                <a:gridCol w="2011680"/>
                <a:gridCol w="1645920"/>
                <a:gridCol w="4233672"/>
              </a:tblGrid>
              <a:tr h="457200">
                <a:tc>
                  <a:txBody>
                    <a:bodyPr/>
                    <a:p>
                      <a:pPr>
                        <a:defRPr sz="1300" b="1">
                          <a:solidFill>
                            <a:srgbClr val="FFFFFF"/>
                          </a:solidFill>
                          <a:latin typeface="Arial"/>
                        </a:defRPr>
                      </a:pPr>
                      <a:r>
                        <a:rPr/>
                        <a:t>Column Name</a:t>
                      </a:r>
                      <a:endParaRPr/>
                    </a:p>
                  </a:txBody>
                  <a:tcPr>
                    <a:solidFill>
                      <a:srgbClr val="2969B0"/>
                    </a:solidFill>
                  </a:tcPr>
                </a:tc>
                <a:tc>
                  <a:txBody>
                    <a:bodyPr/>
                    <a:p>
                      <a:pPr>
                        <a:defRPr sz="1300" b="1">
                          <a:solidFill>
                            <a:srgbClr val="FFFFFF"/>
                          </a:solidFill>
                          <a:latin typeface="Arial"/>
                        </a:defRPr>
                      </a:pPr>
                      <a:r>
                        <a:rPr/>
                        <a:t>Data Type</a:t>
                      </a:r>
                      <a:endParaRPr/>
                    </a:p>
                  </a:txBody>
                  <a:tcPr>
                    <a:solidFill>
                      <a:srgbClr val="2969B0"/>
                    </a:solidFill>
                  </a:tcPr>
                </a:tc>
                <a:tc>
                  <a:txBody>
                    <a:bodyPr/>
                    <a:p>
                      <a:pPr>
                        <a:defRPr sz="1300" b="1">
                          <a:solidFill>
                            <a:srgbClr val="FFFFFF"/>
                          </a:solidFill>
                          <a:latin typeface="Arial"/>
                        </a:defRPr>
                      </a:pPr>
                      <a:r>
                        <a:rPr/>
                        <a:t>Size</a:t>
                      </a:r>
                      <a:endParaRPr/>
                    </a:p>
                  </a:txBody>
                  <a:tcPr>
                    <a:solidFill>
                      <a:srgbClr val="2969B0"/>
                    </a:solidFill>
                  </a:tcPr>
                </a:tc>
                <a:tc>
                  <a:txBody>
                    <a:bodyPr/>
                    <a:p>
                      <a:pPr>
                        <a:defRPr sz="1300" b="1">
                          <a:solidFill>
                            <a:srgbClr val="FFFFFF"/>
                          </a:solidFill>
                          <a:latin typeface="Arial"/>
                        </a:defRPr>
                      </a:pPr>
                      <a:r>
                        <a:rPr/>
                        <a:t>Constraint</a:t>
                      </a:r>
                      <a:endParaRPr/>
                    </a:p>
                  </a:txBody>
                  <a:tcPr>
                    <a:solidFill>
                      <a:srgbClr val="2969B0"/>
                    </a:solidFill>
                  </a:tcPr>
                </a:tc>
              </a:tr>
              <a:tr h="457200">
                <a:tc>
                  <a:txBody>
                    <a:bodyPr/>
                    <a:p>
                      <a:pPr>
                        <a:defRPr sz="1150">
                          <a:solidFill>
                            <a:srgbClr val="182B49"/>
                          </a:solidFill>
                          <a:latin typeface="Courier New"/>
                        </a:defRPr>
                      </a:pPr>
                      <a:r>
                        <a:rPr/>
                        <a:t>id</a:t>
                      </a:r>
                      <a:endParaRPr/>
                    </a:p>
                  </a:txBody>
                  <a:tcPr>
                    <a:solidFill>
                      <a:srgbClr val="E1EBF8"/>
                    </a:solidFill>
                  </a:tcPr>
                </a:tc>
                <a:tc>
                  <a:txBody>
                    <a:bodyPr/>
                    <a:p>
                      <a:pPr>
                        <a:defRPr sz="1150">
                          <a:solidFill>
                            <a:srgbClr val="212529"/>
                          </a:solidFill>
                          <a:latin typeface="Arial"/>
                        </a:defRPr>
                      </a:pPr>
                      <a:r>
                        <a:rPr/>
                        <a:t>INTEGER</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Primary Key, Auto Increment</a:t>
                      </a:r>
                      <a:endParaRPr/>
                    </a:p>
                  </a:txBody>
                  <a:tcPr>
                    <a:solidFill>
                      <a:srgbClr val="E1EBF8"/>
                    </a:solidFill>
                  </a:tcPr>
                </a:tc>
              </a:tr>
              <a:tr h="457200">
                <a:tc>
                  <a:txBody>
                    <a:bodyPr/>
                    <a:p>
                      <a:pPr>
                        <a:defRPr sz="1150">
                          <a:solidFill>
                            <a:srgbClr val="182B49"/>
                          </a:solidFill>
                          <a:latin typeface="Courier New"/>
                        </a:defRPr>
                      </a:pPr>
                      <a:r>
                        <a:rPr/>
                        <a:t>scheduled_procedure_id</a:t>
                      </a:r>
                      <a:endParaRPr/>
                    </a:p>
                  </a:txBody>
                  <a:tcPr>
                    <a:solidFill>
                      <a:srgbClr val="F0F5FC"/>
                    </a:solidFill>
                  </a:tcPr>
                </a:tc>
                <a:tc>
                  <a:txBody>
                    <a:bodyPr/>
                    <a:p>
                      <a:pPr>
                        <a:defRPr sz="1150">
                          <a:solidFill>
                            <a:srgbClr val="212529"/>
                          </a:solidFill>
                          <a:latin typeface="Arial"/>
                        </a:defRPr>
                      </a:pPr>
                      <a:r>
                        <a:rPr/>
                        <a:t>INTEGER</a:t>
                      </a:r>
                      <a:endParaRPr/>
                    </a:p>
                  </a:txBody>
                  <a:tcPr>
                    <a:solidFill>
                      <a:srgbClr val="F0F5FC"/>
                    </a:solidFill>
                  </a:tcPr>
                </a:tc>
                <a:tc>
                  <a:txBody>
                    <a:bodyPr/>
                    <a:p>
                      <a:pPr>
                        <a:defRPr sz="1150">
                          <a:solidFill>
                            <a:srgbClr val="212529"/>
                          </a:solidFill>
                          <a:latin typeface="Arial"/>
                        </a:defRPr>
                      </a:pPr>
                      <a:r>
                        <a:rPr/>
                        <a:t>-</a:t>
                      </a:r>
                      <a:endParaRPr/>
                    </a:p>
                  </a:txBody>
                  <a:tcPr>
                    <a:solidFill>
                      <a:srgbClr val="F0F5FC"/>
                    </a:solidFill>
                  </a:tcPr>
                </a:tc>
                <a:tc>
                  <a:txBody>
                    <a:bodyPr/>
                    <a:p>
                      <a:pPr>
                        <a:defRPr sz="1150">
                          <a:solidFill>
                            <a:srgbClr val="212529"/>
                          </a:solidFill>
                          <a:latin typeface="Arial"/>
                        </a:defRPr>
                      </a:pPr>
                      <a:r>
                        <a:rPr/>
                        <a:t>Foreign Key → tbl_scheduled_procedures.id</a:t>
                      </a:r>
                      <a:endParaRPr/>
                    </a:p>
                  </a:txBody>
                  <a:tcPr>
                    <a:solidFill>
                      <a:srgbClr val="F0F5FC"/>
                    </a:solidFill>
                  </a:tcPr>
                </a:tc>
              </a:tr>
              <a:tr h="457200">
                <a:tc>
                  <a:txBody>
                    <a:bodyPr/>
                    <a:p>
                      <a:pPr>
                        <a:defRPr sz="1150">
                          <a:solidFill>
                            <a:srgbClr val="182B49"/>
                          </a:solidFill>
                          <a:latin typeface="Courier New"/>
                        </a:defRPr>
                      </a:pPr>
                      <a:r>
                        <a:rPr/>
                        <a:t>task_name</a:t>
                      </a:r>
                      <a:endParaRPr/>
                    </a:p>
                  </a:txBody>
                  <a:tcPr>
                    <a:solidFill>
                      <a:srgbClr val="E1EBF8"/>
                    </a:solidFill>
                  </a:tcPr>
                </a:tc>
                <a:tc>
                  <a:txBody>
                    <a:bodyPr/>
                    <a:p>
                      <a:pPr>
                        <a:defRPr sz="1150">
                          <a:solidFill>
                            <a:srgbClr val="212529"/>
                          </a:solidFill>
                          <a:latin typeface="Arial"/>
                        </a:defRPr>
                      </a:pPr>
                      <a:r>
                        <a:rPr/>
                        <a:t>VARCHAR</a:t>
                      </a:r>
                      <a:endParaRPr/>
                    </a:p>
                  </a:txBody>
                  <a:tcPr>
                    <a:solidFill>
                      <a:srgbClr val="E1EBF8"/>
                    </a:solidFill>
                  </a:tcPr>
                </a:tc>
                <a:tc>
                  <a:txBody>
                    <a:bodyPr/>
                    <a:p>
                      <a:pPr>
                        <a:defRPr sz="1150">
                          <a:solidFill>
                            <a:srgbClr val="212529"/>
                          </a:solidFill>
                          <a:latin typeface="Arial"/>
                        </a:defRPr>
                      </a:pPr>
                      <a:r>
                        <a:rPr/>
                        <a:t>200</a:t>
                      </a:r>
                      <a:endParaRPr/>
                    </a:p>
                  </a:txBody>
                  <a:tcPr>
                    <a:solidFill>
                      <a:srgbClr val="E1EBF8"/>
                    </a:solidFill>
                  </a:tcPr>
                </a:tc>
                <a:tc>
                  <a:txBody>
                    <a:bodyPr/>
                    <a:p>
                      <a:pPr>
                        <a:defRPr sz="1150">
                          <a:solidFill>
                            <a:srgbClr val="212529"/>
                          </a:solidFill>
                          <a:latin typeface="Arial"/>
                        </a:defRPr>
                      </a:pPr>
                      <a:r>
                        <a:rPr/>
                        <a:t>Not Null</a:t>
                      </a:r>
                      <a:endParaRPr/>
                    </a:p>
                  </a:txBody>
                  <a:tcPr>
                    <a:solidFill>
                      <a:srgbClr val="E1EBF8"/>
                    </a:solidFill>
                  </a:tcPr>
                </a:tc>
              </a:tr>
              <a:tr h="457200">
                <a:tc>
                  <a:txBody>
                    <a:bodyPr/>
                    <a:p>
                      <a:pPr>
                        <a:defRPr sz="1150">
                          <a:solidFill>
                            <a:srgbClr val="182B49"/>
                          </a:solidFill>
                          <a:latin typeface="Courier New"/>
                        </a:defRPr>
                      </a:pPr>
                      <a:r>
                        <a:rPr/>
                        <a:t>task_type</a:t>
                      </a:r>
                      <a:endParaRPr/>
                    </a:p>
                  </a:txBody>
                  <a:tcPr>
                    <a:solidFill>
                      <a:srgbClr val="F0F5FC"/>
                    </a:solidFill>
                  </a:tcPr>
                </a:tc>
                <a:tc>
                  <a:txBody>
                    <a:bodyPr/>
                    <a:p>
                      <a:pPr>
                        <a:defRPr sz="1150">
                          <a:solidFill>
                            <a:srgbClr val="212529"/>
                          </a:solidFill>
                          <a:latin typeface="Arial"/>
                        </a:defRPr>
                      </a:pPr>
                      <a:r>
                        <a:rPr/>
                        <a:t>VARCHAR</a:t>
                      </a:r>
                      <a:endParaRPr/>
                    </a:p>
                  </a:txBody>
                  <a:tcPr>
                    <a:solidFill>
                      <a:srgbClr val="F0F5FC"/>
                    </a:solidFill>
                  </a:tcPr>
                </a:tc>
                <a:tc>
                  <a:txBody>
                    <a:bodyPr/>
                    <a:p>
                      <a:pPr>
                        <a:defRPr sz="1150">
                          <a:solidFill>
                            <a:srgbClr val="212529"/>
                          </a:solidFill>
                          <a:latin typeface="Arial"/>
                        </a:defRPr>
                      </a:pPr>
                      <a:r>
                        <a:rPr/>
                        <a:t>50</a:t>
                      </a:r>
                      <a:endParaRPr/>
                    </a:p>
                  </a:txBody>
                  <a:tcPr>
                    <a:solidFill>
                      <a:srgbClr val="F0F5FC"/>
                    </a:solidFill>
                  </a:tcPr>
                </a:tc>
                <a:tc>
                  <a:txBody>
                    <a:bodyPr/>
                    <a:p>
                      <a:pPr>
                        <a:defRPr sz="1150">
                          <a:solidFill>
                            <a:srgbClr val="212529"/>
                          </a:solidFill>
                          <a:latin typeface="Arial"/>
                        </a:defRPr>
                      </a:pPr>
                      <a:r>
                        <a:rPr/>
                        <a:t>Not Null (text_check / file_upload)</a:t>
                      </a:r>
                      <a:endParaRPr/>
                    </a:p>
                  </a:txBody>
                  <a:tcPr>
                    <a:solidFill>
                      <a:srgbClr val="F0F5FC"/>
                    </a:solidFill>
                  </a:tcPr>
                </a:tc>
              </a:tr>
              <a:tr h="457200">
                <a:tc>
                  <a:txBody>
                    <a:bodyPr/>
                    <a:p>
                      <a:pPr>
                        <a:defRPr sz="1150">
                          <a:solidFill>
                            <a:srgbClr val="182B49"/>
                          </a:solidFill>
                          <a:latin typeface="Courier New"/>
                        </a:defRPr>
                      </a:pPr>
                      <a:r>
                        <a:rPr/>
                        <a:t>status</a:t>
                      </a:r>
                      <a:endParaRPr/>
                    </a:p>
                  </a:txBody>
                  <a:tcPr>
                    <a:solidFill>
                      <a:srgbClr val="E1EBF8"/>
                    </a:solidFill>
                  </a:tcPr>
                </a:tc>
                <a:tc>
                  <a:txBody>
                    <a:bodyPr/>
                    <a:p>
                      <a:pPr>
                        <a:defRPr sz="1150">
                          <a:solidFill>
                            <a:srgbClr val="212529"/>
                          </a:solidFill>
                          <a:latin typeface="Arial"/>
                        </a:defRPr>
                      </a:pPr>
                      <a:r>
                        <a:rPr/>
                        <a:t>VARCHAR</a:t>
                      </a:r>
                      <a:endParaRPr/>
                    </a:p>
                  </a:txBody>
                  <a:tcPr>
                    <a:solidFill>
                      <a:srgbClr val="E1EBF8"/>
                    </a:solidFill>
                  </a:tcPr>
                </a:tc>
                <a:tc>
                  <a:txBody>
                    <a:bodyPr/>
                    <a:p>
                      <a:pPr>
                        <a:defRPr sz="1150">
                          <a:solidFill>
                            <a:srgbClr val="212529"/>
                          </a:solidFill>
                          <a:latin typeface="Arial"/>
                        </a:defRPr>
                      </a:pPr>
                      <a:r>
                        <a:rPr/>
                        <a:t>30</a:t>
                      </a:r>
                      <a:endParaRPr/>
                    </a:p>
                  </a:txBody>
                  <a:tcPr>
                    <a:solidFill>
                      <a:srgbClr val="E1EBF8"/>
                    </a:solidFill>
                  </a:tcPr>
                </a:tc>
                <a:tc>
                  <a:txBody>
                    <a:bodyPr/>
                    <a:p>
                      <a:pPr>
                        <a:defRPr sz="1150">
                          <a:solidFill>
                            <a:srgbClr val="212529"/>
                          </a:solidFill>
                          <a:latin typeface="Arial"/>
                        </a:defRPr>
                      </a:pPr>
                      <a:r>
                        <a:rPr/>
                        <a:t>Default pending</a:t>
                      </a:r>
                      <a:endParaRPr/>
                    </a:p>
                  </a:txBody>
                  <a:tcPr>
                    <a:solidFill>
                      <a:srgbClr val="E1EBF8"/>
                    </a:solidFill>
                  </a:tcPr>
                </a:tc>
              </a:tr>
              <a:tr h="457200">
                <a:tc>
                  <a:txBody>
                    <a:bodyPr/>
                    <a:p>
                      <a:pPr>
                        <a:defRPr sz="1150">
                          <a:solidFill>
                            <a:srgbClr val="182B49"/>
                          </a:solidFill>
                          <a:latin typeface="Courier New"/>
                        </a:defRPr>
                      </a:pPr>
                      <a:r>
                        <a:rPr/>
                        <a:t>is_critical</a:t>
                      </a:r>
                      <a:endParaRPr/>
                    </a:p>
                  </a:txBody>
                  <a:tcPr>
                    <a:solidFill>
                      <a:srgbClr val="F0F5FC"/>
                    </a:solidFill>
                  </a:tcPr>
                </a:tc>
                <a:tc>
                  <a:txBody>
                    <a:bodyPr/>
                    <a:p>
                      <a:pPr>
                        <a:defRPr sz="1150">
                          <a:solidFill>
                            <a:srgbClr val="212529"/>
                          </a:solidFill>
                          <a:latin typeface="Arial"/>
                        </a:defRPr>
                      </a:pPr>
                      <a:r>
                        <a:rPr/>
                        <a:t>BOOLEAN</a:t>
                      </a:r>
                      <a:endParaRPr/>
                    </a:p>
                  </a:txBody>
                  <a:tcPr>
                    <a:solidFill>
                      <a:srgbClr val="F0F5FC"/>
                    </a:solidFill>
                  </a:tcPr>
                </a:tc>
                <a:tc>
                  <a:txBody>
                    <a:bodyPr/>
                    <a:p>
                      <a:pPr>
                        <a:defRPr sz="1150">
                          <a:solidFill>
                            <a:srgbClr val="212529"/>
                          </a:solidFill>
                          <a:latin typeface="Arial"/>
                        </a:defRPr>
                      </a:pPr>
                      <a:r>
                        <a:rPr/>
                        <a:t>-</a:t>
                      </a:r>
                      <a:endParaRPr/>
                    </a:p>
                  </a:txBody>
                  <a:tcPr>
                    <a:solidFill>
                      <a:srgbClr val="F0F5FC"/>
                    </a:solidFill>
                  </a:tcPr>
                </a:tc>
                <a:tc>
                  <a:txBody>
                    <a:bodyPr/>
                    <a:p>
                      <a:pPr>
                        <a:defRPr sz="1150">
                          <a:solidFill>
                            <a:srgbClr val="212529"/>
                          </a:solidFill>
                          <a:latin typeface="Arial"/>
                        </a:defRPr>
                      </a:pPr>
                      <a:r>
                        <a:rPr/>
                        <a:t>Default True</a:t>
                      </a:r>
                      <a:endParaRPr/>
                    </a:p>
                  </a:txBody>
                  <a:tcPr>
                    <a:solidFill>
                      <a:srgbClr val="F0F5FC"/>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51000226"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MediPrep – Table Designs: tbl_uploaded_reports</a:t>
            </a:r>
            <a:endParaRPr/>
          </a:p>
        </p:txBody>
      </p:sp>
      <p:graphicFrame>
        <p:nvGraphicFramePr>
          <p:cNvPr id="2004834931" name="Table 2"/>
          <p:cNvGraphicFramePr>
            <a:graphicFrameLocks xmlns:a="http://schemas.openxmlformats.org/drawingml/2006/main" noGrp="1"/>
          </p:cNvGraphicFramePr>
          <p:nvPr/>
        </p:nvGraphicFramePr>
        <p:xfrm rot="0">
          <a:off x="685800" y="1371600"/>
          <a:ext cx="10817352" cy="3657600"/>
        </p:xfrm>
        <a:graphic>
          <a:graphicData uri="http://schemas.openxmlformats.org/drawingml/2006/table">
            <a:tbl>
              <a:tblPr firstRow="1" firstCol="0" lastRow="0" lastCol="0" bandRow="1" bandCol="0">
                <a:tableStyleId>{5C22544A-7EE6-4342-B048-85BDC9FD1C3A}</a:tableStyleId>
              </a:tblPr>
              <a:tblGrid>
                <a:gridCol w="2926080"/>
                <a:gridCol w="2011680"/>
                <a:gridCol w="1645920"/>
                <a:gridCol w="4233672"/>
              </a:tblGrid>
              <a:tr h="457200">
                <a:tc>
                  <a:txBody>
                    <a:bodyPr/>
                    <a:p>
                      <a:pPr>
                        <a:defRPr sz="1300" b="1">
                          <a:solidFill>
                            <a:srgbClr val="FFFFFF"/>
                          </a:solidFill>
                          <a:latin typeface="Arial"/>
                        </a:defRPr>
                      </a:pPr>
                      <a:r>
                        <a:rPr/>
                        <a:t>Column Name</a:t>
                      </a:r>
                      <a:endParaRPr/>
                    </a:p>
                  </a:txBody>
                  <a:tcPr>
                    <a:solidFill>
                      <a:srgbClr val="2969B0"/>
                    </a:solidFill>
                  </a:tcPr>
                </a:tc>
                <a:tc>
                  <a:txBody>
                    <a:bodyPr/>
                    <a:p>
                      <a:pPr>
                        <a:defRPr sz="1300" b="1">
                          <a:solidFill>
                            <a:srgbClr val="FFFFFF"/>
                          </a:solidFill>
                          <a:latin typeface="Arial"/>
                        </a:defRPr>
                      </a:pPr>
                      <a:r>
                        <a:rPr/>
                        <a:t>Data Type</a:t>
                      </a:r>
                      <a:endParaRPr/>
                    </a:p>
                  </a:txBody>
                  <a:tcPr>
                    <a:solidFill>
                      <a:srgbClr val="2969B0"/>
                    </a:solidFill>
                  </a:tcPr>
                </a:tc>
                <a:tc>
                  <a:txBody>
                    <a:bodyPr/>
                    <a:p>
                      <a:pPr>
                        <a:defRPr sz="1300" b="1">
                          <a:solidFill>
                            <a:srgbClr val="FFFFFF"/>
                          </a:solidFill>
                          <a:latin typeface="Arial"/>
                        </a:defRPr>
                      </a:pPr>
                      <a:r>
                        <a:rPr/>
                        <a:t>Size</a:t>
                      </a:r>
                      <a:endParaRPr/>
                    </a:p>
                  </a:txBody>
                  <a:tcPr>
                    <a:solidFill>
                      <a:srgbClr val="2969B0"/>
                    </a:solidFill>
                  </a:tcPr>
                </a:tc>
                <a:tc>
                  <a:txBody>
                    <a:bodyPr/>
                    <a:p>
                      <a:pPr>
                        <a:defRPr sz="1300" b="1">
                          <a:solidFill>
                            <a:srgbClr val="FFFFFF"/>
                          </a:solidFill>
                          <a:latin typeface="Arial"/>
                        </a:defRPr>
                      </a:pPr>
                      <a:r>
                        <a:rPr/>
                        <a:t>Constraint</a:t>
                      </a:r>
                      <a:endParaRPr/>
                    </a:p>
                  </a:txBody>
                  <a:tcPr>
                    <a:solidFill>
                      <a:srgbClr val="2969B0"/>
                    </a:solidFill>
                  </a:tcPr>
                </a:tc>
              </a:tr>
              <a:tr h="457200">
                <a:tc>
                  <a:txBody>
                    <a:bodyPr/>
                    <a:p>
                      <a:pPr>
                        <a:defRPr sz="1150">
                          <a:solidFill>
                            <a:srgbClr val="182B49"/>
                          </a:solidFill>
                          <a:latin typeface="Courier New"/>
                        </a:defRPr>
                      </a:pPr>
                      <a:r>
                        <a:rPr/>
                        <a:t>id</a:t>
                      </a:r>
                      <a:endParaRPr/>
                    </a:p>
                  </a:txBody>
                  <a:tcPr>
                    <a:solidFill>
                      <a:srgbClr val="E1EBF8"/>
                    </a:solidFill>
                  </a:tcPr>
                </a:tc>
                <a:tc>
                  <a:txBody>
                    <a:bodyPr/>
                    <a:p>
                      <a:pPr>
                        <a:defRPr sz="1150">
                          <a:solidFill>
                            <a:srgbClr val="212529"/>
                          </a:solidFill>
                          <a:latin typeface="Arial"/>
                        </a:defRPr>
                      </a:pPr>
                      <a:r>
                        <a:rPr/>
                        <a:t>INTEGER</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Primary Key, Auto Increment</a:t>
                      </a:r>
                      <a:endParaRPr/>
                    </a:p>
                  </a:txBody>
                  <a:tcPr>
                    <a:solidFill>
                      <a:srgbClr val="E1EBF8"/>
                    </a:solidFill>
                  </a:tcPr>
                </a:tc>
              </a:tr>
              <a:tr h="457200">
                <a:tc>
                  <a:txBody>
                    <a:bodyPr/>
                    <a:p>
                      <a:pPr>
                        <a:defRPr sz="1150">
                          <a:solidFill>
                            <a:srgbClr val="182B49"/>
                          </a:solidFill>
                          <a:latin typeface="Courier New"/>
                        </a:defRPr>
                      </a:pPr>
                      <a:r>
                        <a:rPr/>
                        <a:t>checklist_item_id</a:t>
                      </a:r>
                      <a:endParaRPr/>
                    </a:p>
                  </a:txBody>
                  <a:tcPr>
                    <a:solidFill>
                      <a:srgbClr val="F0F5FC"/>
                    </a:solidFill>
                  </a:tcPr>
                </a:tc>
                <a:tc>
                  <a:txBody>
                    <a:bodyPr/>
                    <a:p>
                      <a:pPr>
                        <a:defRPr sz="1150">
                          <a:solidFill>
                            <a:srgbClr val="212529"/>
                          </a:solidFill>
                          <a:latin typeface="Arial"/>
                        </a:defRPr>
                      </a:pPr>
                      <a:r>
                        <a:rPr/>
                        <a:t>INTEGER</a:t>
                      </a:r>
                      <a:endParaRPr/>
                    </a:p>
                  </a:txBody>
                  <a:tcPr>
                    <a:solidFill>
                      <a:srgbClr val="F0F5FC"/>
                    </a:solidFill>
                  </a:tcPr>
                </a:tc>
                <a:tc>
                  <a:txBody>
                    <a:bodyPr/>
                    <a:p>
                      <a:pPr>
                        <a:defRPr sz="1150">
                          <a:solidFill>
                            <a:srgbClr val="212529"/>
                          </a:solidFill>
                          <a:latin typeface="Arial"/>
                        </a:defRPr>
                      </a:pPr>
                      <a:r>
                        <a:rPr/>
                        <a:t>-</a:t>
                      </a:r>
                      <a:endParaRPr/>
                    </a:p>
                  </a:txBody>
                  <a:tcPr>
                    <a:solidFill>
                      <a:srgbClr val="F0F5FC"/>
                    </a:solidFill>
                  </a:tcPr>
                </a:tc>
                <a:tc>
                  <a:txBody>
                    <a:bodyPr/>
                    <a:p>
                      <a:pPr>
                        <a:defRPr sz="1150">
                          <a:solidFill>
                            <a:srgbClr val="212529"/>
                          </a:solidFill>
                          <a:latin typeface="Arial"/>
                        </a:defRPr>
                      </a:pPr>
                      <a:r>
                        <a:rPr/>
                        <a:t>Foreign Key → tbl_checklist_items.id</a:t>
                      </a:r>
                      <a:endParaRPr/>
                    </a:p>
                  </a:txBody>
                  <a:tcPr>
                    <a:solidFill>
                      <a:srgbClr val="F0F5FC"/>
                    </a:solidFill>
                  </a:tcPr>
                </a:tc>
              </a:tr>
              <a:tr h="457200">
                <a:tc>
                  <a:txBody>
                    <a:bodyPr/>
                    <a:p>
                      <a:pPr>
                        <a:defRPr sz="1150">
                          <a:solidFill>
                            <a:srgbClr val="182B49"/>
                          </a:solidFill>
                          <a:latin typeface="Courier New"/>
                        </a:defRPr>
                      </a:pPr>
                      <a:r>
                        <a:rPr/>
                        <a:t>uploaded_by</a:t>
                      </a:r>
                      <a:endParaRPr/>
                    </a:p>
                  </a:txBody>
                  <a:tcPr>
                    <a:solidFill>
                      <a:srgbClr val="E1EBF8"/>
                    </a:solidFill>
                  </a:tcPr>
                </a:tc>
                <a:tc>
                  <a:txBody>
                    <a:bodyPr/>
                    <a:p>
                      <a:pPr>
                        <a:defRPr sz="1150">
                          <a:solidFill>
                            <a:srgbClr val="212529"/>
                          </a:solidFill>
                          <a:latin typeface="Arial"/>
                        </a:defRPr>
                      </a:pPr>
                      <a:r>
                        <a:rPr/>
                        <a:t>INTEGER</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Foreign Key → tbl_users.id</a:t>
                      </a:r>
                      <a:endParaRPr/>
                    </a:p>
                  </a:txBody>
                  <a:tcPr>
                    <a:solidFill>
                      <a:srgbClr val="E1EBF8"/>
                    </a:solidFill>
                  </a:tcPr>
                </a:tc>
              </a:tr>
              <a:tr h="457200">
                <a:tc>
                  <a:txBody>
                    <a:bodyPr/>
                    <a:p>
                      <a:pPr>
                        <a:defRPr sz="1150">
                          <a:solidFill>
                            <a:srgbClr val="182B49"/>
                          </a:solidFill>
                          <a:latin typeface="Courier New"/>
                        </a:defRPr>
                      </a:pPr>
                      <a:r>
                        <a:rPr/>
                        <a:t>file_name</a:t>
                      </a:r>
                      <a:endParaRPr/>
                    </a:p>
                  </a:txBody>
                  <a:tcPr>
                    <a:solidFill>
                      <a:srgbClr val="F0F5FC"/>
                    </a:solidFill>
                  </a:tcPr>
                </a:tc>
                <a:tc>
                  <a:txBody>
                    <a:bodyPr/>
                    <a:p>
                      <a:pPr>
                        <a:defRPr sz="1150">
                          <a:solidFill>
                            <a:srgbClr val="212529"/>
                          </a:solidFill>
                          <a:latin typeface="Arial"/>
                        </a:defRPr>
                      </a:pPr>
                      <a:r>
                        <a:rPr/>
                        <a:t>VARCHAR</a:t>
                      </a:r>
                      <a:endParaRPr/>
                    </a:p>
                  </a:txBody>
                  <a:tcPr>
                    <a:solidFill>
                      <a:srgbClr val="F0F5FC"/>
                    </a:solidFill>
                  </a:tcPr>
                </a:tc>
                <a:tc>
                  <a:txBody>
                    <a:bodyPr/>
                    <a:p>
                      <a:pPr>
                        <a:defRPr sz="1150">
                          <a:solidFill>
                            <a:srgbClr val="212529"/>
                          </a:solidFill>
                          <a:latin typeface="Arial"/>
                        </a:defRPr>
                      </a:pPr>
                      <a:r>
                        <a:rPr/>
                        <a:t>255</a:t>
                      </a:r>
                      <a:endParaRPr/>
                    </a:p>
                  </a:txBody>
                  <a:tcPr>
                    <a:solidFill>
                      <a:srgbClr val="F0F5FC"/>
                    </a:solidFill>
                  </a:tcPr>
                </a:tc>
                <a:tc>
                  <a:txBody>
                    <a:bodyPr/>
                    <a:p>
                      <a:pPr>
                        <a:defRPr sz="1150">
                          <a:solidFill>
                            <a:srgbClr val="212529"/>
                          </a:solidFill>
                          <a:latin typeface="Arial"/>
                        </a:defRPr>
                      </a:pPr>
                      <a:r>
                        <a:rPr/>
                        <a:t>Not Null</a:t>
                      </a:r>
                      <a:endParaRPr/>
                    </a:p>
                  </a:txBody>
                  <a:tcPr>
                    <a:solidFill>
                      <a:srgbClr val="F0F5FC"/>
                    </a:solidFill>
                  </a:tcPr>
                </a:tc>
              </a:tr>
              <a:tr h="457200">
                <a:tc>
                  <a:txBody>
                    <a:bodyPr/>
                    <a:p>
                      <a:pPr>
                        <a:defRPr sz="1150">
                          <a:solidFill>
                            <a:srgbClr val="182B49"/>
                          </a:solidFill>
                          <a:latin typeface="Courier New"/>
                        </a:defRPr>
                      </a:pPr>
                      <a:r>
                        <a:rPr/>
                        <a:t>file_path</a:t>
                      </a:r>
                      <a:endParaRPr/>
                    </a:p>
                  </a:txBody>
                  <a:tcPr>
                    <a:solidFill>
                      <a:srgbClr val="E1EBF8"/>
                    </a:solidFill>
                  </a:tcPr>
                </a:tc>
                <a:tc>
                  <a:txBody>
                    <a:bodyPr/>
                    <a:p>
                      <a:pPr>
                        <a:defRPr sz="1150">
                          <a:solidFill>
                            <a:srgbClr val="212529"/>
                          </a:solidFill>
                          <a:latin typeface="Arial"/>
                        </a:defRPr>
                      </a:pPr>
                      <a:r>
                        <a:rPr/>
                        <a:t>VARCHAR</a:t>
                      </a:r>
                      <a:endParaRPr/>
                    </a:p>
                  </a:txBody>
                  <a:tcPr>
                    <a:solidFill>
                      <a:srgbClr val="E1EBF8"/>
                    </a:solidFill>
                  </a:tcPr>
                </a:tc>
                <a:tc>
                  <a:txBody>
                    <a:bodyPr/>
                    <a:p>
                      <a:pPr>
                        <a:defRPr sz="1150">
                          <a:solidFill>
                            <a:srgbClr val="212529"/>
                          </a:solidFill>
                          <a:latin typeface="Arial"/>
                        </a:defRPr>
                      </a:pPr>
                      <a:r>
                        <a:rPr/>
                        <a:t>255</a:t>
                      </a:r>
                      <a:endParaRPr/>
                    </a:p>
                  </a:txBody>
                  <a:tcPr>
                    <a:solidFill>
                      <a:srgbClr val="E1EBF8"/>
                    </a:solidFill>
                  </a:tcPr>
                </a:tc>
                <a:tc>
                  <a:txBody>
                    <a:bodyPr/>
                    <a:p>
                      <a:pPr>
                        <a:defRPr sz="1150">
                          <a:solidFill>
                            <a:srgbClr val="212529"/>
                          </a:solidFill>
                          <a:latin typeface="Arial"/>
                        </a:defRPr>
                      </a:pPr>
                      <a:r>
                        <a:rPr/>
                        <a:t>Not Null</a:t>
                      </a:r>
                      <a:endParaRPr/>
                    </a:p>
                  </a:txBody>
                  <a:tcPr>
                    <a:solidFill>
                      <a:srgbClr val="E1EBF8"/>
                    </a:solidFill>
                  </a:tcPr>
                </a:tc>
              </a:tr>
              <a:tr h="457200">
                <a:tc>
                  <a:txBody>
                    <a:bodyPr/>
                    <a:p>
                      <a:pPr>
                        <a:defRPr sz="1150">
                          <a:solidFill>
                            <a:srgbClr val="182B49"/>
                          </a:solidFill>
                          <a:latin typeface="Courier New"/>
                        </a:defRPr>
                      </a:pPr>
                      <a:r>
                        <a:rPr/>
                        <a:t>file_size</a:t>
                      </a:r>
                      <a:endParaRPr/>
                    </a:p>
                  </a:txBody>
                  <a:tcPr>
                    <a:solidFill>
                      <a:srgbClr val="F0F5FC"/>
                    </a:solidFill>
                  </a:tcPr>
                </a:tc>
                <a:tc>
                  <a:txBody>
                    <a:bodyPr/>
                    <a:p>
                      <a:pPr>
                        <a:defRPr sz="1150">
                          <a:solidFill>
                            <a:srgbClr val="212529"/>
                          </a:solidFill>
                          <a:latin typeface="Arial"/>
                        </a:defRPr>
                      </a:pPr>
                      <a:r>
                        <a:rPr/>
                        <a:t>INTEGER</a:t>
                      </a:r>
                      <a:endParaRPr/>
                    </a:p>
                  </a:txBody>
                  <a:tcPr>
                    <a:solidFill>
                      <a:srgbClr val="F0F5FC"/>
                    </a:solidFill>
                  </a:tcPr>
                </a:tc>
                <a:tc>
                  <a:txBody>
                    <a:bodyPr/>
                    <a:p>
                      <a:pPr>
                        <a:defRPr sz="1150">
                          <a:solidFill>
                            <a:srgbClr val="212529"/>
                          </a:solidFill>
                          <a:latin typeface="Arial"/>
                        </a:defRPr>
                      </a:pPr>
                      <a:r>
                        <a:rPr/>
                        <a:t>-</a:t>
                      </a:r>
                      <a:endParaRPr/>
                    </a:p>
                  </a:txBody>
                  <a:tcPr>
                    <a:solidFill>
                      <a:srgbClr val="F0F5FC"/>
                    </a:solidFill>
                  </a:tcPr>
                </a:tc>
                <a:tc>
                  <a:txBody>
                    <a:bodyPr/>
                    <a:p>
                      <a:pPr>
                        <a:defRPr sz="1150">
                          <a:solidFill>
                            <a:srgbClr val="212529"/>
                          </a:solidFill>
                          <a:latin typeface="Arial"/>
                        </a:defRPr>
                      </a:pPr>
                      <a:r>
                        <a:rPr/>
                        <a:t>Bytes</a:t>
                      </a:r>
                      <a:endParaRPr/>
                    </a:p>
                  </a:txBody>
                  <a:tcPr>
                    <a:solidFill>
                      <a:srgbClr val="F0F5FC"/>
                    </a:solidFill>
                  </a:tcPr>
                </a:tc>
              </a:tr>
              <a:tr h="457200">
                <a:tc>
                  <a:txBody>
                    <a:bodyPr/>
                    <a:p>
                      <a:pPr>
                        <a:defRPr sz="1150">
                          <a:solidFill>
                            <a:srgbClr val="182B49"/>
                          </a:solidFill>
                          <a:latin typeface="Courier New"/>
                        </a:defRPr>
                      </a:pPr>
                      <a:r>
                        <a:rPr/>
                        <a:t>uploaded_at</a:t>
                      </a:r>
                      <a:endParaRPr/>
                    </a:p>
                  </a:txBody>
                  <a:tcPr>
                    <a:solidFill>
                      <a:srgbClr val="E1EBF8"/>
                    </a:solidFill>
                  </a:tcPr>
                </a:tc>
                <a:tc>
                  <a:txBody>
                    <a:bodyPr/>
                    <a:p>
                      <a:pPr>
                        <a:defRPr sz="1150">
                          <a:solidFill>
                            <a:srgbClr val="212529"/>
                          </a:solidFill>
                          <a:latin typeface="Arial"/>
                        </a:defRPr>
                      </a:pPr>
                      <a:r>
                        <a:rPr/>
                        <a:t>DATETIME</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Current Timestamp</a:t>
                      </a:r>
                      <a:endParaRPr/>
                    </a:p>
                  </a:txBody>
                  <a:tcPr>
                    <a:solidFill>
                      <a:srgbClr val="E1EBF8"/>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2155955"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MediPrep – Table Designs: tbl_patient_vitals</a:t>
            </a:r>
            <a:endParaRPr/>
          </a:p>
        </p:txBody>
      </p:sp>
      <p:graphicFrame>
        <p:nvGraphicFramePr>
          <p:cNvPr id="1237009584" name="Table 2"/>
          <p:cNvGraphicFramePr>
            <a:graphicFrameLocks xmlns:a="http://schemas.openxmlformats.org/drawingml/2006/main" noGrp="1"/>
          </p:cNvGraphicFramePr>
          <p:nvPr/>
        </p:nvGraphicFramePr>
        <p:xfrm rot="0">
          <a:off x="685800" y="1371600"/>
          <a:ext cx="10817352" cy="4114800"/>
        </p:xfrm>
        <a:graphic>
          <a:graphicData uri="http://schemas.openxmlformats.org/drawingml/2006/table">
            <a:tbl>
              <a:tblPr firstRow="1" firstCol="0" lastRow="0" lastCol="0" bandRow="1" bandCol="0">
                <a:tableStyleId>{5C22544A-7EE6-4342-B048-85BDC9FD1C3A}</a:tableStyleId>
              </a:tblPr>
              <a:tblGrid>
                <a:gridCol w="2926080"/>
                <a:gridCol w="2011680"/>
                <a:gridCol w="1645920"/>
                <a:gridCol w="4233672"/>
              </a:tblGrid>
              <a:tr h="457200">
                <a:tc>
                  <a:txBody>
                    <a:bodyPr/>
                    <a:p>
                      <a:pPr>
                        <a:defRPr sz="1300" b="1">
                          <a:solidFill>
                            <a:srgbClr val="FFFFFF"/>
                          </a:solidFill>
                          <a:latin typeface="Arial"/>
                        </a:defRPr>
                      </a:pPr>
                      <a:r>
                        <a:rPr/>
                        <a:t>Column Name</a:t>
                      </a:r>
                      <a:endParaRPr/>
                    </a:p>
                  </a:txBody>
                  <a:tcPr>
                    <a:solidFill>
                      <a:srgbClr val="2969B0"/>
                    </a:solidFill>
                  </a:tcPr>
                </a:tc>
                <a:tc>
                  <a:txBody>
                    <a:bodyPr/>
                    <a:p>
                      <a:pPr>
                        <a:defRPr sz="1300" b="1">
                          <a:solidFill>
                            <a:srgbClr val="FFFFFF"/>
                          </a:solidFill>
                          <a:latin typeface="Arial"/>
                        </a:defRPr>
                      </a:pPr>
                      <a:r>
                        <a:rPr/>
                        <a:t>Data Type</a:t>
                      </a:r>
                      <a:endParaRPr/>
                    </a:p>
                  </a:txBody>
                  <a:tcPr>
                    <a:solidFill>
                      <a:srgbClr val="2969B0"/>
                    </a:solidFill>
                  </a:tcPr>
                </a:tc>
                <a:tc>
                  <a:txBody>
                    <a:bodyPr/>
                    <a:p>
                      <a:pPr>
                        <a:defRPr sz="1300" b="1">
                          <a:solidFill>
                            <a:srgbClr val="FFFFFF"/>
                          </a:solidFill>
                          <a:latin typeface="Arial"/>
                        </a:defRPr>
                      </a:pPr>
                      <a:r>
                        <a:rPr/>
                        <a:t>Size</a:t>
                      </a:r>
                      <a:endParaRPr/>
                    </a:p>
                  </a:txBody>
                  <a:tcPr>
                    <a:solidFill>
                      <a:srgbClr val="2969B0"/>
                    </a:solidFill>
                  </a:tcPr>
                </a:tc>
                <a:tc>
                  <a:txBody>
                    <a:bodyPr/>
                    <a:p>
                      <a:pPr>
                        <a:defRPr sz="1300" b="1">
                          <a:solidFill>
                            <a:srgbClr val="FFFFFF"/>
                          </a:solidFill>
                          <a:latin typeface="Arial"/>
                        </a:defRPr>
                      </a:pPr>
                      <a:r>
                        <a:rPr/>
                        <a:t>Constraint</a:t>
                      </a:r>
                      <a:endParaRPr/>
                    </a:p>
                  </a:txBody>
                  <a:tcPr>
                    <a:solidFill>
                      <a:srgbClr val="2969B0"/>
                    </a:solidFill>
                  </a:tcPr>
                </a:tc>
              </a:tr>
              <a:tr h="457200">
                <a:tc>
                  <a:txBody>
                    <a:bodyPr/>
                    <a:p>
                      <a:pPr>
                        <a:defRPr sz="1150">
                          <a:solidFill>
                            <a:srgbClr val="182B49"/>
                          </a:solidFill>
                          <a:latin typeface="Courier New"/>
                        </a:defRPr>
                      </a:pPr>
                      <a:r>
                        <a:rPr/>
                        <a:t>id</a:t>
                      </a:r>
                      <a:endParaRPr/>
                    </a:p>
                  </a:txBody>
                  <a:tcPr>
                    <a:solidFill>
                      <a:srgbClr val="E1EBF8"/>
                    </a:solidFill>
                  </a:tcPr>
                </a:tc>
                <a:tc>
                  <a:txBody>
                    <a:bodyPr/>
                    <a:p>
                      <a:pPr>
                        <a:defRPr sz="1150">
                          <a:solidFill>
                            <a:srgbClr val="212529"/>
                          </a:solidFill>
                          <a:latin typeface="Arial"/>
                        </a:defRPr>
                      </a:pPr>
                      <a:r>
                        <a:rPr/>
                        <a:t>INTEGER</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Primary Key, Auto Increment</a:t>
                      </a:r>
                      <a:endParaRPr/>
                    </a:p>
                  </a:txBody>
                  <a:tcPr>
                    <a:solidFill>
                      <a:srgbClr val="E1EBF8"/>
                    </a:solidFill>
                  </a:tcPr>
                </a:tc>
              </a:tr>
              <a:tr h="457200">
                <a:tc>
                  <a:txBody>
                    <a:bodyPr/>
                    <a:p>
                      <a:pPr>
                        <a:defRPr sz="1150">
                          <a:solidFill>
                            <a:srgbClr val="182B49"/>
                          </a:solidFill>
                          <a:latin typeface="Courier New"/>
                        </a:defRPr>
                      </a:pPr>
                      <a:r>
                        <a:rPr/>
                        <a:t>scheduled_procedure_id</a:t>
                      </a:r>
                      <a:endParaRPr/>
                    </a:p>
                  </a:txBody>
                  <a:tcPr>
                    <a:solidFill>
                      <a:srgbClr val="F0F5FC"/>
                    </a:solidFill>
                  </a:tcPr>
                </a:tc>
                <a:tc>
                  <a:txBody>
                    <a:bodyPr/>
                    <a:p>
                      <a:pPr>
                        <a:defRPr sz="1150">
                          <a:solidFill>
                            <a:srgbClr val="212529"/>
                          </a:solidFill>
                          <a:latin typeface="Arial"/>
                        </a:defRPr>
                      </a:pPr>
                      <a:r>
                        <a:rPr/>
                        <a:t>INTEGER</a:t>
                      </a:r>
                      <a:endParaRPr/>
                    </a:p>
                  </a:txBody>
                  <a:tcPr>
                    <a:solidFill>
                      <a:srgbClr val="F0F5FC"/>
                    </a:solidFill>
                  </a:tcPr>
                </a:tc>
                <a:tc>
                  <a:txBody>
                    <a:bodyPr/>
                    <a:p>
                      <a:pPr>
                        <a:defRPr sz="1150">
                          <a:solidFill>
                            <a:srgbClr val="212529"/>
                          </a:solidFill>
                          <a:latin typeface="Arial"/>
                        </a:defRPr>
                      </a:pPr>
                      <a:r>
                        <a:rPr/>
                        <a:t>-</a:t>
                      </a:r>
                      <a:endParaRPr/>
                    </a:p>
                  </a:txBody>
                  <a:tcPr>
                    <a:solidFill>
                      <a:srgbClr val="F0F5FC"/>
                    </a:solidFill>
                  </a:tcPr>
                </a:tc>
                <a:tc>
                  <a:txBody>
                    <a:bodyPr/>
                    <a:p>
                      <a:pPr>
                        <a:defRPr sz="1150">
                          <a:solidFill>
                            <a:srgbClr val="212529"/>
                          </a:solidFill>
                          <a:latin typeface="Arial"/>
                        </a:defRPr>
                      </a:pPr>
                      <a:r>
                        <a:rPr/>
                        <a:t>Foreign Key → tbl_scheduled_procedures.id</a:t>
                      </a:r>
                      <a:endParaRPr/>
                    </a:p>
                  </a:txBody>
                  <a:tcPr>
                    <a:solidFill>
                      <a:srgbClr val="F0F5FC"/>
                    </a:solidFill>
                  </a:tcPr>
                </a:tc>
              </a:tr>
              <a:tr h="457200">
                <a:tc>
                  <a:txBody>
                    <a:bodyPr/>
                    <a:p>
                      <a:pPr>
                        <a:defRPr sz="1150">
                          <a:solidFill>
                            <a:srgbClr val="182B49"/>
                          </a:solidFill>
                          <a:latin typeface="Courier New"/>
                        </a:defRPr>
                      </a:pPr>
                      <a:r>
                        <a:rPr/>
                        <a:t>patient_id</a:t>
                      </a:r>
                      <a:endParaRPr/>
                    </a:p>
                  </a:txBody>
                  <a:tcPr>
                    <a:solidFill>
                      <a:srgbClr val="E1EBF8"/>
                    </a:solidFill>
                  </a:tcPr>
                </a:tc>
                <a:tc>
                  <a:txBody>
                    <a:bodyPr/>
                    <a:p>
                      <a:pPr>
                        <a:defRPr sz="1150">
                          <a:solidFill>
                            <a:srgbClr val="212529"/>
                          </a:solidFill>
                          <a:latin typeface="Arial"/>
                        </a:defRPr>
                      </a:pPr>
                      <a:r>
                        <a:rPr/>
                        <a:t>INTEGER</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Foreign Key → tbl_users.id</a:t>
                      </a:r>
                      <a:endParaRPr/>
                    </a:p>
                  </a:txBody>
                  <a:tcPr>
                    <a:solidFill>
                      <a:srgbClr val="E1EBF8"/>
                    </a:solidFill>
                  </a:tcPr>
                </a:tc>
              </a:tr>
              <a:tr h="457200">
                <a:tc>
                  <a:txBody>
                    <a:bodyPr/>
                    <a:p>
                      <a:pPr>
                        <a:defRPr sz="1150">
                          <a:solidFill>
                            <a:srgbClr val="182B49"/>
                          </a:solidFill>
                          <a:latin typeface="Courier New"/>
                        </a:defRPr>
                      </a:pPr>
                      <a:r>
                        <a:rPr/>
                        <a:t>blood_sugar_mg_dl</a:t>
                      </a:r>
                      <a:endParaRPr/>
                    </a:p>
                  </a:txBody>
                  <a:tcPr>
                    <a:solidFill>
                      <a:srgbClr val="F0F5FC"/>
                    </a:solidFill>
                  </a:tcPr>
                </a:tc>
                <a:tc>
                  <a:txBody>
                    <a:bodyPr/>
                    <a:p>
                      <a:pPr>
                        <a:defRPr sz="1150">
                          <a:solidFill>
                            <a:srgbClr val="212529"/>
                          </a:solidFill>
                          <a:latin typeface="Arial"/>
                        </a:defRPr>
                      </a:pPr>
                      <a:r>
                        <a:rPr/>
                        <a:t>FLOAT</a:t>
                      </a:r>
                      <a:endParaRPr/>
                    </a:p>
                  </a:txBody>
                  <a:tcPr>
                    <a:solidFill>
                      <a:srgbClr val="F0F5FC"/>
                    </a:solidFill>
                  </a:tcPr>
                </a:tc>
                <a:tc>
                  <a:txBody>
                    <a:bodyPr/>
                    <a:p>
                      <a:pPr>
                        <a:defRPr sz="1150">
                          <a:solidFill>
                            <a:srgbClr val="212529"/>
                          </a:solidFill>
                          <a:latin typeface="Arial"/>
                        </a:defRPr>
                      </a:pPr>
                      <a:r>
                        <a:rPr/>
                        <a:t>-</a:t>
                      </a:r>
                      <a:endParaRPr/>
                    </a:p>
                  </a:txBody>
                  <a:tcPr>
                    <a:solidFill>
                      <a:srgbClr val="F0F5FC"/>
                    </a:solidFill>
                  </a:tcPr>
                </a:tc>
                <a:tc>
                  <a:txBody>
                    <a:bodyPr/>
                    <a:p>
                      <a:pPr>
                        <a:defRPr sz="1150">
                          <a:solidFill>
                            <a:srgbClr val="212529"/>
                          </a:solidFill>
                          <a:latin typeface="Arial"/>
                        </a:defRPr>
                      </a:pPr>
                      <a:r>
                        <a:rPr/>
                        <a:t>Nullable</a:t>
                      </a:r>
                      <a:endParaRPr/>
                    </a:p>
                  </a:txBody>
                  <a:tcPr>
                    <a:solidFill>
                      <a:srgbClr val="F0F5FC"/>
                    </a:solidFill>
                  </a:tcPr>
                </a:tc>
              </a:tr>
              <a:tr h="457200">
                <a:tc>
                  <a:txBody>
                    <a:bodyPr/>
                    <a:p>
                      <a:pPr>
                        <a:defRPr sz="1150">
                          <a:solidFill>
                            <a:srgbClr val="182B49"/>
                          </a:solidFill>
                          <a:latin typeface="Courier New"/>
                        </a:defRPr>
                      </a:pPr>
                      <a:r>
                        <a:rPr/>
                        <a:t>bp_systolic</a:t>
                      </a:r>
                      <a:endParaRPr/>
                    </a:p>
                  </a:txBody>
                  <a:tcPr>
                    <a:solidFill>
                      <a:srgbClr val="E1EBF8"/>
                    </a:solidFill>
                  </a:tcPr>
                </a:tc>
                <a:tc>
                  <a:txBody>
                    <a:bodyPr/>
                    <a:p>
                      <a:pPr>
                        <a:defRPr sz="1150">
                          <a:solidFill>
                            <a:srgbClr val="212529"/>
                          </a:solidFill>
                          <a:latin typeface="Arial"/>
                        </a:defRPr>
                      </a:pPr>
                      <a:r>
                        <a:rPr/>
                        <a:t>INTEGER</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Nullable</a:t>
                      </a:r>
                      <a:endParaRPr/>
                    </a:p>
                  </a:txBody>
                  <a:tcPr>
                    <a:solidFill>
                      <a:srgbClr val="E1EBF8"/>
                    </a:solidFill>
                  </a:tcPr>
                </a:tc>
              </a:tr>
              <a:tr h="457200">
                <a:tc>
                  <a:txBody>
                    <a:bodyPr/>
                    <a:p>
                      <a:pPr>
                        <a:defRPr sz="1150">
                          <a:solidFill>
                            <a:srgbClr val="182B49"/>
                          </a:solidFill>
                          <a:latin typeface="Courier New"/>
                        </a:defRPr>
                      </a:pPr>
                      <a:r>
                        <a:rPr/>
                        <a:t>bp_diastolic</a:t>
                      </a:r>
                      <a:endParaRPr/>
                    </a:p>
                  </a:txBody>
                  <a:tcPr>
                    <a:solidFill>
                      <a:srgbClr val="F0F5FC"/>
                    </a:solidFill>
                  </a:tcPr>
                </a:tc>
                <a:tc>
                  <a:txBody>
                    <a:bodyPr/>
                    <a:p>
                      <a:pPr>
                        <a:defRPr sz="1150">
                          <a:solidFill>
                            <a:srgbClr val="212529"/>
                          </a:solidFill>
                          <a:latin typeface="Arial"/>
                        </a:defRPr>
                      </a:pPr>
                      <a:r>
                        <a:rPr/>
                        <a:t>INTEGER</a:t>
                      </a:r>
                      <a:endParaRPr/>
                    </a:p>
                  </a:txBody>
                  <a:tcPr>
                    <a:solidFill>
                      <a:srgbClr val="F0F5FC"/>
                    </a:solidFill>
                  </a:tcPr>
                </a:tc>
                <a:tc>
                  <a:txBody>
                    <a:bodyPr/>
                    <a:p>
                      <a:pPr>
                        <a:defRPr sz="1150">
                          <a:solidFill>
                            <a:srgbClr val="212529"/>
                          </a:solidFill>
                          <a:latin typeface="Arial"/>
                        </a:defRPr>
                      </a:pPr>
                      <a:r>
                        <a:rPr/>
                        <a:t>-</a:t>
                      </a:r>
                      <a:endParaRPr/>
                    </a:p>
                  </a:txBody>
                  <a:tcPr>
                    <a:solidFill>
                      <a:srgbClr val="F0F5FC"/>
                    </a:solidFill>
                  </a:tcPr>
                </a:tc>
                <a:tc>
                  <a:txBody>
                    <a:bodyPr/>
                    <a:p>
                      <a:pPr>
                        <a:defRPr sz="1150">
                          <a:solidFill>
                            <a:srgbClr val="212529"/>
                          </a:solidFill>
                          <a:latin typeface="Arial"/>
                        </a:defRPr>
                      </a:pPr>
                      <a:r>
                        <a:rPr/>
                        <a:t>Nullable</a:t>
                      </a:r>
                      <a:endParaRPr/>
                    </a:p>
                  </a:txBody>
                  <a:tcPr>
                    <a:solidFill>
                      <a:srgbClr val="F0F5FC"/>
                    </a:solidFill>
                  </a:tcPr>
                </a:tc>
              </a:tr>
              <a:tr h="457200">
                <a:tc>
                  <a:txBody>
                    <a:bodyPr/>
                    <a:p>
                      <a:pPr>
                        <a:defRPr sz="1150">
                          <a:solidFill>
                            <a:srgbClr val="182B49"/>
                          </a:solidFill>
                          <a:latin typeface="Courier New"/>
                        </a:defRPr>
                      </a:pPr>
                      <a:r>
                        <a:rPr/>
                        <a:t>temperature_f</a:t>
                      </a:r>
                      <a:endParaRPr/>
                    </a:p>
                  </a:txBody>
                  <a:tcPr>
                    <a:solidFill>
                      <a:srgbClr val="E1EBF8"/>
                    </a:solidFill>
                  </a:tcPr>
                </a:tc>
                <a:tc>
                  <a:txBody>
                    <a:bodyPr/>
                    <a:p>
                      <a:pPr>
                        <a:defRPr sz="1150">
                          <a:solidFill>
                            <a:srgbClr val="212529"/>
                          </a:solidFill>
                          <a:latin typeface="Arial"/>
                        </a:defRPr>
                      </a:pPr>
                      <a:r>
                        <a:rPr/>
                        <a:t>FLOAT</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Nullable</a:t>
                      </a:r>
                      <a:endParaRPr/>
                    </a:p>
                  </a:txBody>
                  <a:tcPr>
                    <a:solidFill>
                      <a:srgbClr val="E1EBF8"/>
                    </a:solidFill>
                  </a:tcPr>
                </a:tc>
              </a:tr>
              <a:tr h="457200">
                <a:tc>
                  <a:txBody>
                    <a:bodyPr/>
                    <a:p>
                      <a:pPr>
                        <a:defRPr sz="1150">
                          <a:solidFill>
                            <a:srgbClr val="182B49"/>
                          </a:solidFill>
                          <a:latin typeface="Courier New"/>
                        </a:defRPr>
                      </a:pPr>
                      <a:r>
                        <a:rPr/>
                        <a:t>creatinine_mg_dl</a:t>
                      </a:r>
                      <a:endParaRPr/>
                    </a:p>
                  </a:txBody>
                  <a:tcPr>
                    <a:solidFill>
                      <a:srgbClr val="F0F5FC"/>
                    </a:solidFill>
                  </a:tcPr>
                </a:tc>
                <a:tc>
                  <a:txBody>
                    <a:bodyPr/>
                    <a:p>
                      <a:pPr>
                        <a:defRPr sz="1150">
                          <a:solidFill>
                            <a:srgbClr val="212529"/>
                          </a:solidFill>
                          <a:latin typeface="Arial"/>
                        </a:defRPr>
                      </a:pPr>
                      <a:r>
                        <a:rPr/>
                        <a:t>FLOAT</a:t>
                      </a:r>
                      <a:endParaRPr/>
                    </a:p>
                  </a:txBody>
                  <a:tcPr>
                    <a:solidFill>
                      <a:srgbClr val="F0F5FC"/>
                    </a:solidFill>
                  </a:tcPr>
                </a:tc>
                <a:tc>
                  <a:txBody>
                    <a:bodyPr/>
                    <a:p>
                      <a:pPr>
                        <a:defRPr sz="1150">
                          <a:solidFill>
                            <a:srgbClr val="212529"/>
                          </a:solidFill>
                          <a:latin typeface="Arial"/>
                        </a:defRPr>
                      </a:pPr>
                      <a:r>
                        <a:rPr/>
                        <a:t>-</a:t>
                      </a:r>
                      <a:endParaRPr/>
                    </a:p>
                  </a:txBody>
                  <a:tcPr>
                    <a:solidFill>
                      <a:srgbClr val="F0F5FC"/>
                    </a:solidFill>
                  </a:tcPr>
                </a:tc>
                <a:tc>
                  <a:txBody>
                    <a:bodyPr/>
                    <a:p>
                      <a:pPr>
                        <a:defRPr sz="1150">
                          <a:solidFill>
                            <a:srgbClr val="212529"/>
                          </a:solidFill>
                          <a:latin typeface="Arial"/>
                        </a:defRPr>
                      </a:pPr>
                      <a:r>
                        <a:rPr/>
                        <a:t>Nullable</a:t>
                      </a:r>
                      <a:endParaRPr/>
                    </a:p>
                  </a:txBody>
                  <a:tcPr>
                    <a:solidFill>
                      <a:srgbClr val="F0F5FC"/>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93763829"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MediPrep – Table Designs: tbl_procedure_readiness</a:t>
            </a:r>
            <a:endParaRPr/>
          </a:p>
        </p:txBody>
      </p:sp>
      <p:graphicFrame>
        <p:nvGraphicFramePr>
          <p:cNvPr id="1139714966" name="Table 2"/>
          <p:cNvGraphicFramePr>
            <a:graphicFrameLocks xmlns:a="http://schemas.openxmlformats.org/drawingml/2006/main" noGrp="1"/>
          </p:cNvGraphicFramePr>
          <p:nvPr/>
        </p:nvGraphicFramePr>
        <p:xfrm rot="0">
          <a:off x="685800" y="1371600"/>
          <a:ext cx="10817352" cy="2743200"/>
        </p:xfrm>
        <a:graphic>
          <a:graphicData uri="http://schemas.openxmlformats.org/drawingml/2006/table">
            <a:tbl>
              <a:tblPr firstRow="1" firstCol="0" lastRow="0" lastCol="0" bandRow="1" bandCol="0">
                <a:tableStyleId>{5C22544A-7EE6-4342-B048-85BDC9FD1C3A}</a:tableStyleId>
              </a:tblPr>
              <a:tblGrid>
                <a:gridCol w="2926080"/>
                <a:gridCol w="2011680"/>
                <a:gridCol w="1645920"/>
                <a:gridCol w="4233672"/>
              </a:tblGrid>
              <a:tr h="457200">
                <a:tc>
                  <a:txBody>
                    <a:bodyPr/>
                    <a:p>
                      <a:pPr>
                        <a:defRPr sz="1300" b="1">
                          <a:solidFill>
                            <a:srgbClr val="FFFFFF"/>
                          </a:solidFill>
                          <a:latin typeface="Arial"/>
                        </a:defRPr>
                      </a:pPr>
                      <a:r>
                        <a:rPr/>
                        <a:t>Column Name</a:t>
                      </a:r>
                      <a:endParaRPr/>
                    </a:p>
                  </a:txBody>
                  <a:tcPr>
                    <a:solidFill>
                      <a:srgbClr val="2969B0"/>
                    </a:solidFill>
                  </a:tcPr>
                </a:tc>
                <a:tc>
                  <a:txBody>
                    <a:bodyPr/>
                    <a:p>
                      <a:pPr>
                        <a:defRPr sz="1300" b="1">
                          <a:solidFill>
                            <a:srgbClr val="FFFFFF"/>
                          </a:solidFill>
                          <a:latin typeface="Arial"/>
                        </a:defRPr>
                      </a:pPr>
                      <a:r>
                        <a:rPr/>
                        <a:t>Data Type</a:t>
                      </a:r>
                      <a:endParaRPr/>
                    </a:p>
                  </a:txBody>
                  <a:tcPr>
                    <a:solidFill>
                      <a:srgbClr val="2969B0"/>
                    </a:solidFill>
                  </a:tcPr>
                </a:tc>
                <a:tc>
                  <a:txBody>
                    <a:bodyPr/>
                    <a:p>
                      <a:pPr>
                        <a:defRPr sz="1300" b="1">
                          <a:solidFill>
                            <a:srgbClr val="FFFFFF"/>
                          </a:solidFill>
                          <a:latin typeface="Arial"/>
                        </a:defRPr>
                      </a:pPr>
                      <a:r>
                        <a:rPr/>
                        <a:t>Size</a:t>
                      </a:r>
                      <a:endParaRPr/>
                    </a:p>
                  </a:txBody>
                  <a:tcPr>
                    <a:solidFill>
                      <a:srgbClr val="2969B0"/>
                    </a:solidFill>
                  </a:tcPr>
                </a:tc>
                <a:tc>
                  <a:txBody>
                    <a:bodyPr/>
                    <a:p>
                      <a:pPr>
                        <a:defRPr sz="1300" b="1">
                          <a:solidFill>
                            <a:srgbClr val="FFFFFF"/>
                          </a:solidFill>
                          <a:latin typeface="Arial"/>
                        </a:defRPr>
                      </a:pPr>
                      <a:r>
                        <a:rPr/>
                        <a:t>Constraint</a:t>
                      </a:r>
                      <a:endParaRPr/>
                    </a:p>
                  </a:txBody>
                  <a:tcPr>
                    <a:solidFill>
                      <a:srgbClr val="2969B0"/>
                    </a:solidFill>
                  </a:tcPr>
                </a:tc>
              </a:tr>
              <a:tr h="457200">
                <a:tc>
                  <a:txBody>
                    <a:bodyPr/>
                    <a:p>
                      <a:pPr>
                        <a:defRPr sz="1150">
                          <a:solidFill>
                            <a:srgbClr val="182B49"/>
                          </a:solidFill>
                          <a:latin typeface="Courier New"/>
                        </a:defRPr>
                      </a:pPr>
                      <a:r>
                        <a:rPr/>
                        <a:t>id</a:t>
                      </a:r>
                      <a:endParaRPr/>
                    </a:p>
                  </a:txBody>
                  <a:tcPr>
                    <a:solidFill>
                      <a:srgbClr val="E1EBF8"/>
                    </a:solidFill>
                  </a:tcPr>
                </a:tc>
                <a:tc>
                  <a:txBody>
                    <a:bodyPr/>
                    <a:p>
                      <a:pPr>
                        <a:defRPr sz="1150">
                          <a:solidFill>
                            <a:srgbClr val="212529"/>
                          </a:solidFill>
                          <a:latin typeface="Arial"/>
                        </a:defRPr>
                      </a:pPr>
                      <a:r>
                        <a:rPr/>
                        <a:t>INTEGER</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Primary Key, Auto Increment</a:t>
                      </a:r>
                      <a:endParaRPr/>
                    </a:p>
                  </a:txBody>
                  <a:tcPr>
                    <a:solidFill>
                      <a:srgbClr val="E1EBF8"/>
                    </a:solidFill>
                  </a:tcPr>
                </a:tc>
              </a:tr>
              <a:tr h="457200">
                <a:tc>
                  <a:txBody>
                    <a:bodyPr/>
                    <a:p>
                      <a:pPr>
                        <a:defRPr sz="1150">
                          <a:solidFill>
                            <a:srgbClr val="182B49"/>
                          </a:solidFill>
                          <a:latin typeface="Courier New"/>
                        </a:defRPr>
                      </a:pPr>
                      <a:r>
                        <a:rPr/>
                        <a:t>scheduled_procedure_id</a:t>
                      </a:r>
                      <a:endParaRPr/>
                    </a:p>
                  </a:txBody>
                  <a:tcPr>
                    <a:solidFill>
                      <a:srgbClr val="F0F5FC"/>
                    </a:solidFill>
                  </a:tcPr>
                </a:tc>
                <a:tc>
                  <a:txBody>
                    <a:bodyPr/>
                    <a:p>
                      <a:pPr>
                        <a:defRPr sz="1150">
                          <a:solidFill>
                            <a:srgbClr val="212529"/>
                          </a:solidFill>
                          <a:latin typeface="Arial"/>
                        </a:defRPr>
                      </a:pPr>
                      <a:r>
                        <a:rPr/>
                        <a:t>INTEGER</a:t>
                      </a:r>
                      <a:endParaRPr/>
                    </a:p>
                  </a:txBody>
                  <a:tcPr>
                    <a:solidFill>
                      <a:srgbClr val="F0F5FC"/>
                    </a:solidFill>
                  </a:tcPr>
                </a:tc>
                <a:tc>
                  <a:txBody>
                    <a:bodyPr/>
                    <a:p>
                      <a:pPr>
                        <a:defRPr sz="1150">
                          <a:solidFill>
                            <a:srgbClr val="212529"/>
                          </a:solidFill>
                          <a:latin typeface="Arial"/>
                        </a:defRPr>
                      </a:pPr>
                      <a:r>
                        <a:rPr/>
                        <a:t>-</a:t>
                      </a:r>
                      <a:endParaRPr/>
                    </a:p>
                  </a:txBody>
                  <a:tcPr>
                    <a:solidFill>
                      <a:srgbClr val="F0F5FC"/>
                    </a:solidFill>
                  </a:tcPr>
                </a:tc>
                <a:tc>
                  <a:txBody>
                    <a:bodyPr/>
                    <a:p>
                      <a:pPr>
                        <a:defRPr sz="1150">
                          <a:solidFill>
                            <a:srgbClr val="212529"/>
                          </a:solidFill>
                          <a:latin typeface="Arial"/>
                        </a:defRPr>
                      </a:pPr>
                      <a:r>
                        <a:rPr/>
                        <a:t>Foreign Key → tbl_scheduled_procedures.id</a:t>
                      </a:r>
                      <a:endParaRPr/>
                    </a:p>
                  </a:txBody>
                  <a:tcPr>
                    <a:solidFill>
                      <a:srgbClr val="F0F5FC"/>
                    </a:solidFill>
                  </a:tcPr>
                </a:tc>
              </a:tr>
              <a:tr h="457200">
                <a:tc>
                  <a:txBody>
                    <a:bodyPr/>
                    <a:p>
                      <a:pPr>
                        <a:defRPr sz="1150">
                          <a:solidFill>
                            <a:srgbClr val="182B49"/>
                          </a:solidFill>
                          <a:latin typeface="Courier New"/>
                        </a:defRPr>
                      </a:pPr>
                      <a:r>
                        <a:rPr/>
                        <a:t>readiness_percentage</a:t>
                      </a:r>
                      <a:endParaRPr/>
                    </a:p>
                  </a:txBody>
                  <a:tcPr>
                    <a:solidFill>
                      <a:srgbClr val="E1EBF8"/>
                    </a:solidFill>
                  </a:tcPr>
                </a:tc>
                <a:tc>
                  <a:txBody>
                    <a:bodyPr/>
                    <a:p>
                      <a:pPr>
                        <a:defRPr sz="1150">
                          <a:solidFill>
                            <a:srgbClr val="212529"/>
                          </a:solidFill>
                          <a:latin typeface="Arial"/>
                        </a:defRPr>
                      </a:pPr>
                      <a:r>
                        <a:rPr/>
                        <a:t>FLOAT</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Not Null (0.0 to 100.0)</a:t>
                      </a:r>
                      <a:endParaRPr/>
                    </a:p>
                  </a:txBody>
                  <a:tcPr>
                    <a:solidFill>
                      <a:srgbClr val="E1EBF8"/>
                    </a:solidFill>
                  </a:tcPr>
                </a:tc>
              </a:tr>
              <a:tr h="457200">
                <a:tc>
                  <a:txBody>
                    <a:bodyPr/>
                    <a:p>
                      <a:pPr>
                        <a:defRPr sz="1150">
                          <a:solidFill>
                            <a:srgbClr val="182B49"/>
                          </a:solidFill>
                          <a:latin typeface="Courier New"/>
                        </a:defRPr>
                      </a:pPr>
                      <a:r>
                        <a:rPr/>
                        <a:t>readiness_status</a:t>
                      </a:r>
                      <a:endParaRPr/>
                    </a:p>
                  </a:txBody>
                  <a:tcPr>
                    <a:solidFill>
                      <a:srgbClr val="F0F5FC"/>
                    </a:solidFill>
                  </a:tcPr>
                </a:tc>
                <a:tc>
                  <a:txBody>
                    <a:bodyPr/>
                    <a:p>
                      <a:pPr>
                        <a:defRPr sz="1150">
                          <a:solidFill>
                            <a:srgbClr val="212529"/>
                          </a:solidFill>
                          <a:latin typeface="Arial"/>
                        </a:defRPr>
                      </a:pPr>
                      <a:r>
                        <a:rPr/>
                        <a:t>VARCHAR</a:t>
                      </a:r>
                      <a:endParaRPr/>
                    </a:p>
                  </a:txBody>
                  <a:tcPr>
                    <a:solidFill>
                      <a:srgbClr val="F0F5FC"/>
                    </a:solidFill>
                  </a:tcPr>
                </a:tc>
                <a:tc>
                  <a:txBody>
                    <a:bodyPr/>
                    <a:p>
                      <a:pPr>
                        <a:defRPr sz="1150">
                          <a:solidFill>
                            <a:srgbClr val="212529"/>
                          </a:solidFill>
                          <a:latin typeface="Arial"/>
                        </a:defRPr>
                      </a:pPr>
                      <a:r>
                        <a:rPr/>
                        <a:t>30</a:t>
                      </a:r>
                      <a:endParaRPr/>
                    </a:p>
                  </a:txBody>
                  <a:tcPr>
                    <a:solidFill>
                      <a:srgbClr val="F0F5FC"/>
                    </a:solidFill>
                  </a:tcPr>
                </a:tc>
                <a:tc>
                  <a:txBody>
                    <a:bodyPr/>
                    <a:p>
                      <a:pPr>
                        <a:defRPr sz="1150">
                          <a:solidFill>
                            <a:srgbClr val="212529"/>
                          </a:solidFill>
                          <a:latin typeface="Arial"/>
                        </a:defRPr>
                      </a:pPr>
                      <a:r>
                        <a:rPr/>
                        <a:t>Not Null (Ready / Pending)</a:t>
                      </a:r>
                      <a:endParaRPr/>
                    </a:p>
                  </a:txBody>
                  <a:tcPr>
                    <a:solidFill>
                      <a:srgbClr val="F0F5FC"/>
                    </a:solidFill>
                  </a:tcPr>
                </a:tc>
              </a:tr>
              <a:tr h="457200">
                <a:tc>
                  <a:txBody>
                    <a:bodyPr/>
                    <a:p>
                      <a:pPr>
                        <a:defRPr sz="1150">
                          <a:solidFill>
                            <a:srgbClr val="182B49"/>
                          </a:solidFill>
                          <a:latin typeface="Courier New"/>
                        </a:defRPr>
                      </a:pPr>
                      <a:r>
                        <a:rPr/>
                        <a:t>notes</a:t>
                      </a:r>
                      <a:endParaRPr/>
                    </a:p>
                  </a:txBody>
                  <a:tcPr>
                    <a:solidFill>
                      <a:srgbClr val="E1EBF8"/>
                    </a:solidFill>
                  </a:tcPr>
                </a:tc>
                <a:tc>
                  <a:txBody>
                    <a:bodyPr/>
                    <a:p>
                      <a:pPr>
                        <a:defRPr sz="1150">
                          <a:solidFill>
                            <a:srgbClr val="212529"/>
                          </a:solidFill>
                          <a:latin typeface="Arial"/>
                        </a:defRPr>
                      </a:pPr>
                      <a:r>
                        <a:rPr/>
                        <a:t>TEXT</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Nullable</a:t>
                      </a:r>
                      <a:endParaRPr/>
                    </a:p>
                  </a:txBody>
                  <a:tcPr>
                    <a:solidFill>
                      <a:srgbClr val="E1EBF8"/>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48872199"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MediPrep – Table Designs: tbl_health_suggestions</a:t>
            </a:r>
            <a:endParaRPr/>
          </a:p>
        </p:txBody>
      </p:sp>
      <p:graphicFrame>
        <p:nvGraphicFramePr>
          <p:cNvPr id="1188404331" name="Table 2"/>
          <p:cNvGraphicFramePr>
            <a:graphicFrameLocks xmlns:a="http://schemas.openxmlformats.org/drawingml/2006/main" noGrp="1"/>
          </p:cNvGraphicFramePr>
          <p:nvPr/>
        </p:nvGraphicFramePr>
        <p:xfrm rot="0">
          <a:off x="685800" y="1371600"/>
          <a:ext cx="10817352" cy="2286000"/>
        </p:xfrm>
        <a:graphic>
          <a:graphicData uri="http://schemas.openxmlformats.org/drawingml/2006/table">
            <a:tbl>
              <a:tblPr firstRow="1" firstCol="0" lastRow="0" lastCol="0" bandRow="1" bandCol="0">
                <a:tableStyleId>{5C22544A-7EE6-4342-B048-85BDC9FD1C3A}</a:tableStyleId>
              </a:tblPr>
              <a:tblGrid>
                <a:gridCol w="2926080"/>
                <a:gridCol w="2011680"/>
                <a:gridCol w="1645920"/>
                <a:gridCol w="4233672"/>
              </a:tblGrid>
              <a:tr h="457200">
                <a:tc>
                  <a:txBody>
                    <a:bodyPr/>
                    <a:p>
                      <a:pPr>
                        <a:defRPr sz="1300" b="1">
                          <a:solidFill>
                            <a:srgbClr val="FFFFFF"/>
                          </a:solidFill>
                          <a:latin typeface="Arial"/>
                        </a:defRPr>
                      </a:pPr>
                      <a:r>
                        <a:rPr/>
                        <a:t>Column Name</a:t>
                      </a:r>
                      <a:endParaRPr/>
                    </a:p>
                  </a:txBody>
                  <a:tcPr>
                    <a:solidFill>
                      <a:srgbClr val="2969B0"/>
                    </a:solidFill>
                  </a:tcPr>
                </a:tc>
                <a:tc>
                  <a:txBody>
                    <a:bodyPr/>
                    <a:p>
                      <a:pPr>
                        <a:defRPr sz="1300" b="1">
                          <a:solidFill>
                            <a:srgbClr val="FFFFFF"/>
                          </a:solidFill>
                          <a:latin typeface="Arial"/>
                        </a:defRPr>
                      </a:pPr>
                      <a:r>
                        <a:rPr/>
                        <a:t>Data Type</a:t>
                      </a:r>
                      <a:endParaRPr/>
                    </a:p>
                  </a:txBody>
                  <a:tcPr>
                    <a:solidFill>
                      <a:srgbClr val="2969B0"/>
                    </a:solidFill>
                  </a:tcPr>
                </a:tc>
                <a:tc>
                  <a:txBody>
                    <a:bodyPr/>
                    <a:p>
                      <a:pPr>
                        <a:defRPr sz="1300" b="1">
                          <a:solidFill>
                            <a:srgbClr val="FFFFFF"/>
                          </a:solidFill>
                          <a:latin typeface="Arial"/>
                        </a:defRPr>
                      </a:pPr>
                      <a:r>
                        <a:rPr/>
                        <a:t>Size</a:t>
                      </a:r>
                      <a:endParaRPr/>
                    </a:p>
                  </a:txBody>
                  <a:tcPr>
                    <a:solidFill>
                      <a:srgbClr val="2969B0"/>
                    </a:solidFill>
                  </a:tcPr>
                </a:tc>
                <a:tc>
                  <a:txBody>
                    <a:bodyPr/>
                    <a:p>
                      <a:pPr>
                        <a:defRPr sz="1300" b="1">
                          <a:solidFill>
                            <a:srgbClr val="FFFFFF"/>
                          </a:solidFill>
                          <a:latin typeface="Arial"/>
                        </a:defRPr>
                      </a:pPr>
                      <a:r>
                        <a:rPr/>
                        <a:t>Constraint</a:t>
                      </a:r>
                      <a:endParaRPr/>
                    </a:p>
                  </a:txBody>
                  <a:tcPr>
                    <a:solidFill>
                      <a:srgbClr val="2969B0"/>
                    </a:solidFill>
                  </a:tcPr>
                </a:tc>
              </a:tr>
              <a:tr h="457200">
                <a:tc>
                  <a:txBody>
                    <a:bodyPr/>
                    <a:p>
                      <a:pPr>
                        <a:defRPr sz="1150">
                          <a:solidFill>
                            <a:srgbClr val="182B49"/>
                          </a:solidFill>
                          <a:latin typeface="Courier New"/>
                        </a:defRPr>
                      </a:pPr>
                      <a:r>
                        <a:rPr/>
                        <a:t>id</a:t>
                      </a:r>
                      <a:endParaRPr/>
                    </a:p>
                  </a:txBody>
                  <a:tcPr>
                    <a:solidFill>
                      <a:srgbClr val="E1EBF8"/>
                    </a:solidFill>
                  </a:tcPr>
                </a:tc>
                <a:tc>
                  <a:txBody>
                    <a:bodyPr/>
                    <a:p>
                      <a:pPr>
                        <a:defRPr sz="1150">
                          <a:solidFill>
                            <a:srgbClr val="212529"/>
                          </a:solidFill>
                          <a:latin typeface="Arial"/>
                        </a:defRPr>
                      </a:pPr>
                      <a:r>
                        <a:rPr/>
                        <a:t>INTEGER</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Primary Key, Auto Increment</a:t>
                      </a:r>
                      <a:endParaRPr/>
                    </a:p>
                  </a:txBody>
                  <a:tcPr>
                    <a:solidFill>
                      <a:srgbClr val="E1EBF8"/>
                    </a:solidFill>
                  </a:tcPr>
                </a:tc>
              </a:tr>
              <a:tr h="457200">
                <a:tc>
                  <a:txBody>
                    <a:bodyPr/>
                    <a:p>
                      <a:pPr>
                        <a:defRPr sz="1150">
                          <a:solidFill>
                            <a:srgbClr val="182B49"/>
                          </a:solidFill>
                          <a:latin typeface="Courier New"/>
                        </a:defRPr>
                      </a:pPr>
                      <a:r>
                        <a:rPr/>
                        <a:t>procedure_id</a:t>
                      </a:r>
                      <a:endParaRPr/>
                    </a:p>
                  </a:txBody>
                  <a:tcPr>
                    <a:solidFill>
                      <a:srgbClr val="F0F5FC"/>
                    </a:solidFill>
                  </a:tcPr>
                </a:tc>
                <a:tc>
                  <a:txBody>
                    <a:bodyPr/>
                    <a:p>
                      <a:pPr>
                        <a:defRPr sz="1150">
                          <a:solidFill>
                            <a:srgbClr val="212529"/>
                          </a:solidFill>
                          <a:latin typeface="Arial"/>
                        </a:defRPr>
                      </a:pPr>
                      <a:r>
                        <a:rPr/>
                        <a:t>INTEGER</a:t>
                      </a:r>
                      <a:endParaRPr/>
                    </a:p>
                  </a:txBody>
                  <a:tcPr>
                    <a:solidFill>
                      <a:srgbClr val="F0F5FC"/>
                    </a:solidFill>
                  </a:tcPr>
                </a:tc>
                <a:tc>
                  <a:txBody>
                    <a:bodyPr/>
                    <a:p>
                      <a:pPr>
                        <a:defRPr sz="1150">
                          <a:solidFill>
                            <a:srgbClr val="212529"/>
                          </a:solidFill>
                          <a:latin typeface="Arial"/>
                        </a:defRPr>
                      </a:pPr>
                      <a:r>
                        <a:rPr/>
                        <a:t>-</a:t>
                      </a:r>
                      <a:endParaRPr/>
                    </a:p>
                  </a:txBody>
                  <a:tcPr>
                    <a:solidFill>
                      <a:srgbClr val="F0F5FC"/>
                    </a:solidFill>
                  </a:tcPr>
                </a:tc>
                <a:tc>
                  <a:txBody>
                    <a:bodyPr/>
                    <a:p>
                      <a:pPr>
                        <a:defRPr sz="1150">
                          <a:solidFill>
                            <a:srgbClr val="212529"/>
                          </a:solidFill>
                          <a:latin typeface="Arial"/>
                        </a:defRPr>
                      </a:pPr>
                      <a:r>
                        <a:rPr/>
                        <a:t>Foreign Key → tbl_procedures.id</a:t>
                      </a:r>
                      <a:endParaRPr/>
                    </a:p>
                  </a:txBody>
                  <a:tcPr>
                    <a:solidFill>
                      <a:srgbClr val="F0F5FC"/>
                    </a:solidFill>
                  </a:tcPr>
                </a:tc>
              </a:tr>
              <a:tr h="457200">
                <a:tc>
                  <a:txBody>
                    <a:bodyPr/>
                    <a:p>
                      <a:pPr>
                        <a:defRPr sz="1150">
                          <a:solidFill>
                            <a:srgbClr val="182B49"/>
                          </a:solidFill>
                          <a:latin typeface="Courier New"/>
                        </a:defRPr>
                      </a:pPr>
                      <a:r>
                        <a:rPr/>
                        <a:t>suggestion_text</a:t>
                      </a:r>
                      <a:endParaRPr/>
                    </a:p>
                  </a:txBody>
                  <a:tcPr>
                    <a:solidFill>
                      <a:srgbClr val="E1EBF8"/>
                    </a:solidFill>
                  </a:tcPr>
                </a:tc>
                <a:tc>
                  <a:txBody>
                    <a:bodyPr/>
                    <a:p>
                      <a:pPr>
                        <a:defRPr sz="1150">
                          <a:solidFill>
                            <a:srgbClr val="212529"/>
                          </a:solidFill>
                          <a:latin typeface="Arial"/>
                        </a:defRPr>
                      </a:pPr>
                      <a:r>
                        <a:rPr/>
                        <a:t>TEXT</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Not Null</a:t>
                      </a:r>
                      <a:endParaRPr/>
                    </a:p>
                  </a:txBody>
                  <a:tcPr>
                    <a:solidFill>
                      <a:srgbClr val="E1EBF8"/>
                    </a:solidFill>
                  </a:tcPr>
                </a:tc>
              </a:tr>
              <a:tr h="457200">
                <a:tc>
                  <a:txBody>
                    <a:bodyPr/>
                    <a:p>
                      <a:pPr>
                        <a:defRPr sz="1150">
                          <a:solidFill>
                            <a:srgbClr val="182B49"/>
                          </a:solidFill>
                          <a:latin typeface="Courier New"/>
                        </a:defRPr>
                      </a:pPr>
                      <a:r>
                        <a:rPr/>
                        <a:t>trigger_condition</a:t>
                      </a:r>
                      <a:endParaRPr/>
                    </a:p>
                  </a:txBody>
                  <a:tcPr>
                    <a:solidFill>
                      <a:srgbClr val="F0F5FC"/>
                    </a:solidFill>
                  </a:tcPr>
                </a:tc>
                <a:tc>
                  <a:txBody>
                    <a:bodyPr/>
                    <a:p>
                      <a:pPr>
                        <a:defRPr sz="1150">
                          <a:solidFill>
                            <a:srgbClr val="212529"/>
                          </a:solidFill>
                          <a:latin typeface="Arial"/>
                        </a:defRPr>
                      </a:pPr>
                      <a:r>
                        <a:rPr/>
                        <a:t>VARCHAR</a:t>
                      </a:r>
                      <a:endParaRPr/>
                    </a:p>
                  </a:txBody>
                  <a:tcPr>
                    <a:solidFill>
                      <a:srgbClr val="F0F5FC"/>
                    </a:solidFill>
                  </a:tcPr>
                </a:tc>
                <a:tc>
                  <a:txBody>
                    <a:bodyPr/>
                    <a:p>
                      <a:pPr>
                        <a:defRPr sz="1150">
                          <a:solidFill>
                            <a:srgbClr val="212529"/>
                          </a:solidFill>
                          <a:latin typeface="Arial"/>
                        </a:defRPr>
                      </a:pPr>
                      <a:r>
                        <a:rPr/>
                        <a:t>100</a:t>
                      </a:r>
                      <a:endParaRPr/>
                    </a:p>
                  </a:txBody>
                  <a:tcPr>
                    <a:solidFill>
                      <a:srgbClr val="F0F5FC"/>
                    </a:solidFill>
                  </a:tcPr>
                </a:tc>
                <a:tc>
                  <a:txBody>
                    <a:bodyPr/>
                    <a:p>
                      <a:pPr>
                        <a:defRPr sz="1150">
                          <a:solidFill>
                            <a:srgbClr val="212529"/>
                          </a:solidFill>
                          <a:latin typeface="Arial"/>
                        </a:defRPr>
                      </a:pPr>
                      <a:r>
                        <a:rPr/>
                        <a:t>Nullable</a:t>
                      </a:r>
                      <a:endParaRPr/>
                    </a:p>
                  </a:txBody>
                  <a:tcPr>
                    <a:solidFill>
                      <a:srgbClr val="F0F5FC"/>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87917361"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MediPrep – Table Designs: tbl_notifications</a:t>
            </a:r>
            <a:endParaRPr/>
          </a:p>
        </p:txBody>
      </p:sp>
      <p:graphicFrame>
        <p:nvGraphicFramePr>
          <p:cNvPr id="75765716" name="Table 2"/>
          <p:cNvGraphicFramePr>
            <a:graphicFrameLocks xmlns:a="http://schemas.openxmlformats.org/drawingml/2006/main" noGrp="1"/>
          </p:cNvGraphicFramePr>
          <p:nvPr/>
        </p:nvGraphicFramePr>
        <p:xfrm rot="0">
          <a:off x="685800" y="1371600"/>
          <a:ext cx="10817352" cy="3657600"/>
        </p:xfrm>
        <a:graphic>
          <a:graphicData uri="http://schemas.openxmlformats.org/drawingml/2006/table">
            <a:tbl>
              <a:tblPr firstRow="1" firstCol="0" lastRow="0" lastCol="0" bandRow="1" bandCol="0">
                <a:tableStyleId>{5C22544A-7EE6-4342-B048-85BDC9FD1C3A}</a:tableStyleId>
              </a:tblPr>
              <a:tblGrid>
                <a:gridCol w="2926080"/>
                <a:gridCol w="2011680"/>
                <a:gridCol w="1645920"/>
                <a:gridCol w="4233672"/>
              </a:tblGrid>
              <a:tr h="457200">
                <a:tc>
                  <a:txBody>
                    <a:bodyPr/>
                    <a:p>
                      <a:pPr>
                        <a:defRPr sz="1300" b="1">
                          <a:solidFill>
                            <a:srgbClr val="FFFFFF"/>
                          </a:solidFill>
                          <a:latin typeface="Arial"/>
                        </a:defRPr>
                      </a:pPr>
                      <a:r>
                        <a:rPr/>
                        <a:t>Column Name</a:t>
                      </a:r>
                      <a:endParaRPr/>
                    </a:p>
                  </a:txBody>
                  <a:tcPr>
                    <a:solidFill>
                      <a:srgbClr val="2969B0"/>
                    </a:solidFill>
                  </a:tcPr>
                </a:tc>
                <a:tc>
                  <a:txBody>
                    <a:bodyPr/>
                    <a:p>
                      <a:pPr>
                        <a:defRPr sz="1300" b="1">
                          <a:solidFill>
                            <a:srgbClr val="FFFFFF"/>
                          </a:solidFill>
                          <a:latin typeface="Arial"/>
                        </a:defRPr>
                      </a:pPr>
                      <a:r>
                        <a:rPr/>
                        <a:t>Data Type</a:t>
                      </a:r>
                      <a:endParaRPr/>
                    </a:p>
                  </a:txBody>
                  <a:tcPr>
                    <a:solidFill>
                      <a:srgbClr val="2969B0"/>
                    </a:solidFill>
                  </a:tcPr>
                </a:tc>
                <a:tc>
                  <a:txBody>
                    <a:bodyPr/>
                    <a:p>
                      <a:pPr>
                        <a:defRPr sz="1300" b="1">
                          <a:solidFill>
                            <a:srgbClr val="FFFFFF"/>
                          </a:solidFill>
                          <a:latin typeface="Arial"/>
                        </a:defRPr>
                      </a:pPr>
                      <a:r>
                        <a:rPr/>
                        <a:t>Size</a:t>
                      </a:r>
                      <a:endParaRPr/>
                    </a:p>
                  </a:txBody>
                  <a:tcPr>
                    <a:solidFill>
                      <a:srgbClr val="2969B0"/>
                    </a:solidFill>
                  </a:tcPr>
                </a:tc>
                <a:tc>
                  <a:txBody>
                    <a:bodyPr/>
                    <a:p>
                      <a:pPr>
                        <a:defRPr sz="1300" b="1">
                          <a:solidFill>
                            <a:srgbClr val="FFFFFF"/>
                          </a:solidFill>
                          <a:latin typeface="Arial"/>
                        </a:defRPr>
                      </a:pPr>
                      <a:r>
                        <a:rPr/>
                        <a:t>Constraint</a:t>
                      </a:r>
                      <a:endParaRPr/>
                    </a:p>
                  </a:txBody>
                  <a:tcPr>
                    <a:solidFill>
                      <a:srgbClr val="2969B0"/>
                    </a:solidFill>
                  </a:tcPr>
                </a:tc>
              </a:tr>
              <a:tr h="457200">
                <a:tc>
                  <a:txBody>
                    <a:bodyPr/>
                    <a:p>
                      <a:pPr>
                        <a:defRPr sz="1150">
                          <a:solidFill>
                            <a:srgbClr val="182B49"/>
                          </a:solidFill>
                          <a:latin typeface="Courier New"/>
                        </a:defRPr>
                      </a:pPr>
                      <a:r>
                        <a:rPr/>
                        <a:t>id</a:t>
                      </a:r>
                      <a:endParaRPr/>
                    </a:p>
                  </a:txBody>
                  <a:tcPr>
                    <a:solidFill>
                      <a:srgbClr val="E1EBF8"/>
                    </a:solidFill>
                  </a:tcPr>
                </a:tc>
                <a:tc>
                  <a:txBody>
                    <a:bodyPr/>
                    <a:p>
                      <a:pPr>
                        <a:defRPr sz="1150">
                          <a:solidFill>
                            <a:srgbClr val="212529"/>
                          </a:solidFill>
                          <a:latin typeface="Arial"/>
                        </a:defRPr>
                      </a:pPr>
                      <a:r>
                        <a:rPr/>
                        <a:t>INTEGER</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Primary Key, Auto Increment</a:t>
                      </a:r>
                      <a:endParaRPr/>
                    </a:p>
                  </a:txBody>
                  <a:tcPr>
                    <a:solidFill>
                      <a:srgbClr val="E1EBF8"/>
                    </a:solidFill>
                  </a:tcPr>
                </a:tc>
              </a:tr>
              <a:tr h="457200">
                <a:tc>
                  <a:txBody>
                    <a:bodyPr/>
                    <a:p>
                      <a:pPr>
                        <a:defRPr sz="1150">
                          <a:solidFill>
                            <a:srgbClr val="182B49"/>
                          </a:solidFill>
                          <a:latin typeface="Courier New"/>
                        </a:defRPr>
                      </a:pPr>
                      <a:r>
                        <a:rPr/>
                        <a:t>user_id</a:t>
                      </a:r>
                      <a:endParaRPr/>
                    </a:p>
                  </a:txBody>
                  <a:tcPr>
                    <a:solidFill>
                      <a:srgbClr val="F0F5FC"/>
                    </a:solidFill>
                  </a:tcPr>
                </a:tc>
                <a:tc>
                  <a:txBody>
                    <a:bodyPr/>
                    <a:p>
                      <a:pPr>
                        <a:defRPr sz="1150">
                          <a:solidFill>
                            <a:srgbClr val="212529"/>
                          </a:solidFill>
                          <a:latin typeface="Arial"/>
                        </a:defRPr>
                      </a:pPr>
                      <a:r>
                        <a:rPr/>
                        <a:t>INTEGER</a:t>
                      </a:r>
                      <a:endParaRPr/>
                    </a:p>
                  </a:txBody>
                  <a:tcPr>
                    <a:solidFill>
                      <a:srgbClr val="F0F5FC"/>
                    </a:solidFill>
                  </a:tcPr>
                </a:tc>
                <a:tc>
                  <a:txBody>
                    <a:bodyPr/>
                    <a:p>
                      <a:pPr>
                        <a:defRPr sz="1150">
                          <a:solidFill>
                            <a:srgbClr val="212529"/>
                          </a:solidFill>
                          <a:latin typeface="Arial"/>
                        </a:defRPr>
                      </a:pPr>
                      <a:r>
                        <a:rPr/>
                        <a:t>-</a:t>
                      </a:r>
                      <a:endParaRPr/>
                    </a:p>
                  </a:txBody>
                  <a:tcPr>
                    <a:solidFill>
                      <a:srgbClr val="F0F5FC"/>
                    </a:solidFill>
                  </a:tcPr>
                </a:tc>
                <a:tc>
                  <a:txBody>
                    <a:bodyPr/>
                    <a:p>
                      <a:pPr>
                        <a:defRPr sz="1150">
                          <a:solidFill>
                            <a:srgbClr val="212529"/>
                          </a:solidFill>
                          <a:latin typeface="Arial"/>
                        </a:defRPr>
                      </a:pPr>
                      <a:r>
                        <a:rPr/>
                        <a:t>Foreign Key → tbl_users.id</a:t>
                      </a:r>
                      <a:endParaRPr/>
                    </a:p>
                  </a:txBody>
                  <a:tcPr>
                    <a:solidFill>
                      <a:srgbClr val="F0F5FC"/>
                    </a:solidFill>
                  </a:tcPr>
                </a:tc>
              </a:tr>
              <a:tr h="457200">
                <a:tc>
                  <a:txBody>
                    <a:bodyPr/>
                    <a:p>
                      <a:pPr>
                        <a:defRPr sz="1150">
                          <a:solidFill>
                            <a:srgbClr val="182B49"/>
                          </a:solidFill>
                          <a:latin typeface="Courier New"/>
                        </a:defRPr>
                      </a:pPr>
                      <a:r>
                        <a:rPr/>
                        <a:t>sender_id</a:t>
                      </a:r>
                      <a:endParaRPr/>
                    </a:p>
                  </a:txBody>
                  <a:tcPr>
                    <a:solidFill>
                      <a:srgbClr val="E1EBF8"/>
                    </a:solidFill>
                  </a:tcPr>
                </a:tc>
                <a:tc>
                  <a:txBody>
                    <a:bodyPr/>
                    <a:p>
                      <a:pPr>
                        <a:defRPr sz="1150">
                          <a:solidFill>
                            <a:srgbClr val="212529"/>
                          </a:solidFill>
                          <a:latin typeface="Arial"/>
                        </a:defRPr>
                      </a:pPr>
                      <a:r>
                        <a:rPr/>
                        <a:t>INTEGER</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Foreign Key → tbl_users.id</a:t>
                      </a:r>
                      <a:endParaRPr/>
                    </a:p>
                  </a:txBody>
                  <a:tcPr>
                    <a:solidFill>
                      <a:srgbClr val="E1EBF8"/>
                    </a:solidFill>
                  </a:tcPr>
                </a:tc>
              </a:tr>
              <a:tr h="457200">
                <a:tc>
                  <a:txBody>
                    <a:bodyPr/>
                    <a:p>
                      <a:pPr>
                        <a:defRPr sz="1150">
                          <a:solidFill>
                            <a:srgbClr val="182B49"/>
                          </a:solidFill>
                          <a:latin typeface="Courier New"/>
                        </a:defRPr>
                      </a:pPr>
                      <a:r>
                        <a:rPr/>
                        <a:t>scheduled_procedure_id</a:t>
                      </a:r>
                      <a:endParaRPr/>
                    </a:p>
                  </a:txBody>
                  <a:tcPr>
                    <a:solidFill>
                      <a:srgbClr val="F0F5FC"/>
                    </a:solidFill>
                  </a:tcPr>
                </a:tc>
                <a:tc>
                  <a:txBody>
                    <a:bodyPr/>
                    <a:p>
                      <a:pPr>
                        <a:defRPr sz="1150">
                          <a:solidFill>
                            <a:srgbClr val="212529"/>
                          </a:solidFill>
                          <a:latin typeface="Arial"/>
                        </a:defRPr>
                      </a:pPr>
                      <a:r>
                        <a:rPr/>
                        <a:t>INTEGER</a:t>
                      </a:r>
                      <a:endParaRPr/>
                    </a:p>
                  </a:txBody>
                  <a:tcPr>
                    <a:solidFill>
                      <a:srgbClr val="F0F5FC"/>
                    </a:solidFill>
                  </a:tcPr>
                </a:tc>
                <a:tc>
                  <a:txBody>
                    <a:bodyPr/>
                    <a:p>
                      <a:pPr>
                        <a:defRPr sz="1150">
                          <a:solidFill>
                            <a:srgbClr val="212529"/>
                          </a:solidFill>
                          <a:latin typeface="Arial"/>
                        </a:defRPr>
                      </a:pPr>
                      <a:r>
                        <a:rPr/>
                        <a:t>-</a:t>
                      </a:r>
                      <a:endParaRPr/>
                    </a:p>
                  </a:txBody>
                  <a:tcPr>
                    <a:solidFill>
                      <a:srgbClr val="F0F5FC"/>
                    </a:solidFill>
                  </a:tcPr>
                </a:tc>
                <a:tc>
                  <a:txBody>
                    <a:bodyPr/>
                    <a:p>
                      <a:pPr>
                        <a:defRPr sz="1150">
                          <a:solidFill>
                            <a:srgbClr val="212529"/>
                          </a:solidFill>
                          <a:latin typeface="Arial"/>
                        </a:defRPr>
                      </a:pPr>
                      <a:r>
                        <a:rPr/>
                        <a:t>Foreign Key → tbl_scheduled_procedures.id</a:t>
                      </a:r>
                      <a:endParaRPr/>
                    </a:p>
                  </a:txBody>
                  <a:tcPr>
                    <a:solidFill>
                      <a:srgbClr val="F0F5FC"/>
                    </a:solidFill>
                  </a:tcPr>
                </a:tc>
              </a:tr>
              <a:tr h="457200">
                <a:tc>
                  <a:txBody>
                    <a:bodyPr/>
                    <a:p>
                      <a:pPr>
                        <a:defRPr sz="1150">
                          <a:solidFill>
                            <a:srgbClr val="182B49"/>
                          </a:solidFill>
                          <a:latin typeface="Courier New"/>
                        </a:defRPr>
                      </a:pPr>
                      <a:r>
                        <a:rPr/>
                        <a:t>title</a:t>
                      </a:r>
                      <a:endParaRPr/>
                    </a:p>
                  </a:txBody>
                  <a:tcPr>
                    <a:solidFill>
                      <a:srgbClr val="E1EBF8"/>
                    </a:solidFill>
                  </a:tcPr>
                </a:tc>
                <a:tc>
                  <a:txBody>
                    <a:bodyPr/>
                    <a:p>
                      <a:pPr>
                        <a:defRPr sz="1150">
                          <a:solidFill>
                            <a:srgbClr val="212529"/>
                          </a:solidFill>
                          <a:latin typeface="Arial"/>
                        </a:defRPr>
                      </a:pPr>
                      <a:r>
                        <a:rPr/>
                        <a:t>VARCHAR</a:t>
                      </a:r>
                      <a:endParaRPr/>
                    </a:p>
                  </a:txBody>
                  <a:tcPr>
                    <a:solidFill>
                      <a:srgbClr val="E1EBF8"/>
                    </a:solidFill>
                  </a:tcPr>
                </a:tc>
                <a:tc>
                  <a:txBody>
                    <a:bodyPr/>
                    <a:p>
                      <a:pPr>
                        <a:defRPr sz="1150">
                          <a:solidFill>
                            <a:srgbClr val="212529"/>
                          </a:solidFill>
                          <a:latin typeface="Arial"/>
                        </a:defRPr>
                      </a:pPr>
                      <a:r>
                        <a:rPr/>
                        <a:t>150</a:t>
                      </a:r>
                      <a:endParaRPr/>
                    </a:p>
                  </a:txBody>
                  <a:tcPr>
                    <a:solidFill>
                      <a:srgbClr val="E1EBF8"/>
                    </a:solidFill>
                  </a:tcPr>
                </a:tc>
                <a:tc>
                  <a:txBody>
                    <a:bodyPr/>
                    <a:p>
                      <a:pPr>
                        <a:defRPr sz="1150">
                          <a:solidFill>
                            <a:srgbClr val="212529"/>
                          </a:solidFill>
                          <a:latin typeface="Arial"/>
                        </a:defRPr>
                      </a:pPr>
                      <a:r>
                        <a:rPr/>
                        <a:t>Not Null</a:t>
                      </a:r>
                      <a:endParaRPr/>
                    </a:p>
                  </a:txBody>
                  <a:tcPr>
                    <a:solidFill>
                      <a:srgbClr val="E1EBF8"/>
                    </a:solidFill>
                  </a:tcPr>
                </a:tc>
              </a:tr>
              <a:tr h="457200">
                <a:tc>
                  <a:txBody>
                    <a:bodyPr/>
                    <a:p>
                      <a:pPr>
                        <a:defRPr sz="1150">
                          <a:solidFill>
                            <a:srgbClr val="182B49"/>
                          </a:solidFill>
                          <a:latin typeface="Courier New"/>
                        </a:defRPr>
                      </a:pPr>
                      <a:r>
                        <a:rPr/>
                        <a:t>message</a:t>
                      </a:r>
                      <a:endParaRPr/>
                    </a:p>
                  </a:txBody>
                  <a:tcPr>
                    <a:solidFill>
                      <a:srgbClr val="F0F5FC"/>
                    </a:solidFill>
                  </a:tcPr>
                </a:tc>
                <a:tc>
                  <a:txBody>
                    <a:bodyPr/>
                    <a:p>
                      <a:pPr>
                        <a:defRPr sz="1150">
                          <a:solidFill>
                            <a:srgbClr val="212529"/>
                          </a:solidFill>
                          <a:latin typeface="Arial"/>
                        </a:defRPr>
                      </a:pPr>
                      <a:r>
                        <a:rPr/>
                        <a:t>TEXT</a:t>
                      </a:r>
                      <a:endParaRPr/>
                    </a:p>
                  </a:txBody>
                  <a:tcPr>
                    <a:solidFill>
                      <a:srgbClr val="F0F5FC"/>
                    </a:solidFill>
                  </a:tcPr>
                </a:tc>
                <a:tc>
                  <a:txBody>
                    <a:bodyPr/>
                    <a:p>
                      <a:pPr>
                        <a:defRPr sz="1150">
                          <a:solidFill>
                            <a:srgbClr val="212529"/>
                          </a:solidFill>
                          <a:latin typeface="Arial"/>
                        </a:defRPr>
                      </a:pPr>
                      <a:r>
                        <a:rPr/>
                        <a:t>-</a:t>
                      </a:r>
                      <a:endParaRPr/>
                    </a:p>
                  </a:txBody>
                  <a:tcPr>
                    <a:solidFill>
                      <a:srgbClr val="F0F5FC"/>
                    </a:solidFill>
                  </a:tcPr>
                </a:tc>
                <a:tc>
                  <a:txBody>
                    <a:bodyPr/>
                    <a:p>
                      <a:pPr>
                        <a:defRPr sz="1150">
                          <a:solidFill>
                            <a:srgbClr val="212529"/>
                          </a:solidFill>
                          <a:latin typeface="Arial"/>
                        </a:defRPr>
                      </a:pPr>
                      <a:r>
                        <a:rPr/>
                        <a:t>Not Null</a:t>
                      </a:r>
                      <a:endParaRPr/>
                    </a:p>
                  </a:txBody>
                  <a:tcPr>
                    <a:solidFill>
                      <a:srgbClr val="F0F5FC"/>
                    </a:solidFill>
                  </a:tcPr>
                </a:tc>
              </a:tr>
              <a:tr h="457200">
                <a:tc>
                  <a:txBody>
                    <a:bodyPr/>
                    <a:p>
                      <a:pPr>
                        <a:defRPr sz="1150">
                          <a:solidFill>
                            <a:srgbClr val="182B49"/>
                          </a:solidFill>
                          <a:latin typeface="Courier New"/>
                        </a:defRPr>
                      </a:pPr>
                      <a:r>
                        <a:rPr/>
                        <a:t>sent_at</a:t>
                      </a:r>
                      <a:endParaRPr/>
                    </a:p>
                  </a:txBody>
                  <a:tcPr>
                    <a:solidFill>
                      <a:srgbClr val="E1EBF8"/>
                    </a:solidFill>
                  </a:tcPr>
                </a:tc>
                <a:tc>
                  <a:txBody>
                    <a:bodyPr/>
                    <a:p>
                      <a:pPr>
                        <a:defRPr sz="1150">
                          <a:solidFill>
                            <a:srgbClr val="212529"/>
                          </a:solidFill>
                          <a:latin typeface="Arial"/>
                        </a:defRPr>
                      </a:pPr>
                      <a:r>
                        <a:rPr/>
                        <a:t>DATETIME</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Current Timestamp</a:t>
                      </a:r>
                      <a:endParaRPr/>
                    </a:p>
                  </a:txBody>
                  <a:tcPr>
                    <a:solidFill>
                      <a:srgbClr val="E1EBF8"/>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67427353"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MediPrep – Table Designs: tbl_risk_alerts</a:t>
            </a:r>
            <a:endParaRPr/>
          </a:p>
        </p:txBody>
      </p:sp>
      <p:graphicFrame>
        <p:nvGraphicFramePr>
          <p:cNvPr id="370054135" name="Table 2"/>
          <p:cNvGraphicFramePr>
            <a:graphicFrameLocks xmlns:a="http://schemas.openxmlformats.org/drawingml/2006/main" noGrp="1"/>
          </p:cNvGraphicFramePr>
          <p:nvPr/>
        </p:nvGraphicFramePr>
        <p:xfrm rot="0">
          <a:off x="685800" y="1371600"/>
          <a:ext cx="10817352" cy="2743200"/>
        </p:xfrm>
        <a:graphic>
          <a:graphicData uri="http://schemas.openxmlformats.org/drawingml/2006/table">
            <a:tbl>
              <a:tblPr firstRow="1" firstCol="0" lastRow="0" lastCol="0" bandRow="1" bandCol="0">
                <a:tableStyleId>{5C22544A-7EE6-4342-B048-85BDC9FD1C3A}</a:tableStyleId>
              </a:tblPr>
              <a:tblGrid>
                <a:gridCol w="2926080"/>
                <a:gridCol w="2011680"/>
                <a:gridCol w="1645920"/>
                <a:gridCol w="4233672"/>
              </a:tblGrid>
              <a:tr h="457200">
                <a:tc>
                  <a:txBody>
                    <a:bodyPr/>
                    <a:p>
                      <a:pPr>
                        <a:defRPr sz="1300" b="1">
                          <a:solidFill>
                            <a:srgbClr val="FFFFFF"/>
                          </a:solidFill>
                          <a:latin typeface="Arial"/>
                        </a:defRPr>
                      </a:pPr>
                      <a:r>
                        <a:rPr/>
                        <a:t>Column Name</a:t>
                      </a:r>
                      <a:endParaRPr/>
                    </a:p>
                  </a:txBody>
                  <a:tcPr>
                    <a:solidFill>
                      <a:srgbClr val="2969B0"/>
                    </a:solidFill>
                  </a:tcPr>
                </a:tc>
                <a:tc>
                  <a:txBody>
                    <a:bodyPr/>
                    <a:p>
                      <a:pPr>
                        <a:defRPr sz="1300" b="1">
                          <a:solidFill>
                            <a:srgbClr val="FFFFFF"/>
                          </a:solidFill>
                          <a:latin typeface="Arial"/>
                        </a:defRPr>
                      </a:pPr>
                      <a:r>
                        <a:rPr/>
                        <a:t>Data Type</a:t>
                      </a:r>
                      <a:endParaRPr/>
                    </a:p>
                  </a:txBody>
                  <a:tcPr>
                    <a:solidFill>
                      <a:srgbClr val="2969B0"/>
                    </a:solidFill>
                  </a:tcPr>
                </a:tc>
                <a:tc>
                  <a:txBody>
                    <a:bodyPr/>
                    <a:p>
                      <a:pPr>
                        <a:defRPr sz="1300" b="1">
                          <a:solidFill>
                            <a:srgbClr val="FFFFFF"/>
                          </a:solidFill>
                          <a:latin typeface="Arial"/>
                        </a:defRPr>
                      </a:pPr>
                      <a:r>
                        <a:rPr/>
                        <a:t>Size</a:t>
                      </a:r>
                      <a:endParaRPr/>
                    </a:p>
                  </a:txBody>
                  <a:tcPr>
                    <a:solidFill>
                      <a:srgbClr val="2969B0"/>
                    </a:solidFill>
                  </a:tcPr>
                </a:tc>
                <a:tc>
                  <a:txBody>
                    <a:bodyPr/>
                    <a:p>
                      <a:pPr>
                        <a:defRPr sz="1300" b="1">
                          <a:solidFill>
                            <a:srgbClr val="FFFFFF"/>
                          </a:solidFill>
                          <a:latin typeface="Arial"/>
                        </a:defRPr>
                      </a:pPr>
                      <a:r>
                        <a:rPr/>
                        <a:t>Constraint</a:t>
                      </a:r>
                      <a:endParaRPr/>
                    </a:p>
                  </a:txBody>
                  <a:tcPr>
                    <a:solidFill>
                      <a:srgbClr val="2969B0"/>
                    </a:solidFill>
                  </a:tcPr>
                </a:tc>
              </a:tr>
              <a:tr h="457200">
                <a:tc>
                  <a:txBody>
                    <a:bodyPr/>
                    <a:p>
                      <a:pPr>
                        <a:defRPr sz="1150">
                          <a:solidFill>
                            <a:srgbClr val="182B49"/>
                          </a:solidFill>
                          <a:latin typeface="Courier New"/>
                        </a:defRPr>
                      </a:pPr>
                      <a:r>
                        <a:rPr/>
                        <a:t>id</a:t>
                      </a:r>
                      <a:endParaRPr/>
                    </a:p>
                  </a:txBody>
                  <a:tcPr>
                    <a:solidFill>
                      <a:srgbClr val="E1EBF8"/>
                    </a:solidFill>
                  </a:tcPr>
                </a:tc>
                <a:tc>
                  <a:txBody>
                    <a:bodyPr/>
                    <a:p>
                      <a:pPr>
                        <a:defRPr sz="1150">
                          <a:solidFill>
                            <a:srgbClr val="212529"/>
                          </a:solidFill>
                          <a:latin typeface="Arial"/>
                        </a:defRPr>
                      </a:pPr>
                      <a:r>
                        <a:rPr/>
                        <a:t>INTEGER</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Primary Key, Auto Increment</a:t>
                      </a:r>
                      <a:endParaRPr/>
                    </a:p>
                  </a:txBody>
                  <a:tcPr>
                    <a:solidFill>
                      <a:srgbClr val="E1EBF8"/>
                    </a:solidFill>
                  </a:tcPr>
                </a:tc>
              </a:tr>
              <a:tr h="457200">
                <a:tc>
                  <a:txBody>
                    <a:bodyPr/>
                    <a:p>
                      <a:pPr>
                        <a:defRPr sz="1150">
                          <a:solidFill>
                            <a:srgbClr val="182B49"/>
                          </a:solidFill>
                          <a:latin typeface="Courier New"/>
                        </a:defRPr>
                      </a:pPr>
                      <a:r>
                        <a:rPr/>
                        <a:t>scheduled_procedure_id</a:t>
                      </a:r>
                      <a:endParaRPr/>
                    </a:p>
                  </a:txBody>
                  <a:tcPr>
                    <a:solidFill>
                      <a:srgbClr val="F0F5FC"/>
                    </a:solidFill>
                  </a:tcPr>
                </a:tc>
                <a:tc>
                  <a:txBody>
                    <a:bodyPr/>
                    <a:p>
                      <a:pPr>
                        <a:defRPr sz="1150">
                          <a:solidFill>
                            <a:srgbClr val="212529"/>
                          </a:solidFill>
                          <a:latin typeface="Arial"/>
                        </a:defRPr>
                      </a:pPr>
                      <a:r>
                        <a:rPr/>
                        <a:t>INTEGER</a:t>
                      </a:r>
                      <a:endParaRPr/>
                    </a:p>
                  </a:txBody>
                  <a:tcPr>
                    <a:solidFill>
                      <a:srgbClr val="F0F5FC"/>
                    </a:solidFill>
                  </a:tcPr>
                </a:tc>
                <a:tc>
                  <a:txBody>
                    <a:bodyPr/>
                    <a:p>
                      <a:pPr>
                        <a:defRPr sz="1150">
                          <a:solidFill>
                            <a:srgbClr val="212529"/>
                          </a:solidFill>
                          <a:latin typeface="Arial"/>
                        </a:defRPr>
                      </a:pPr>
                      <a:r>
                        <a:rPr/>
                        <a:t>-</a:t>
                      </a:r>
                      <a:endParaRPr/>
                    </a:p>
                  </a:txBody>
                  <a:tcPr>
                    <a:solidFill>
                      <a:srgbClr val="F0F5FC"/>
                    </a:solidFill>
                  </a:tcPr>
                </a:tc>
                <a:tc>
                  <a:txBody>
                    <a:bodyPr/>
                    <a:p>
                      <a:pPr>
                        <a:defRPr sz="1150">
                          <a:solidFill>
                            <a:srgbClr val="212529"/>
                          </a:solidFill>
                          <a:latin typeface="Arial"/>
                        </a:defRPr>
                      </a:pPr>
                      <a:r>
                        <a:rPr/>
                        <a:t>Foreign Key → tbl_scheduled_procedures.id</a:t>
                      </a:r>
                      <a:endParaRPr/>
                    </a:p>
                  </a:txBody>
                  <a:tcPr>
                    <a:solidFill>
                      <a:srgbClr val="F0F5FC"/>
                    </a:solidFill>
                  </a:tcPr>
                </a:tc>
              </a:tr>
              <a:tr h="457200">
                <a:tc>
                  <a:txBody>
                    <a:bodyPr/>
                    <a:p>
                      <a:pPr>
                        <a:defRPr sz="1150">
                          <a:solidFill>
                            <a:srgbClr val="182B49"/>
                          </a:solidFill>
                          <a:latin typeface="Courier New"/>
                        </a:defRPr>
                      </a:pPr>
                      <a:r>
                        <a:rPr/>
                        <a:t>alert_code</a:t>
                      </a:r>
                      <a:endParaRPr/>
                    </a:p>
                  </a:txBody>
                  <a:tcPr>
                    <a:solidFill>
                      <a:srgbClr val="E1EBF8"/>
                    </a:solidFill>
                  </a:tcPr>
                </a:tc>
                <a:tc>
                  <a:txBody>
                    <a:bodyPr/>
                    <a:p>
                      <a:pPr>
                        <a:defRPr sz="1150">
                          <a:solidFill>
                            <a:srgbClr val="212529"/>
                          </a:solidFill>
                          <a:latin typeface="Arial"/>
                        </a:defRPr>
                      </a:pPr>
                      <a:r>
                        <a:rPr/>
                        <a:t>VARCHAR</a:t>
                      </a:r>
                      <a:endParaRPr/>
                    </a:p>
                  </a:txBody>
                  <a:tcPr>
                    <a:solidFill>
                      <a:srgbClr val="E1EBF8"/>
                    </a:solidFill>
                  </a:tcPr>
                </a:tc>
                <a:tc>
                  <a:txBody>
                    <a:bodyPr/>
                    <a:p>
                      <a:pPr>
                        <a:defRPr sz="1150">
                          <a:solidFill>
                            <a:srgbClr val="212529"/>
                          </a:solidFill>
                          <a:latin typeface="Arial"/>
                        </a:defRPr>
                      </a:pPr>
                      <a:r>
                        <a:rPr/>
                        <a:t>50</a:t>
                      </a:r>
                      <a:endParaRPr/>
                    </a:p>
                  </a:txBody>
                  <a:tcPr>
                    <a:solidFill>
                      <a:srgbClr val="E1EBF8"/>
                    </a:solidFill>
                  </a:tcPr>
                </a:tc>
                <a:tc>
                  <a:txBody>
                    <a:bodyPr/>
                    <a:p>
                      <a:pPr>
                        <a:defRPr sz="1150">
                          <a:solidFill>
                            <a:srgbClr val="212529"/>
                          </a:solidFill>
                          <a:latin typeface="Arial"/>
                        </a:defRPr>
                      </a:pPr>
                      <a:r>
                        <a:rPr/>
                        <a:t>Not Null</a:t>
                      </a:r>
                      <a:endParaRPr/>
                    </a:p>
                  </a:txBody>
                  <a:tcPr>
                    <a:solidFill>
                      <a:srgbClr val="E1EBF8"/>
                    </a:solidFill>
                  </a:tcPr>
                </a:tc>
              </a:tr>
              <a:tr h="457200">
                <a:tc>
                  <a:txBody>
                    <a:bodyPr/>
                    <a:p>
                      <a:pPr>
                        <a:defRPr sz="1150">
                          <a:solidFill>
                            <a:srgbClr val="182B49"/>
                          </a:solidFill>
                          <a:latin typeface="Courier New"/>
                        </a:defRPr>
                      </a:pPr>
                      <a:r>
                        <a:rPr/>
                        <a:t>description</a:t>
                      </a:r>
                      <a:endParaRPr/>
                    </a:p>
                  </a:txBody>
                  <a:tcPr>
                    <a:solidFill>
                      <a:srgbClr val="F0F5FC"/>
                    </a:solidFill>
                  </a:tcPr>
                </a:tc>
                <a:tc>
                  <a:txBody>
                    <a:bodyPr/>
                    <a:p>
                      <a:pPr>
                        <a:defRPr sz="1150">
                          <a:solidFill>
                            <a:srgbClr val="212529"/>
                          </a:solidFill>
                          <a:latin typeface="Arial"/>
                        </a:defRPr>
                      </a:pPr>
                      <a:r>
                        <a:rPr/>
                        <a:t>TEXT</a:t>
                      </a:r>
                      <a:endParaRPr/>
                    </a:p>
                  </a:txBody>
                  <a:tcPr>
                    <a:solidFill>
                      <a:srgbClr val="F0F5FC"/>
                    </a:solidFill>
                  </a:tcPr>
                </a:tc>
                <a:tc>
                  <a:txBody>
                    <a:bodyPr/>
                    <a:p>
                      <a:pPr>
                        <a:defRPr sz="1150">
                          <a:solidFill>
                            <a:srgbClr val="212529"/>
                          </a:solidFill>
                          <a:latin typeface="Arial"/>
                        </a:defRPr>
                      </a:pPr>
                      <a:r>
                        <a:rPr/>
                        <a:t>-</a:t>
                      </a:r>
                      <a:endParaRPr/>
                    </a:p>
                  </a:txBody>
                  <a:tcPr>
                    <a:solidFill>
                      <a:srgbClr val="F0F5FC"/>
                    </a:solidFill>
                  </a:tcPr>
                </a:tc>
                <a:tc>
                  <a:txBody>
                    <a:bodyPr/>
                    <a:p>
                      <a:pPr>
                        <a:defRPr sz="1150">
                          <a:solidFill>
                            <a:srgbClr val="212529"/>
                          </a:solidFill>
                          <a:latin typeface="Arial"/>
                        </a:defRPr>
                      </a:pPr>
                      <a:r>
                        <a:rPr/>
                        <a:t>Not Null</a:t>
                      </a:r>
                      <a:endParaRPr/>
                    </a:p>
                  </a:txBody>
                  <a:tcPr>
                    <a:solidFill>
                      <a:srgbClr val="F0F5FC"/>
                    </a:solidFill>
                  </a:tcPr>
                </a:tc>
              </a:tr>
              <a:tr h="457200">
                <a:tc>
                  <a:txBody>
                    <a:bodyPr/>
                    <a:p>
                      <a:pPr>
                        <a:defRPr sz="1150">
                          <a:solidFill>
                            <a:srgbClr val="182B49"/>
                          </a:solidFill>
                          <a:latin typeface="Courier New"/>
                        </a:defRPr>
                      </a:pPr>
                      <a:r>
                        <a:rPr/>
                        <a:t>is_resolved</a:t>
                      </a:r>
                      <a:endParaRPr/>
                    </a:p>
                  </a:txBody>
                  <a:tcPr>
                    <a:solidFill>
                      <a:srgbClr val="E1EBF8"/>
                    </a:solidFill>
                  </a:tcPr>
                </a:tc>
                <a:tc>
                  <a:txBody>
                    <a:bodyPr/>
                    <a:p>
                      <a:pPr>
                        <a:defRPr sz="1150">
                          <a:solidFill>
                            <a:srgbClr val="212529"/>
                          </a:solidFill>
                          <a:latin typeface="Arial"/>
                        </a:defRPr>
                      </a:pPr>
                      <a:r>
                        <a:rPr/>
                        <a:t>BOOLEAN</a:t>
                      </a:r>
                      <a:endParaRPr/>
                    </a:p>
                  </a:txBody>
                  <a:tcPr>
                    <a:solidFill>
                      <a:srgbClr val="E1EBF8"/>
                    </a:solidFill>
                  </a:tcPr>
                </a:tc>
                <a:tc>
                  <a:txBody>
                    <a:bodyPr/>
                    <a:p>
                      <a:pPr>
                        <a:defRPr sz="1150">
                          <a:solidFill>
                            <a:srgbClr val="212529"/>
                          </a:solidFill>
                          <a:latin typeface="Arial"/>
                        </a:defRPr>
                      </a:pPr>
                      <a:r>
                        <a:rPr/>
                        <a:t>-</a:t>
                      </a:r>
                      <a:endParaRPr/>
                    </a:p>
                  </a:txBody>
                  <a:tcPr>
                    <a:solidFill>
                      <a:srgbClr val="E1EBF8"/>
                    </a:solidFill>
                  </a:tcPr>
                </a:tc>
                <a:tc>
                  <a:txBody>
                    <a:bodyPr/>
                    <a:p>
                      <a:pPr>
                        <a:defRPr sz="1150">
                          <a:solidFill>
                            <a:srgbClr val="212529"/>
                          </a:solidFill>
                          <a:latin typeface="Arial"/>
                        </a:defRPr>
                      </a:pPr>
                      <a:r>
                        <a:rPr/>
                        <a:t>Default False</a:t>
                      </a:r>
                      <a:endParaRPr/>
                    </a:p>
                  </a:txBody>
                  <a:tcPr>
                    <a:solidFill>
                      <a:srgbClr val="E1EBF8"/>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8246654"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Class Diagram</a:t>
            </a:r>
            <a:endParaRPr/>
          </a:p>
        </p:txBody>
      </p:sp>
      <p:sp>
        <p:nvSpPr>
          <p:cNvPr id="1801115522" name="Rectangle 2"/>
          <p:cNvSpPr/>
          <p:nvPr/>
        </p:nvSpPr>
        <p:spPr bwMode="auto">
          <a:xfrm>
            <a:off x="457200" y="1371600"/>
            <a:ext cx="2651760" cy="292608"/>
          </a:xfrm>
          <a:prstGeom prst="rect">
            <a:avLst/>
          </a:prstGeom>
          <a:solidFill>
            <a:srgbClr val="182B49"/>
          </a:solidFill>
          <a:ln w="19050">
            <a:solidFill>
              <a:srgbClr val="182B49"/>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000" b="1">
                <a:solidFill>
                  <a:srgbClr val="FFFFFF"/>
                </a:solidFill>
                <a:latin typeface="Arial"/>
              </a:defRPr>
            </a:pPr>
            <a:r>
              <a:rPr/>
              <a:t>User</a:t>
            </a:r>
            <a:endParaRPr/>
          </a:p>
        </p:txBody>
      </p:sp>
      <p:sp>
        <p:nvSpPr>
          <p:cNvPr id="2140175459" name="Rectangle 3"/>
          <p:cNvSpPr/>
          <p:nvPr/>
        </p:nvSpPr>
        <p:spPr bwMode="auto">
          <a:xfrm>
            <a:off x="457200" y="1664208"/>
            <a:ext cx="2651760" cy="960120"/>
          </a:xfrm>
          <a:prstGeom prst="rect">
            <a:avLst/>
          </a:prstGeom>
          <a:solidFill>
            <a:srgbClr val="FFFFFF"/>
          </a:solidFill>
          <a:ln w="19050">
            <a:solidFill>
              <a:srgbClr val="182B49"/>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defRPr sz="800" b="0">
                <a:solidFill>
                  <a:srgbClr val="212529"/>
                </a:solidFill>
                <a:latin typeface="Arial"/>
              </a:defRPr>
            </a:pPr>
            <a:r>
              <a:rPr/>
              <a:t>PK id : Integer</a:t>
            </a:r>
            <a:br>
              <a:rPr/>
            </a:br>
            <a:r>
              <a:rPr/>
              <a:t>full_name : String</a:t>
            </a:r>
            <a:br>
              <a:rPr/>
            </a:br>
            <a:r>
              <a:rPr/>
              <a:t>email : String</a:t>
            </a:r>
            <a:br>
              <a:rPr/>
            </a:br>
            <a:r>
              <a:rPr/>
              <a:t>password_hash : String</a:t>
            </a:r>
            <a:br>
              <a:rPr/>
            </a:br>
            <a:r>
              <a:rPr/>
              <a:t>role_name : String</a:t>
            </a:r>
            <a:endParaRPr/>
          </a:p>
        </p:txBody>
      </p:sp>
      <p:sp>
        <p:nvSpPr>
          <p:cNvPr id="1238719997" name="Rectangle 4"/>
          <p:cNvSpPr/>
          <p:nvPr/>
        </p:nvSpPr>
        <p:spPr bwMode="auto">
          <a:xfrm>
            <a:off x="3337560" y="1371600"/>
            <a:ext cx="2651760" cy="292608"/>
          </a:xfrm>
          <a:prstGeom prst="rect">
            <a:avLst/>
          </a:prstGeom>
          <a:solidFill>
            <a:srgbClr val="182B49"/>
          </a:solidFill>
          <a:ln w="19050">
            <a:solidFill>
              <a:srgbClr val="182B49"/>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000" b="1">
                <a:solidFill>
                  <a:srgbClr val="FFFFFF"/>
                </a:solidFill>
                <a:latin typeface="Arial"/>
              </a:defRPr>
            </a:pPr>
            <a:r>
              <a:rPr/>
              <a:t>Procedure</a:t>
            </a:r>
            <a:endParaRPr/>
          </a:p>
        </p:txBody>
      </p:sp>
      <p:sp>
        <p:nvSpPr>
          <p:cNvPr id="898489477" name="Rectangle 5"/>
          <p:cNvSpPr/>
          <p:nvPr/>
        </p:nvSpPr>
        <p:spPr bwMode="auto">
          <a:xfrm>
            <a:off x="3337560" y="1664208"/>
            <a:ext cx="2651760" cy="960120"/>
          </a:xfrm>
          <a:prstGeom prst="rect">
            <a:avLst/>
          </a:prstGeom>
          <a:solidFill>
            <a:srgbClr val="FFFFFF"/>
          </a:solidFill>
          <a:ln w="19050">
            <a:solidFill>
              <a:srgbClr val="182B49"/>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defRPr sz="800" b="0">
                <a:solidFill>
                  <a:srgbClr val="212529"/>
                </a:solidFill>
                <a:latin typeface="Arial"/>
              </a:defRPr>
            </a:pPr>
            <a:r>
              <a:rPr/>
              <a:t>PK id : Integer</a:t>
            </a:r>
            <a:br>
              <a:rPr/>
            </a:br>
            <a:r>
              <a:rPr/>
              <a:t>procedure_code : String</a:t>
            </a:r>
            <a:br>
              <a:rPr/>
            </a:br>
            <a:r>
              <a:rPr/>
              <a:t>name : String</a:t>
            </a:r>
            <a:br>
              <a:rPr/>
            </a:br>
            <a:r>
              <a:rPr/>
              <a:t>category : String</a:t>
            </a:r>
            <a:endParaRPr/>
          </a:p>
        </p:txBody>
      </p:sp>
      <p:sp>
        <p:nvSpPr>
          <p:cNvPr id="1338900099" name="Rectangle 6"/>
          <p:cNvSpPr/>
          <p:nvPr/>
        </p:nvSpPr>
        <p:spPr bwMode="auto">
          <a:xfrm>
            <a:off x="6217920" y="1371600"/>
            <a:ext cx="2651760" cy="292608"/>
          </a:xfrm>
          <a:prstGeom prst="rect">
            <a:avLst/>
          </a:prstGeom>
          <a:solidFill>
            <a:srgbClr val="182B49"/>
          </a:solidFill>
          <a:ln w="19050">
            <a:solidFill>
              <a:srgbClr val="182B49"/>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000" b="1">
                <a:solidFill>
                  <a:srgbClr val="FFFFFF"/>
                </a:solidFill>
                <a:latin typeface="Arial"/>
              </a:defRPr>
            </a:pPr>
            <a:r>
              <a:rPr/>
              <a:t>ScheduledProcedure</a:t>
            </a:r>
            <a:endParaRPr/>
          </a:p>
        </p:txBody>
      </p:sp>
      <p:sp>
        <p:nvSpPr>
          <p:cNvPr id="872858750" name="Rectangle 7"/>
          <p:cNvSpPr/>
          <p:nvPr/>
        </p:nvSpPr>
        <p:spPr bwMode="auto">
          <a:xfrm>
            <a:off x="6217920" y="1664208"/>
            <a:ext cx="2651760" cy="960120"/>
          </a:xfrm>
          <a:prstGeom prst="rect">
            <a:avLst/>
          </a:prstGeom>
          <a:solidFill>
            <a:srgbClr val="FFFFFF"/>
          </a:solidFill>
          <a:ln w="19050">
            <a:solidFill>
              <a:srgbClr val="182B49"/>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defRPr sz="800" b="0">
                <a:solidFill>
                  <a:srgbClr val="212529"/>
                </a:solidFill>
                <a:latin typeface="Arial"/>
              </a:defRPr>
            </a:pPr>
            <a:r>
              <a:rPr/>
              <a:t>PK id : Integer</a:t>
            </a:r>
            <a:br>
              <a:rPr/>
            </a:br>
            <a:r>
              <a:rPr/>
              <a:t>FK patient_id : Integer</a:t>
            </a:r>
            <a:br>
              <a:rPr/>
            </a:br>
            <a:r>
              <a:rPr/>
              <a:t>FK doctor_id : Integer</a:t>
            </a:r>
            <a:br>
              <a:rPr/>
            </a:br>
            <a:r>
              <a:rPr/>
              <a:t>FK procedure_id : Integer</a:t>
            </a:r>
            <a:br>
              <a:rPr/>
            </a:br>
            <a:r>
              <a:rPr/>
              <a:t>scheduled_at : DateTime</a:t>
            </a:r>
            <a:br>
              <a:rPr/>
            </a:br>
            <a:r>
              <a:rPr/>
              <a:t>location : String</a:t>
            </a:r>
            <a:endParaRPr/>
          </a:p>
        </p:txBody>
      </p:sp>
      <p:sp>
        <p:nvSpPr>
          <p:cNvPr id="439550382" name="Rectangle 8"/>
          <p:cNvSpPr/>
          <p:nvPr/>
        </p:nvSpPr>
        <p:spPr bwMode="auto">
          <a:xfrm>
            <a:off x="9098280" y="1371600"/>
            <a:ext cx="2651760" cy="292608"/>
          </a:xfrm>
          <a:prstGeom prst="rect">
            <a:avLst/>
          </a:prstGeom>
          <a:solidFill>
            <a:srgbClr val="182B49"/>
          </a:solidFill>
          <a:ln w="19050">
            <a:solidFill>
              <a:srgbClr val="182B49"/>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000" b="1">
                <a:solidFill>
                  <a:srgbClr val="FFFFFF"/>
                </a:solidFill>
                <a:latin typeface="Arial"/>
              </a:defRPr>
            </a:pPr>
            <a:r>
              <a:rPr/>
              <a:t>ChecklistItem</a:t>
            </a:r>
            <a:endParaRPr/>
          </a:p>
        </p:txBody>
      </p:sp>
      <p:sp>
        <p:nvSpPr>
          <p:cNvPr id="1596871405" name="Rectangle 9"/>
          <p:cNvSpPr/>
          <p:nvPr/>
        </p:nvSpPr>
        <p:spPr bwMode="auto">
          <a:xfrm>
            <a:off x="9098280" y="1664208"/>
            <a:ext cx="2651760" cy="960120"/>
          </a:xfrm>
          <a:prstGeom prst="rect">
            <a:avLst/>
          </a:prstGeom>
          <a:solidFill>
            <a:srgbClr val="FFFFFF"/>
          </a:solidFill>
          <a:ln w="19050">
            <a:solidFill>
              <a:srgbClr val="182B49"/>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defRPr sz="800" b="0">
                <a:solidFill>
                  <a:srgbClr val="212529"/>
                </a:solidFill>
                <a:latin typeface="Arial"/>
              </a:defRPr>
            </a:pPr>
            <a:r>
              <a:rPr/>
              <a:t>PK id : Integer</a:t>
            </a:r>
            <a:br>
              <a:rPr/>
            </a:br>
            <a:r>
              <a:rPr/>
              <a:t>FK scheduled_procedure_id : Integer</a:t>
            </a:r>
            <a:br>
              <a:rPr/>
            </a:br>
            <a:r>
              <a:rPr/>
              <a:t>task_name : String</a:t>
            </a:r>
            <a:br>
              <a:rPr/>
            </a:br>
            <a:r>
              <a:rPr/>
              <a:t>task_type : String</a:t>
            </a:r>
            <a:br>
              <a:rPr/>
            </a:br>
            <a:r>
              <a:rPr/>
              <a:t>status : String</a:t>
            </a:r>
            <a:endParaRPr/>
          </a:p>
        </p:txBody>
      </p:sp>
      <p:sp>
        <p:nvSpPr>
          <p:cNvPr id="470356208" name="Rectangle 10"/>
          <p:cNvSpPr/>
          <p:nvPr/>
        </p:nvSpPr>
        <p:spPr bwMode="auto">
          <a:xfrm>
            <a:off x="457200" y="3840480"/>
            <a:ext cx="2651760" cy="292608"/>
          </a:xfrm>
          <a:prstGeom prst="rect">
            <a:avLst/>
          </a:prstGeom>
          <a:solidFill>
            <a:srgbClr val="182B49"/>
          </a:solidFill>
          <a:ln w="19050">
            <a:solidFill>
              <a:srgbClr val="182B49"/>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000" b="1">
                <a:solidFill>
                  <a:srgbClr val="FFFFFF"/>
                </a:solidFill>
                <a:latin typeface="Arial"/>
              </a:defRPr>
            </a:pPr>
            <a:r>
              <a:rPr/>
              <a:t>PatientVitals</a:t>
            </a:r>
            <a:endParaRPr/>
          </a:p>
        </p:txBody>
      </p:sp>
      <p:sp>
        <p:nvSpPr>
          <p:cNvPr id="1951176694" name="Rectangle 11"/>
          <p:cNvSpPr/>
          <p:nvPr/>
        </p:nvSpPr>
        <p:spPr bwMode="auto">
          <a:xfrm>
            <a:off x="457200" y="4133088"/>
            <a:ext cx="2651760" cy="960120"/>
          </a:xfrm>
          <a:prstGeom prst="rect">
            <a:avLst/>
          </a:prstGeom>
          <a:solidFill>
            <a:srgbClr val="FFFFFF"/>
          </a:solidFill>
          <a:ln w="19050">
            <a:solidFill>
              <a:srgbClr val="182B49"/>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defRPr sz="800" b="0">
                <a:solidFill>
                  <a:srgbClr val="212529"/>
                </a:solidFill>
                <a:latin typeface="Arial"/>
              </a:defRPr>
            </a:pPr>
            <a:r>
              <a:rPr/>
              <a:t>PK id : Integer</a:t>
            </a:r>
            <a:br>
              <a:rPr/>
            </a:br>
            <a:r>
              <a:rPr/>
              <a:t>FK scheduled_procedure_id : Integer</a:t>
            </a:r>
            <a:br>
              <a:rPr/>
            </a:br>
            <a:r>
              <a:rPr/>
              <a:t>FK patient_id : Integer</a:t>
            </a:r>
            <a:br>
              <a:rPr/>
            </a:br>
            <a:r>
              <a:rPr/>
              <a:t>blood_sugar_mg_dl : Float</a:t>
            </a:r>
            <a:br>
              <a:rPr/>
            </a:br>
            <a:r>
              <a:rPr/>
              <a:t>bp_systolic : Integer</a:t>
            </a:r>
            <a:br>
              <a:rPr/>
            </a:br>
            <a:r>
              <a:rPr/>
              <a:t>temperature_f : Float</a:t>
            </a:r>
            <a:endParaRPr/>
          </a:p>
        </p:txBody>
      </p:sp>
      <p:sp>
        <p:nvSpPr>
          <p:cNvPr id="907401504" name="Rectangle 12"/>
          <p:cNvSpPr/>
          <p:nvPr/>
        </p:nvSpPr>
        <p:spPr bwMode="auto">
          <a:xfrm>
            <a:off x="3337560" y="3840480"/>
            <a:ext cx="2651760" cy="292608"/>
          </a:xfrm>
          <a:prstGeom prst="rect">
            <a:avLst/>
          </a:prstGeom>
          <a:solidFill>
            <a:srgbClr val="182B49"/>
          </a:solidFill>
          <a:ln w="19050">
            <a:solidFill>
              <a:srgbClr val="182B49"/>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000" b="1">
                <a:solidFill>
                  <a:srgbClr val="FFFFFF"/>
                </a:solidFill>
                <a:latin typeface="Arial"/>
              </a:defRPr>
            </a:pPr>
            <a:r>
              <a:rPr/>
              <a:t>HealthSuggestion</a:t>
            </a:r>
            <a:endParaRPr/>
          </a:p>
        </p:txBody>
      </p:sp>
      <p:sp>
        <p:nvSpPr>
          <p:cNvPr id="523377233" name="Rectangle 13"/>
          <p:cNvSpPr/>
          <p:nvPr/>
        </p:nvSpPr>
        <p:spPr bwMode="auto">
          <a:xfrm>
            <a:off x="3337560" y="4133088"/>
            <a:ext cx="2651760" cy="960120"/>
          </a:xfrm>
          <a:prstGeom prst="rect">
            <a:avLst/>
          </a:prstGeom>
          <a:solidFill>
            <a:srgbClr val="FFFFFF"/>
          </a:solidFill>
          <a:ln w="19050">
            <a:solidFill>
              <a:srgbClr val="182B49"/>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defRPr sz="800" b="0">
                <a:solidFill>
                  <a:srgbClr val="212529"/>
                </a:solidFill>
                <a:latin typeface="Arial"/>
              </a:defRPr>
            </a:pPr>
            <a:r>
              <a:rPr/>
              <a:t>PK id : Integer</a:t>
            </a:r>
            <a:br>
              <a:rPr/>
            </a:br>
            <a:r>
              <a:rPr/>
              <a:t>FK procedure_id : Integer</a:t>
            </a:r>
            <a:br>
              <a:rPr/>
            </a:br>
            <a:r>
              <a:rPr/>
              <a:t>suggestion_text : Text</a:t>
            </a:r>
            <a:br>
              <a:rPr/>
            </a:br>
            <a:r>
              <a:rPr/>
              <a:t>trigger_condition : String</a:t>
            </a:r>
            <a:endParaRPr/>
          </a:p>
        </p:txBody>
      </p:sp>
      <p:sp>
        <p:nvSpPr>
          <p:cNvPr id="360118046" name="Rectangle 14"/>
          <p:cNvSpPr/>
          <p:nvPr/>
        </p:nvSpPr>
        <p:spPr bwMode="auto">
          <a:xfrm>
            <a:off x="6217920" y="3840480"/>
            <a:ext cx="2651760" cy="292608"/>
          </a:xfrm>
          <a:prstGeom prst="rect">
            <a:avLst/>
          </a:prstGeom>
          <a:solidFill>
            <a:srgbClr val="182B49"/>
          </a:solidFill>
          <a:ln w="19050">
            <a:solidFill>
              <a:srgbClr val="182B49"/>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000" b="1">
                <a:solidFill>
                  <a:srgbClr val="FFFFFF"/>
                </a:solidFill>
                <a:latin typeface="Arial"/>
              </a:defRPr>
            </a:pPr>
            <a:r>
              <a:rPr/>
              <a:t>Notification</a:t>
            </a:r>
            <a:endParaRPr/>
          </a:p>
        </p:txBody>
      </p:sp>
      <p:sp>
        <p:nvSpPr>
          <p:cNvPr id="1742125121" name="Rectangle 15"/>
          <p:cNvSpPr/>
          <p:nvPr/>
        </p:nvSpPr>
        <p:spPr bwMode="auto">
          <a:xfrm>
            <a:off x="6217920" y="4133088"/>
            <a:ext cx="2651760" cy="960120"/>
          </a:xfrm>
          <a:prstGeom prst="rect">
            <a:avLst/>
          </a:prstGeom>
          <a:solidFill>
            <a:srgbClr val="FFFFFF"/>
          </a:solidFill>
          <a:ln w="19050">
            <a:solidFill>
              <a:srgbClr val="182B49"/>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defRPr sz="800" b="0">
                <a:solidFill>
                  <a:srgbClr val="212529"/>
                </a:solidFill>
                <a:latin typeface="Arial"/>
              </a:defRPr>
            </a:pPr>
            <a:r>
              <a:rPr/>
              <a:t>PK id : Integer</a:t>
            </a:r>
            <a:br>
              <a:rPr/>
            </a:br>
            <a:r>
              <a:rPr/>
              <a:t>FK user_id : Integer</a:t>
            </a:r>
            <a:br>
              <a:rPr/>
            </a:br>
            <a:r>
              <a:rPr/>
              <a:t>FK sender_id : Integer</a:t>
            </a:r>
            <a:br>
              <a:rPr/>
            </a:br>
            <a:r>
              <a:rPr/>
              <a:t>FK schedule_id : Integer</a:t>
            </a:r>
            <a:br>
              <a:rPr/>
            </a:br>
            <a:r>
              <a:rPr/>
              <a:t>title : String</a:t>
            </a:r>
            <a:br>
              <a:rPr/>
            </a:br>
            <a:r>
              <a:rPr/>
              <a:t>message : Text</a:t>
            </a:r>
            <a:endParaRPr/>
          </a:p>
        </p:txBody>
      </p:sp>
      <p:sp>
        <p:nvSpPr>
          <p:cNvPr id="1746472147" name="Rectangle 16"/>
          <p:cNvSpPr/>
          <p:nvPr/>
        </p:nvSpPr>
        <p:spPr bwMode="auto">
          <a:xfrm>
            <a:off x="9098280" y="3840480"/>
            <a:ext cx="2651760" cy="292608"/>
          </a:xfrm>
          <a:prstGeom prst="rect">
            <a:avLst/>
          </a:prstGeom>
          <a:solidFill>
            <a:srgbClr val="182B49"/>
          </a:solidFill>
          <a:ln w="19050">
            <a:solidFill>
              <a:srgbClr val="182B49"/>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000" b="1">
                <a:solidFill>
                  <a:srgbClr val="FFFFFF"/>
                </a:solidFill>
                <a:latin typeface="Arial"/>
              </a:defRPr>
            </a:pPr>
            <a:r>
              <a:rPr/>
              <a:t>UploadedReport</a:t>
            </a:r>
            <a:endParaRPr/>
          </a:p>
        </p:txBody>
      </p:sp>
      <p:sp>
        <p:nvSpPr>
          <p:cNvPr id="1431278677" name="Rectangle 17"/>
          <p:cNvSpPr/>
          <p:nvPr/>
        </p:nvSpPr>
        <p:spPr bwMode="auto">
          <a:xfrm>
            <a:off x="9098280" y="4133088"/>
            <a:ext cx="2651760" cy="960120"/>
          </a:xfrm>
          <a:prstGeom prst="rect">
            <a:avLst/>
          </a:prstGeom>
          <a:solidFill>
            <a:srgbClr val="FFFFFF"/>
          </a:solidFill>
          <a:ln w="19050">
            <a:solidFill>
              <a:srgbClr val="182B49"/>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defRPr sz="800" b="0">
                <a:solidFill>
                  <a:srgbClr val="212529"/>
                </a:solidFill>
                <a:latin typeface="Arial"/>
              </a:defRPr>
            </a:pPr>
            <a:r>
              <a:rPr/>
              <a:t>PK id : Integer</a:t>
            </a:r>
            <a:br>
              <a:rPr/>
            </a:br>
            <a:r>
              <a:rPr/>
              <a:t>FK checklist_item_id : Integer</a:t>
            </a:r>
            <a:br>
              <a:rPr/>
            </a:br>
            <a:r>
              <a:rPr/>
              <a:t>FK uploaded_by : Integer</a:t>
            </a:r>
            <a:br>
              <a:rPr/>
            </a:br>
            <a:r>
              <a:rPr/>
              <a:t>file_name : String</a:t>
            </a:r>
            <a:br>
              <a:rPr/>
            </a:br>
            <a:r>
              <a:rPr/>
              <a:t>file_path : String</a:t>
            </a:r>
            <a:endParaRPr/>
          </a:p>
        </p:txBody>
      </p:sp>
      <p:sp>
        <p:nvSpPr>
          <p:cNvPr id="2042042106" name="Rectangle 18"/>
          <p:cNvSpPr/>
          <p:nvPr/>
        </p:nvSpPr>
        <p:spPr bwMode="auto">
          <a:xfrm>
            <a:off x="3337560" y="5486400"/>
            <a:ext cx="2651760" cy="292608"/>
          </a:xfrm>
          <a:prstGeom prst="rect">
            <a:avLst/>
          </a:prstGeom>
          <a:solidFill>
            <a:srgbClr val="182B49"/>
          </a:solidFill>
          <a:ln w="19050">
            <a:solidFill>
              <a:srgbClr val="182B49"/>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000" b="1">
                <a:solidFill>
                  <a:srgbClr val="FFFFFF"/>
                </a:solidFill>
                <a:latin typeface="Arial"/>
              </a:defRPr>
            </a:pPr>
            <a:r>
              <a:rPr/>
              <a:t>ProcedureReadiness</a:t>
            </a:r>
            <a:endParaRPr/>
          </a:p>
        </p:txBody>
      </p:sp>
      <p:sp>
        <p:nvSpPr>
          <p:cNvPr id="518369573" name="Rectangle 19"/>
          <p:cNvSpPr/>
          <p:nvPr/>
        </p:nvSpPr>
        <p:spPr bwMode="auto">
          <a:xfrm>
            <a:off x="3337560" y="5779008"/>
            <a:ext cx="2651760" cy="960120"/>
          </a:xfrm>
          <a:prstGeom prst="rect">
            <a:avLst/>
          </a:prstGeom>
          <a:solidFill>
            <a:srgbClr val="FFFFFF"/>
          </a:solidFill>
          <a:ln w="19050">
            <a:solidFill>
              <a:srgbClr val="182B49"/>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defRPr sz="800" b="0">
                <a:solidFill>
                  <a:srgbClr val="212529"/>
                </a:solidFill>
                <a:latin typeface="Arial"/>
              </a:defRPr>
            </a:pPr>
            <a:r>
              <a:rPr/>
              <a:t>PK id : Integer</a:t>
            </a:r>
            <a:br>
              <a:rPr/>
            </a:br>
            <a:r>
              <a:rPr/>
              <a:t>FK scheduled_procedure_id : Integer</a:t>
            </a:r>
            <a:br>
              <a:rPr/>
            </a:br>
            <a:r>
              <a:rPr/>
              <a:t>readiness_percentage : Float</a:t>
            </a:r>
            <a:br>
              <a:rPr/>
            </a:br>
            <a:r>
              <a:rPr/>
              <a:t>readiness_status : String</a:t>
            </a:r>
            <a:endParaRPr/>
          </a:p>
        </p:txBody>
      </p:sp>
      <p:sp>
        <p:nvSpPr>
          <p:cNvPr id="1556372392" name="Rectangle 20"/>
          <p:cNvSpPr/>
          <p:nvPr/>
        </p:nvSpPr>
        <p:spPr bwMode="auto">
          <a:xfrm>
            <a:off x="6217920" y="5486400"/>
            <a:ext cx="2651760" cy="292608"/>
          </a:xfrm>
          <a:prstGeom prst="rect">
            <a:avLst/>
          </a:prstGeom>
          <a:solidFill>
            <a:srgbClr val="182B49"/>
          </a:solidFill>
          <a:ln w="19050">
            <a:solidFill>
              <a:srgbClr val="182B49"/>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000" b="1">
                <a:solidFill>
                  <a:srgbClr val="FFFFFF"/>
                </a:solidFill>
                <a:latin typeface="Arial"/>
              </a:defRPr>
            </a:pPr>
            <a:r>
              <a:rPr/>
              <a:t>RiskAlert</a:t>
            </a:r>
            <a:endParaRPr/>
          </a:p>
        </p:txBody>
      </p:sp>
      <p:sp>
        <p:nvSpPr>
          <p:cNvPr id="1169729483" name="Rectangle 21"/>
          <p:cNvSpPr/>
          <p:nvPr/>
        </p:nvSpPr>
        <p:spPr bwMode="auto">
          <a:xfrm>
            <a:off x="6217920" y="5779008"/>
            <a:ext cx="2651760" cy="960120"/>
          </a:xfrm>
          <a:prstGeom prst="rect">
            <a:avLst/>
          </a:prstGeom>
          <a:solidFill>
            <a:srgbClr val="FFFFFF"/>
          </a:solidFill>
          <a:ln w="19050">
            <a:solidFill>
              <a:srgbClr val="182B49"/>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defRPr sz="800" b="0">
                <a:solidFill>
                  <a:srgbClr val="212529"/>
                </a:solidFill>
                <a:latin typeface="Arial"/>
              </a:defRPr>
            </a:pPr>
            <a:r>
              <a:rPr/>
              <a:t>PK id : Integer</a:t>
            </a:r>
            <a:br>
              <a:rPr/>
            </a:br>
            <a:r>
              <a:rPr/>
              <a:t>FK scheduled_procedure_id : Integer</a:t>
            </a:r>
            <a:br>
              <a:rPr/>
            </a:br>
            <a:r>
              <a:rPr/>
              <a:t>alert_code : String</a:t>
            </a:r>
            <a:br>
              <a:rPr/>
            </a:br>
            <a:r>
              <a:rPr/>
              <a:t>description : Text</a:t>
            </a:r>
            <a:br>
              <a:rPr/>
            </a:br>
            <a:r>
              <a:rPr/>
              <a:t>is_resolved : Boolean</a:t>
            </a:r>
            <a:endParaRPr/>
          </a:p>
        </p:txBody>
      </p:sp>
      <p:sp>
        <p:nvSpPr>
          <p:cNvPr id="576208171" name="Rectangle 22"/>
          <p:cNvSpPr/>
          <p:nvPr/>
        </p:nvSpPr>
        <p:spPr bwMode="auto">
          <a:xfrm>
            <a:off x="3108960" y="1822450"/>
            <a:ext cx="3108960" cy="12700"/>
          </a:xfrm>
          <a:prstGeom prst="rect">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11240380" name="TextBox 23"/>
          <p:cNvSpPr txBox="1"/>
          <p:nvPr/>
        </p:nvSpPr>
        <p:spPr bwMode="auto">
          <a:xfrm>
            <a:off x="3154680" y="1554480"/>
            <a:ext cx="457200" cy="274320"/>
          </a:xfrm>
          <a:prstGeom prst="rect">
            <a:avLst/>
          </a:prstGeom>
          <a:noFill/>
        </p:spPr>
        <p:txBody>
          <a:bodyPr wrap="none">
            <a:spAutoFit/>
          </a:bodyPr>
          <a:lstStyle/>
          <a:p>
            <a:pPr>
              <a:defRPr/>
            </a:pPr>
            <a:r>
              <a:rPr/>
              <a:t>1..*</a:t>
            </a:r>
            <a:endParaRPr/>
          </a:p>
        </p:txBody>
      </p:sp>
      <p:sp>
        <p:nvSpPr>
          <p:cNvPr id="1211394493" name="TextBox 24"/>
          <p:cNvSpPr txBox="1"/>
          <p:nvPr/>
        </p:nvSpPr>
        <p:spPr bwMode="auto">
          <a:xfrm>
            <a:off x="5897880" y="1554480"/>
            <a:ext cx="457200" cy="274320"/>
          </a:xfrm>
          <a:prstGeom prst="rect">
            <a:avLst/>
          </a:prstGeom>
          <a:noFill/>
        </p:spPr>
        <p:txBody>
          <a:bodyPr wrap="none">
            <a:spAutoFit/>
          </a:bodyPr>
          <a:lstStyle/>
          <a:p>
            <a:pPr>
              <a:defRPr/>
            </a:pPr>
            <a:r>
              <a:rPr/>
              <a:t>1..*</a:t>
            </a:r>
            <a:endParaRPr/>
          </a:p>
        </p:txBody>
      </p:sp>
      <p:sp>
        <p:nvSpPr>
          <p:cNvPr id="1356653756" name="Rectangle 25"/>
          <p:cNvSpPr/>
          <p:nvPr/>
        </p:nvSpPr>
        <p:spPr bwMode="auto">
          <a:xfrm>
            <a:off x="5989320" y="1822450"/>
            <a:ext cx="228600" cy="12700"/>
          </a:xfrm>
          <a:prstGeom prst="rect">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14561698" name="TextBox 26"/>
          <p:cNvSpPr txBox="1"/>
          <p:nvPr/>
        </p:nvSpPr>
        <p:spPr bwMode="auto">
          <a:xfrm>
            <a:off x="5806440" y="1554480"/>
            <a:ext cx="457200" cy="274320"/>
          </a:xfrm>
          <a:prstGeom prst="rect">
            <a:avLst/>
          </a:prstGeom>
          <a:noFill/>
        </p:spPr>
        <p:txBody>
          <a:bodyPr wrap="none">
            <a:spAutoFit/>
          </a:bodyPr>
          <a:lstStyle/>
          <a:p>
            <a:pPr>
              <a:defRPr/>
            </a:pPr>
            <a:r>
              <a:rPr/>
              <a:t>1..*</a:t>
            </a:r>
            <a:endParaRPr/>
          </a:p>
        </p:txBody>
      </p:sp>
      <p:sp>
        <p:nvSpPr>
          <p:cNvPr id="570377737" name="Rectangle 27"/>
          <p:cNvSpPr/>
          <p:nvPr/>
        </p:nvSpPr>
        <p:spPr bwMode="auto">
          <a:xfrm>
            <a:off x="8869680" y="1822450"/>
            <a:ext cx="228600" cy="12700"/>
          </a:xfrm>
          <a:prstGeom prst="rect">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96980127" name="TextBox 28"/>
          <p:cNvSpPr txBox="1"/>
          <p:nvPr/>
        </p:nvSpPr>
        <p:spPr bwMode="auto">
          <a:xfrm>
            <a:off x="8686800" y="1554480"/>
            <a:ext cx="457200" cy="274320"/>
          </a:xfrm>
          <a:prstGeom prst="rect">
            <a:avLst/>
          </a:prstGeom>
          <a:noFill/>
        </p:spPr>
        <p:txBody>
          <a:bodyPr wrap="none">
            <a:spAutoFit/>
          </a:bodyPr>
          <a:lstStyle/>
          <a:p>
            <a:pPr>
              <a:defRPr/>
            </a:pPr>
            <a:r>
              <a:rPr/>
              <a:t>1</a:t>
            </a:r>
            <a:endParaRPr/>
          </a:p>
        </p:txBody>
      </p:sp>
      <p:sp>
        <p:nvSpPr>
          <p:cNvPr id="1522670676" name="TextBox 29"/>
          <p:cNvSpPr txBox="1"/>
          <p:nvPr/>
        </p:nvSpPr>
        <p:spPr bwMode="auto">
          <a:xfrm>
            <a:off x="8915400" y="1554480"/>
            <a:ext cx="457200" cy="274320"/>
          </a:xfrm>
          <a:prstGeom prst="rect">
            <a:avLst/>
          </a:prstGeom>
          <a:noFill/>
        </p:spPr>
        <p:txBody>
          <a:bodyPr wrap="none">
            <a:spAutoFit/>
          </a:bodyPr>
          <a:lstStyle/>
          <a:p>
            <a:pPr>
              <a:defRPr/>
            </a:pPr>
            <a:r>
              <a:rPr/>
              <a:t>1..*</a:t>
            </a:r>
            <a:endParaRPr/>
          </a:p>
        </p:txBody>
      </p:sp>
      <p:sp>
        <p:nvSpPr>
          <p:cNvPr id="1441570690" name="Rectangle 30"/>
          <p:cNvSpPr/>
          <p:nvPr/>
        </p:nvSpPr>
        <p:spPr bwMode="auto">
          <a:xfrm>
            <a:off x="10417810" y="2651760"/>
            <a:ext cx="12700" cy="1188720"/>
          </a:xfrm>
          <a:prstGeom prst="rect">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81050711" name="TextBox 31"/>
          <p:cNvSpPr txBox="1"/>
          <p:nvPr/>
        </p:nvSpPr>
        <p:spPr bwMode="auto">
          <a:xfrm>
            <a:off x="10469880" y="2697480"/>
            <a:ext cx="457200" cy="274320"/>
          </a:xfrm>
          <a:prstGeom prst="rect">
            <a:avLst/>
          </a:prstGeom>
          <a:noFill/>
        </p:spPr>
        <p:txBody>
          <a:bodyPr wrap="none">
            <a:spAutoFit/>
          </a:bodyPr>
          <a:lstStyle/>
          <a:p>
            <a:pPr>
              <a:defRPr/>
            </a:pPr>
            <a:r>
              <a:rPr/>
              <a:t>1</a:t>
            </a:r>
            <a:endParaRPr/>
          </a:p>
        </p:txBody>
      </p:sp>
      <p:sp>
        <p:nvSpPr>
          <p:cNvPr id="275165451" name="TextBox 32"/>
          <p:cNvSpPr txBox="1"/>
          <p:nvPr/>
        </p:nvSpPr>
        <p:spPr bwMode="auto">
          <a:xfrm>
            <a:off x="10469880" y="3566160"/>
            <a:ext cx="457200" cy="274320"/>
          </a:xfrm>
          <a:prstGeom prst="rect">
            <a:avLst/>
          </a:prstGeom>
          <a:noFill/>
        </p:spPr>
        <p:txBody>
          <a:bodyPr wrap="none">
            <a:spAutoFit/>
          </a:bodyPr>
          <a:lstStyle/>
          <a:p>
            <a:pPr>
              <a:defRPr/>
            </a:pPr>
            <a:r>
              <a:rPr/>
              <a:t>0..1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37376734"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Use Case Diagram</a:t>
            </a:r>
            <a:endParaRPr/>
          </a:p>
        </p:txBody>
      </p:sp>
      <p:sp>
        <p:nvSpPr>
          <p:cNvPr id="851601958" name="Oval 2"/>
          <p:cNvSpPr/>
          <p:nvPr/>
        </p:nvSpPr>
        <p:spPr bwMode="auto">
          <a:xfrm>
            <a:off x="1097280" y="2560320"/>
            <a:ext cx="365760" cy="365760"/>
          </a:xfrm>
          <a:prstGeom prst="ellipse">
            <a:avLst/>
          </a:prstGeom>
          <a:solidFill>
            <a:srgbClr val="2969B0"/>
          </a:solidFill>
          <a:ln>
            <a:solidFill>
              <a:srgbClr val="2969B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03782875" name="Rectangle 3"/>
          <p:cNvSpPr/>
          <p:nvPr/>
        </p:nvSpPr>
        <p:spPr bwMode="auto">
          <a:xfrm>
            <a:off x="1261872" y="2926080"/>
            <a:ext cx="36576" cy="548640"/>
          </a:xfrm>
          <a:prstGeom prst="rect">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12897145" name="Rectangle 4"/>
          <p:cNvSpPr/>
          <p:nvPr/>
        </p:nvSpPr>
        <p:spPr bwMode="auto">
          <a:xfrm>
            <a:off x="1078992" y="3017519"/>
            <a:ext cx="402336" cy="36576"/>
          </a:xfrm>
          <a:prstGeom prst="rect">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30789648" name="Rectangle 5"/>
          <p:cNvSpPr/>
          <p:nvPr/>
        </p:nvSpPr>
        <p:spPr bwMode="auto">
          <a:xfrm rot="899999">
            <a:off x="1170432" y="3456432"/>
            <a:ext cx="36576" cy="457200"/>
          </a:xfrm>
          <a:prstGeom prst="rect">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34424907" name="Rectangle 6"/>
          <p:cNvSpPr/>
          <p:nvPr/>
        </p:nvSpPr>
        <p:spPr bwMode="auto">
          <a:xfrm rot="20700000">
            <a:off x="1353312" y="3456432"/>
            <a:ext cx="36576" cy="457200"/>
          </a:xfrm>
          <a:prstGeom prst="rect">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11669378" name="TextBox 7"/>
          <p:cNvSpPr txBox="1"/>
          <p:nvPr/>
        </p:nvSpPr>
        <p:spPr bwMode="auto">
          <a:xfrm>
            <a:off x="731520" y="3931920"/>
            <a:ext cx="1097280" cy="457200"/>
          </a:xfrm>
          <a:prstGeom prst="rect">
            <a:avLst/>
          </a:prstGeom>
          <a:noFill/>
        </p:spPr>
        <p:txBody>
          <a:bodyPr wrap="none">
            <a:spAutoFit/>
          </a:bodyPr>
          <a:lstStyle/>
          <a:p>
            <a:pPr algn="ctr">
              <a:defRPr sz="1300" b="1">
                <a:solidFill>
                  <a:srgbClr val="182B49"/>
                </a:solidFill>
              </a:defRPr>
            </a:pPr>
            <a:r>
              <a:rPr/>
              <a:t>DOCTOR</a:t>
            </a:r>
            <a:endParaRPr/>
          </a:p>
        </p:txBody>
      </p:sp>
      <p:sp>
        <p:nvSpPr>
          <p:cNvPr id="1524741380" name="Oval 8"/>
          <p:cNvSpPr/>
          <p:nvPr/>
        </p:nvSpPr>
        <p:spPr bwMode="auto">
          <a:xfrm>
            <a:off x="10725912" y="2560320"/>
            <a:ext cx="365760" cy="365760"/>
          </a:xfrm>
          <a:prstGeom prst="ellipse">
            <a:avLst/>
          </a:prstGeom>
          <a:solidFill>
            <a:srgbClr val="2969B0"/>
          </a:solidFill>
          <a:ln>
            <a:solidFill>
              <a:srgbClr val="2969B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76070519" name="Rectangle 9"/>
          <p:cNvSpPr/>
          <p:nvPr/>
        </p:nvSpPr>
        <p:spPr bwMode="auto">
          <a:xfrm>
            <a:off x="10890504" y="2926080"/>
            <a:ext cx="36576" cy="548640"/>
          </a:xfrm>
          <a:prstGeom prst="rect">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46612992" name="Rectangle 10"/>
          <p:cNvSpPr/>
          <p:nvPr/>
        </p:nvSpPr>
        <p:spPr bwMode="auto">
          <a:xfrm>
            <a:off x="10707624" y="3017519"/>
            <a:ext cx="402336" cy="36576"/>
          </a:xfrm>
          <a:prstGeom prst="rect">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06311198" name="Rectangle 11"/>
          <p:cNvSpPr/>
          <p:nvPr/>
        </p:nvSpPr>
        <p:spPr bwMode="auto">
          <a:xfrm rot="899999">
            <a:off x="10799064" y="3456432"/>
            <a:ext cx="36576" cy="457200"/>
          </a:xfrm>
          <a:prstGeom prst="rect">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1643981" name="Rectangle 12"/>
          <p:cNvSpPr/>
          <p:nvPr/>
        </p:nvSpPr>
        <p:spPr bwMode="auto">
          <a:xfrm rot="20700000">
            <a:off x="10981943" y="3456432"/>
            <a:ext cx="36576" cy="457200"/>
          </a:xfrm>
          <a:prstGeom prst="rect">
            <a:avLst/>
          </a:prstGeom>
          <a:solidFill>
            <a:srgbClr val="29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81166276" name="TextBox 13"/>
          <p:cNvSpPr txBox="1"/>
          <p:nvPr/>
        </p:nvSpPr>
        <p:spPr bwMode="auto">
          <a:xfrm>
            <a:off x="10360152" y="3931920"/>
            <a:ext cx="1097280" cy="457200"/>
          </a:xfrm>
          <a:prstGeom prst="rect">
            <a:avLst/>
          </a:prstGeom>
          <a:noFill/>
        </p:spPr>
        <p:txBody>
          <a:bodyPr wrap="none">
            <a:spAutoFit/>
          </a:bodyPr>
          <a:lstStyle/>
          <a:p>
            <a:pPr algn="ctr">
              <a:defRPr sz="1300" b="1">
                <a:solidFill>
                  <a:srgbClr val="182B49"/>
                </a:solidFill>
              </a:defRPr>
            </a:pPr>
            <a:r>
              <a:rPr/>
              <a:t>PATIENT</a:t>
            </a:r>
            <a:endParaRPr/>
          </a:p>
        </p:txBody>
      </p:sp>
      <p:sp>
        <p:nvSpPr>
          <p:cNvPr id="1648536564" name="Rectangle 14"/>
          <p:cNvSpPr/>
          <p:nvPr/>
        </p:nvSpPr>
        <p:spPr bwMode="auto">
          <a:xfrm>
            <a:off x="2286000" y="1280160"/>
            <a:ext cx="7616952" cy="5120640"/>
          </a:xfrm>
          <a:prstGeom prst="rect">
            <a:avLst/>
          </a:prstGeom>
          <a:solidFill>
            <a:srgbClr val="FFFFFF"/>
          </a:solidFill>
          <a:ln w="19050">
            <a:solidFill>
              <a:srgbClr val="6C757D"/>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defRPr sz="1000" b="0">
                <a:solidFill>
                  <a:srgbClr val="6C757D"/>
                </a:solidFill>
                <a:latin typeface="Arial"/>
              </a:defRPr>
            </a:pPr>
            <a:endParaRPr/>
          </a:p>
        </p:txBody>
      </p:sp>
      <p:sp>
        <p:nvSpPr>
          <p:cNvPr id="1254688391" name="Oval 15"/>
          <p:cNvSpPr/>
          <p:nvPr/>
        </p:nvSpPr>
        <p:spPr bwMode="auto">
          <a:xfrm>
            <a:off x="2743200" y="1572768"/>
            <a:ext cx="2560320" cy="365760"/>
          </a:xfrm>
          <a:prstGeom prst="ellipse">
            <a:avLst/>
          </a:prstGeom>
          <a:solidFill>
            <a:srgbClr val="DCEB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850" b="1">
                <a:solidFill>
                  <a:srgbClr val="212529"/>
                </a:solidFill>
                <a:latin typeface="Arial"/>
              </a:defRPr>
            </a:pPr>
            <a:r>
              <a:rPr/>
              <a:t>Login</a:t>
            </a:r>
            <a:endParaRPr/>
          </a:p>
        </p:txBody>
      </p:sp>
      <p:sp>
        <p:nvSpPr>
          <p:cNvPr id="1318103190" name="Rectangle 16"/>
          <p:cNvSpPr/>
          <p:nvPr/>
        </p:nvSpPr>
        <p:spPr bwMode="auto">
          <a:xfrm>
            <a:off x="1639570" y="1737360"/>
            <a:ext cx="12700" cy="173736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41643487" name="Oval 17"/>
          <p:cNvSpPr/>
          <p:nvPr/>
        </p:nvSpPr>
        <p:spPr bwMode="auto">
          <a:xfrm>
            <a:off x="2743200" y="2075688"/>
            <a:ext cx="2560320" cy="365760"/>
          </a:xfrm>
          <a:prstGeom prst="ellipse">
            <a:avLst/>
          </a:prstGeom>
          <a:solidFill>
            <a:srgbClr val="DCEB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850" b="1">
                <a:solidFill>
                  <a:srgbClr val="212529"/>
                </a:solidFill>
                <a:latin typeface="Arial"/>
              </a:defRPr>
            </a:pPr>
            <a:r>
              <a:rPr/>
              <a:t>Schedule Procedure</a:t>
            </a:r>
            <a:endParaRPr/>
          </a:p>
        </p:txBody>
      </p:sp>
      <p:sp>
        <p:nvSpPr>
          <p:cNvPr id="513616261" name="Rectangle 18"/>
          <p:cNvSpPr/>
          <p:nvPr/>
        </p:nvSpPr>
        <p:spPr bwMode="auto">
          <a:xfrm>
            <a:off x="1639570" y="2240280"/>
            <a:ext cx="12700" cy="123444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89049124" name="Oval 19"/>
          <p:cNvSpPr/>
          <p:nvPr/>
        </p:nvSpPr>
        <p:spPr bwMode="auto">
          <a:xfrm>
            <a:off x="2743200" y="2578608"/>
            <a:ext cx="2560320" cy="365760"/>
          </a:xfrm>
          <a:prstGeom prst="ellipse">
            <a:avLst/>
          </a:prstGeom>
          <a:solidFill>
            <a:srgbClr val="DCEB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850" b="1">
                <a:solidFill>
                  <a:srgbClr val="212529"/>
                </a:solidFill>
                <a:latin typeface="Arial"/>
              </a:defRPr>
            </a:pPr>
            <a:r>
              <a:rPr/>
              <a:t>Manage Checklist</a:t>
            </a:r>
            <a:endParaRPr/>
          </a:p>
        </p:txBody>
      </p:sp>
      <p:sp>
        <p:nvSpPr>
          <p:cNvPr id="459603396" name="Rectangle 20"/>
          <p:cNvSpPr/>
          <p:nvPr/>
        </p:nvSpPr>
        <p:spPr bwMode="auto">
          <a:xfrm>
            <a:off x="1645920" y="3468370"/>
            <a:ext cx="1097280" cy="1270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12119495" name="Oval 21"/>
          <p:cNvSpPr/>
          <p:nvPr/>
        </p:nvSpPr>
        <p:spPr bwMode="auto">
          <a:xfrm>
            <a:off x="2743200" y="3081527"/>
            <a:ext cx="2560320" cy="365760"/>
          </a:xfrm>
          <a:prstGeom prst="ellipse">
            <a:avLst/>
          </a:prstGeom>
          <a:solidFill>
            <a:srgbClr val="DCEB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850" b="1">
                <a:solidFill>
                  <a:srgbClr val="212529"/>
                </a:solidFill>
                <a:latin typeface="Arial"/>
              </a:defRPr>
            </a:pPr>
            <a:r>
              <a:rPr/>
              <a:t>View Reports</a:t>
            </a:r>
            <a:endParaRPr/>
          </a:p>
        </p:txBody>
      </p:sp>
      <p:sp>
        <p:nvSpPr>
          <p:cNvPr id="1250766856" name="Rectangle 22"/>
          <p:cNvSpPr/>
          <p:nvPr/>
        </p:nvSpPr>
        <p:spPr bwMode="auto">
          <a:xfrm>
            <a:off x="1645920" y="3468370"/>
            <a:ext cx="1097280" cy="1270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89321956" name="Oval 23"/>
          <p:cNvSpPr/>
          <p:nvPr/>
        </p:nvSpPr>
        <p:spPr bwMode="auto">
          <a:xfrm>
            <a:off x="2743200" y="3584447"/>
            <a:ext cx="2560320" cy="365760"/>
          </a:xfrm>
          <a:prstGeom prst="ellipse">
            <a:avLst/>
          </a:prstGeom>
          <a:solidFill>
            <a:srgbClr val="DCEB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850" b="1">
                <a:solidFill>
                  <a:srgbClr val="212529"/>
                </a:solidFill>
                <a:latin typeface="Arial"/>
              </a:defRPr>
            </a:pPr>
            <a:r>
              <a:rPr/>
              <a:t>Verify Reports</a:t>
            </a:r>
            <a:endParaRPr/>
          </a:p>
        </p:txBody>
      </p:sp>
      <p:sp>
        <p:nvSpPr>
          <p:cNvPr id="1198154688" name="Rectangle 24"/>
          <p:cNvSpPr/>
          <p:nvPr/>
        </p:nvSpPr>
        <p:spPr bwMode="auto">
          <a:xfrm>
            <a:off x="1645920" y="3468370"/>
            <a:ext cx="1097280" cy="1270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88267997" name="Oval 25"/>
          <p:cNvSpPr/>
          <p:nvPr/>
        </p:nvSpPr>
        <p:spPr bwMode="auto">
          <a:xfrm>
            <a:off x="2743200" y="4087368"/>
            <a:ext cx="2560320" cy="365760"/>
          </a:xfrm>
          <a:prstGeom prst="ellipse">
            <a:avLst/>
          </a:prstGeom>
          <a:solidFill>
            <a:srgbClr val="DCEB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850" b="1">
                <a:solidFill>
                  <a:srgbClr val="212529"/>
                </a:solidFill>
                <a:latin typeface="Arial"/>
              </a:defRPr>
            </a:pPr>
            <a:r>
              <a:rPr/>
              <a:t>View Patient Vitals</a:t>
            </a:r>
            <a:endParaRPr/>
          </a:p>
        </p:txBody>
      </p:sp>
      <p:sp>
        <p:nvSpPr>
          <p:cNvPr id="2146753061" name="Rectangle 26"/>
          <p:cNvSpPr/>
          <p:nvPr/>
        </p:nvSpPr>
        <p:spPr bwMode="auto">
          <a:xfrm>
            <a:off x="1645920" y="3468370"/>
            <a:ext cx="1097280" cy="1270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4157842" name="Oval 27"/>
          <p:cNvSpPr/>
          <p:nvPr/>
        </p:nvSpPr>
        <p:spPr bwMode="auto">
          <a:xfrm>
            <a:off x="2743200" y="4590288"/>
            <a:ext cx="2560320" cy="365760"/>
          </a:xfrm>
          <a:prstGeom prst="ellipse">
            <a:avLst/>
          </a:prstGeom>
          <a:solidFill>
            <a:srgbClr val="DCEB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850" b="1">
                <a:solidFill>
                  <a:srgbClr val="212529"/>
                </a:solidFill>
                <a:latin typeface="Arial"/>
              </a:defRPr>
            </a:pPr>
            <a:r>
              <a:rPr/>
              <a:t>Check Risk Alerts</a:t>
            </a:r>
            <a:endParaRPr/>
          </a:p>
        </p:txBody>
      </p:sp>
      <p:sp>
        <p:nvSpPr>
          <p:cNvPr id="1286886836" name="Rectangle 28"/>
          <p:cNvSpPr/>
          <p:nvPr/>
        </p:nvSpPr>
        <p:spPr bwMode="auto">
          <a:xfrm>
            <a:off x="1639570" y="3474720"/>
            <a:ext cx="12700" cy="128016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12528044" name="Oval 29"/>
          <p:cNvSpPr/>
          <p:nvPr/>
        </p:nvSpPr>
        <p:spPr bwMode="auto">
          <a:xfrm>
            <a:off x="2743200" y="5093208"/>
            <a:ext cx="2560320" cy="365760"/>
          </a:xfrm>
          <a:prstGeom prst="ellipse">
            <a:avLst/>
          </a:prstGeom>
          <a:solidFill>
            <a:srgbClr val="DCEB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850" b="1">
                <a:solidFill>
                  <a:srgbClr val="212529"/>
                </a:solidFill>
                <a:latin typeface="Arial"/>
              </a:defRPr>
            </a:pPr>
            <a:r>
              <a:rPr/>
              <a:t>Monitor Readiness</a:t>
            </a:r>
            <a:endParaRPr/>
          </a:p>
        </p:txBody>
      </p:sp>
      <p:sp>
        <p:nvSpPr>
          <p:cNvPr id="75500347" name="Rectangle 30"/>
          <p:cNvSpPr/>
          <p:nvPr/>
        </p:nvSpPr>
        <p:spPr bwMode="auto">
          <a:xfrm>
            <a:off x="1639570" y="3474720"/>
            <a:ext cx="12700" cy="178308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49475369" name="Oval 31"/>
          <p:cNvSpPr/>
          <p:nvPr/>
        </p:nvSpPr>
        <p:spPr bwMode="auto">
          <a:xfrm>
            <a:off x="2743200" y="5596128"/>
            <a:ext cx="2560320" cy="365760"/>
          </a:xfrm>
          <a:prstGeom prst="ellipse">
            <a:avLst/>
          </a:prstGeom>
          <a:solidFill>
            <a:srgbClr val="DCEB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850" b="1">
                <a:solidFill>
                  <a:srgbClr val="212529"/>
                </a:solidFill>
                <a:latin typeface="Arial"/>
              </a:defRPr>
            </a:pPr>
            <a:r>
              <a:rPr/>
              <a:t>Send Patient Message</a:t>
            </a:r>
            <a:endParaRPr/>
          </a:p>
        </p:txBody>
      </p:sp>
      <p:sp>
        <p:nvSpPr>
          <p:cNvPr id="311954931" name="Rectangle 32"/>
          <p:cNvSpPr/>
          <p:nvPr/>
        </p:nvSpPr>
        <p:spPr bwMode="auto">
          <a:xfrm>
            <a:off x="1639570" y="3474720"/>
            <a:ext cx="12700" cy="228600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46603582" name="Oval 33"/>
          <p:cNvSpPr/>
          <p:nvPr/>
        </p:nvSpPr>
        <p:spPr bwMode="auto">
          <a:xfrm>
            <a:off x="2743200" y="6099048"/>
            <a:ext cx="2560320" cy="365760"/>
          </a:xfrm>
          <a:prstGeom prst="ellipse">
            <a:avLst/>
          </a:prstGeom>
          <a:solidFill>
            <a:srgbClr val="DCEBFC"/>
          </a:solidFill>
          <a:ln w="19050">
            <a:solidFill>
              <a:srgbClr val="2969B0"/>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850" b="1">
                <a:solidFill>
                  <a:srgbClr val="212529"/>
                </a:solidFill>
                <a:latin typeface="Arial"/>
              </a:defRPr>
            </a:pPr>
            <a:r>
              <a:rPr/>
              <a:t>View Clinical Reports</a:t>
            </a:r>
            <a:endParaRPr/>
          </a:p>
        </p:txBody>
      </p:sp>
      <p:sp>
        <p:nvSpPr>
          <p:cNvPr id="553147876" name="Rectangle 34"/>
          <p:cNvSpPr/>
          <p:nvPr/>
        </p:nvSpPr>
        <p:spPr bwMode="auto">
          <a:xfrm>
            <a:off x="1639570" y="3474720"/>
            <a:ext cx="12700" cy="2788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84289504" name="Oval 35"/>
          <p:cNvSpPr/>
          <p:nvPr/>
        </p:nvSpPr>
        <p:spPr bwMode="auto">
          <a:xfrm>
            <a:off x="6858000" y="1572768"/>
            <a:ext cx="2560320" cy="365760"/>
          </a:xfrm>
          <a:prstGeom prst="ellipse">
            <a:avLst/>
          </a:prstGeom>
          <a:solidFill>
            <a:srgbClr val="FFEBD7"/>
          </a:solidFill>
          <a:ln w="19050">
            <a:solidFill>
              <a:srgbClr val="F58220"/>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850" b="1">
                <a:solidFill>
                  <a:srgbClr val="212529"/>
                </a:solidFill>
                <a:latin typeface="Arial"/>
              </a:defRPr>
            </a:pPr>
            <a:r>
              <a:rPr/>
              <a:t>Login</a:t>
            </a:r>
            <a:endParaRPr/>
          </a:p>
        </p:txBody>
      </p:sp>
      <p:sp>
        <p:nvSpPr>
          <p:cNvPr id="2038642413" name="Rectangle 36"/>
          <p:cNvSpPr/>
          <p:nvPr/>
        </p:nvSpPr>
        <p:spPr bwMode="auto">
          <a:xfrm>
            <a:off x="10353802" y="1737360"/>
            <a:ext cx="12700" cy="173736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19745846" name="Oval 37"/>
          <p:cNvSpPr/>
          <p:nvPr/>
        </p:nvSpPr>
        <p:spPr bwMode="auto">
          <a:xfrm>
            <a:off x="6858000" y="2075688"/>
            <a:ext cx="2560320" cy="365760"/>
          </a:xfrm>
          <a:prstGeom prst="ellipse">
            <a:avLst/>
          </a:prstGeom>
          <a:solidFill>
            <a:srgbClr val="FFEBD7"/>
          </a:solidFill>
          <a:ln w="19050">
            <a:solidFill>
              <a:srgbClr val="F58220"/>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850" b="1">
                <a:solidFill>
                  <a:srgbClr val="212529"/>
                </a:solidFill>
                <a:latin typeface="Arial"/>
              </a:defRPr>
            </a:pPr>
            <a:r>
              <a:rPr/>
              <a:t>View Procedure</a:t>
            </a:r>
            <a:endParaRPr/>
          </a:p>
        </p:txBody>
      </p:sp>
      <p:sp>
        <p:nvSpPr>
          <p:cNvPr id="502646240" name="Rectangle 38"/>
          <p:cNvSpPr/>
          <p:nvPr/>
        </p:nvSpPr>
        <p:spPr bwMode="auto">
          <a:xfrm>
            <a:off x="10353802" y="2240280"/>
            <a:ext cx="12700" cy="123444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56605371" name="Oval 39"/>
          <p:cNvSpPr/>
          <p:nvPr/>
        </p:nvSpPr>
        <p:spPr bwMode="auto">
          <a:xfrm>
            <a:off x="6858000" y="2578608"/>
            <a:ext cx="2560320" cy="365760"/>
          </a:xfrm>
          <a:prstGeom prst="ellipse">
            <a:avLst/>
          </a:prstGeom>
          <a:solidFill>
            <a:srgbClr val="FFEBD7"/>
          </a:solidFill>
          <a:ln w="19050">
            <a:solidFill>
              <a:srgbClr val="F58220"/>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850" b="1">
                <a:solidFill>
                  <a:srgbClr val="212529"/>
                </a:solidFill>
                <a:latin typeface="Arial"/>
              </a:defRPr>
            </a:pPr>
            <a:r>
              <a:rPr/>
              <a:t>View Checklist</a:t>
            </a:r>
            <a:endParaRPr/>
          </a:p>
        </p:txBody>
      </p:sp>
      <p:sp>
        <p:nvSpPr>
          <p:cNvPr id="452545344" name="Rectangle 40"/>
          <p:cNvSpPr/>
          <p:nvPr/>
        </p:nvSpPr>
        <p:spPr bwMode="auto">
          <a:xfrm>
            <a:off x="9418320" y="3468370"/>
            <a:ext cx="941832" cy="1270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0790737" name="Oval 41"/>
          <p:cNvSpPr/>
          <p:nvPr/>
        </p:nvSpPr>
        <p:spPr bwMode="auto">
          <a:xfrm>
            <a:off x="6858000" y="3081527"/>
            <a:ext cx="2560320" cy="365760"/>
          </a:xfrm>
          <a:prstGeom prst="ellipse">
            <a:avLst/>
          </a:prstGeom>
          <a:solidFill>
            <a:srgbClr val="FFEBD7"/>
          </a:solidFill>
          <a:ln w="19050">
            <a:solidFill>
              <a:srgbClr val="F58220"/>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850" b="1">
                <a:solidFill>
                  <a:srgbClr val="212529"/>
                </a:solidFill>
                <a:latin typeface="Arial"/>
              </a:defRPr>
            </a:pPr>
            <a:r>
              <a:rPr/>
              <a:t>Complete Checklist</a:t>
            </a:r>
            <a:endParaRPr/>
          </a:p>
        </p:txBody>
      </p:sp>
      <p:sp>
        <p:nvSpPr>
          <p:cNvPr id="1089839697" name="Rectangle 42"/>
          <p:cNvSpPr/>
          <p:nvPr/>
        </p:nvSpPr>
        <p:spPr bwMode="auto">
          <a:xfrm>
            <a:off x="9418320" y="3468370"/>
            <a:ext cx="941832" cy="1270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34265726" name="Oval 43"/>
          <p:cNvSpPr/>
          <p:nvPr/>
        </p:nvSpPr>
        <p:spPr bwMode="auto">
          <a:xfrm>
            <a:off x="6858000" y="3584447"/>
            <a:ext cx="2560320" cy="365760"/>
          </a:xfrm>
          <a:prstGeom prst="ellipse">
            <a:avLst/>
          </a:prstGeom>
          <a:solidFill>
            <a:srgbClr val="FFEBD7"/>
          </a:solidFill>
          <a:ln w="19050">
            <a:solidFill>
              <a:srgbClr val="F58220"/>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850" b="1">
                <a:solidFill>
                  <a:srgbClr val="212529"/>
                </a:solidFill>
                <a:latin typeface="Arial"/>
              </a:defRPr>
            </a:pPr>
            <a:r>
              <a:rPr/>
              <a:t>Upload Report</a:t>
            </a:r>
            <a:endParaRPr/>
          </a:p>
        </p:txBody>
      </p:sp>
      <p:sp>
        <p:nvSpPr>
          <p:cNvPr id="2141375497" name="Rectangle 44"/>
          <p:cNvSpPr/>
          <p:nvPr/>
        </p:nvSpPr>
        <p:spPr bwMode="auto">
          <a:xfrm>
            <a:off x="9418320" y="3468370"/>
            <a:ext cx="941832" cy="1270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09289862" name="Oval 45"/>
          <p:cNvSpPr/>
          <p:nvPr/>
        </p:nvSpPr>
        <p:spPr bwMode="auto">
          <a:xfrm>
            <a:off x="6858000" y="4087368"/>
            <a:ext cx="2560320" cy="365760"/>
          </a:xfrm>
          <a:prstGeom prst="ellipse">
            <a:avLst/>
          </a:prstGeom>
          <a:solidFill>
            <a:srgbClr val="FFEBD7"/>
          </a:solidFill>
          <a:ln w="19050">
            <a:solidFill>
              <a:srgbClr val="F58220"/>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850" b="1">
                <a:solidFill>
                  <a:srgbClr val="212529"/>
                </a:solidFill>
                <a:latin typeface="Arial"/>
              </a:defRPr>
            </a:pPr>
            <a:r>
              <a:rPr/>
              <a:t>Enter Vitals</a:t>
            </a:r>
            <a:endParaRPr/>
          </a:p>
        </p:txBody>
      </p:sp>
      <p:sp>
        <p:nvSpPr>
          <p:cNvPr id="478260315" name="Rectangle 46"/>
          <p:cNvSpPr/>
          <p:nvPr/>
        </p:nvSpPr>
        <p:spPr bwMode="auto">
          <a:xfrm>
            <a:off x="9418320" y="3468370"/>
            <a:ext cx="941832" cy="1270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03149043" name="Oval 47"/>
          <p:cNvSpPr/>
          <p:nvPr/>
        </p:nvSpPr>
        <p:spPr bwMode="auto">
          <a:xfrm>
            <a:off x="6858000" y="4590288"/>
            <a:ext cx="2560320" cy="365760"/>
          </a:xfrm>
          <a:prstGeom prst="ellipse">
            <a:avLst/>
          </a:prstGeom>
          <a:solidFill>
            <a:srgbClr val="FFEBD7"/>
          </a:solidFill>
          <a:ln w="19050">
            <a:solidFill>
              <a:srgbClr val="F58220"/>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850" b="1">
                <a:solidFill>
                  <a:srgbClr val="212529"/>
                </a:solidFill>
                <a:latin typeface="Arial"/>
              </a:defRPr>
            </a:pPr>
            <a:r>
              <a:rPr/>
              <a:t>View Risk Alerts</a:t>
            </a:r>
            <a:endParaRPr/>
          </a:p>
        </p:txBody>
      </p:sp>
      <p:sp>
        <p:nvSpPr>
          <p:cNvPr id="546172753" name="Rectangle 48"/>
          <p:cNvSpPr/>
          <p:nvPr/>
        </p:nvSpPr>
        <p:spPr bwMode="auto">
          <a:xfrm>
            <a:off x="10353802" y="3474720"/>
            <a:ext cx="12700" cy="128016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73460820" name="Oval 49"/>
          <p:cNvSpPr/>
          <p:nvPr/>
        </p:nvSpPr>
        <p:spPr bwMode="auto">
          <a:xfrm>
            <a:off x="6858000" y="5093208"/>
            <a:ext cx="2560320" cy="365760"/>
          </a:xfrm>
          <a:prstGeom prst="ellipse">
            <a:avLst/>
          </a:prstGeom>
          <a:solidFill>
            <a:srgbClr val="FFEBD7"/>
          </a:solidFill>
          <a:ln w="19050">
            <a:solidFill>
              <a:srgbClr val="F58220"/>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850" b="1">
                <a:solidFill>
                  <a:srgbClr val="212529"/>
                </a:solidFill>
                <a:latin typeface="Arial"/>
              </a:defRPr>
            </a:pPr>
            <a:r>
              <a:rPr/>
              <a:t>View Readiness</a:t>
            </a:r>
            <a:endParaRPr/>
          </a:p>
        </p:txBody>
      </p:sp>
      <p:sp>
        <p:nvSpPr>
          <p:cNvPr id="628285969" name="Rectangle 50"/>
          <p:cNvSpPr/>
          <p:nvPr/>
        </p:nvSpPr>
        <p:spPr bwMode="auto">
          <a:xfrm>
            <a:off x="10353802" y="3474720"/>
            <a:ext cx="12700" cy="178308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21407607" name="Oval 51"/>
          <p:cNvSpPr/>
          <p:nvPr/>
        </p:nvSpPr>
        <p:spPr bwMode="auto">
          <a:xfrm>
            <a:off x="6858000" y="5596128"/>
            <a:ext cx="2560320" cy="365760"/>
          </a:xfrm>
          <a:prstGeom prst="ellipse">
            <a:avLst/>
          </a:prstGeom>
          <a:solidFill>
            <a:srgbClr val="FFEBD7"/>
          </a:solidFill>
          <a:ln w="19050">
            <a:solidFill>
              <a:srgbClr val="F58220"/>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850" b="1">
                <a:solidFill>
                  <a:srgbClr val="212529"/>
                </a:solidFill>
                <a:latin typeface="Arial"/>
              </a:defRPr>
            </a:pPr>
            <a:r>
              <a:rPr/>
              <a:t>View Messages</a:t>
            </a:r>
            <a:endParaRPr/>
          </a:p>
        </p:txBody>
      </p:sp>
      <p:sp>
        <p:nvSpPr>
          <p:cNvPr id="1804258597" name="Rectangle 52"/>
          <p:cNvSpPr/>
          <p:nvPr/>
        </p:nvSpPr>
        <p:spPr bwMode="auto">
          <a:xfrm>
            <a:off x="10353802" y="3474720"/>
            <a:ext cx="12700" cy="228600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98199851"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User Login Form</a:t>
            </a:r>
            <a:endParaRPr/>
          </a:p>
        </p:txBody>
      </p:sp>
      <p:sp>
        <p:nvSpPr>
          <p:cNvPr id="927421851" name="TextBox 2"/>
          <p:cNvSpPr txBox="1"/>
          <p:nvPr/>
        </p:nvSpPr>
        <p:spPr bwMode="auto">
          <a:xfrm>
            <a:off x="685800" y="1051560"/>
            <a:ext cx="10817352" cy="365760"/>
          </a:xfrm>
          <a:prstGeom prst="rect">
            <a:avLst/>
          </a:prstGeom>
          <a:noFill/>
        </p:spPr>
        <p:txBody>
          <a:bodyPr wrap="none">
            <a:spAutoFit/>
          </a:bodyPr>
          <a:lstStyle/>
          <a:p>
            <a:pPr>
              <a:defRPr sz="1350">
                <a:solidFill>
                  <a:srgbClr val="212529"/>
                </a:solidFill>
                <a:latin typeface="Arial"/>
              </a:defRPr>
            </a:pPr>
            <a:r>
              <a:rPr/>
              <a:t>Secure role-based login for doctors and patients.</a:t>
            </a:r>
            <a:endParaRPr/>
          </a:p>
        </p:txBody>
      </p:sp>
      <p:sp>
        <p:nvSpPr>
          <p:cNvPr id="107255668" name="Rectangle 3"/>
          <p:cNvSpPr/>
          <p:nvPr/>
        </p:nvSpPr>
        <p:spPr bwMode="auto">
          <a:xfrm>
            <a:off x="1641347" y="1508759"/>
            <a:ext cx="8897112" cy="4846320"/>
          </a:xfrm>
          <a:prstGeom prst="rect">
            <a:avLst/>
          </a:prstGeom>
          <a:solidFill>
            <a:srgbClr val="FFFFFF"/>
          </a:solidFill>
          <a:ln w="19050">
            <a:solidFill>
              <a:srgbClr val="B4CD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41972076" name="TextBox 4"/>
          <p:cNvSpPr txBox="1"/>
          <p:nvPr/>
        </p:nvSpPr>
        <p:spPr bwMode="auto">
          <a:xfrm>
            <a:off x="2103120" y="1828800"/>
            <a:ext cx="2021687" cy="274679"/>
          </a:xfrm>
          <a:prstGeom prst="rect">
            <a:avLst/>
          </a:prstGeom>
          <a:noFill/>
        </p:spPr>
        <p:txBody>
          <a:bodyPr wrap="none">
            <a:spAutoFit/>
          </a:bodyPr>
          <a:lstStyle/>
          <a:p>
            <a:pPr>
              <a:defRPr sz="1200" b="1">
                <a:solidFill>
                  <a:srgbClr val="212529"/>
                </a:solidFill>
                <a:latin typeface="Arial"/>
              </a:defRPr>
            </a:pPr>
            <a:r>
              <a:rPr/>
              <a:t>Email Address/Username</a:t>
            </a:r>
            <a:endParaRPr/>
          </a:p>
        </p:txBody>
      </p:sp>
      <p:sp>
        <p:nvSpPr>
          <p:cNvPr id="877389144" name="Rounded Rectangle 5"/>
          <p:cNvSpPr/>
          <p:nvPr/>
        </p:nvSpPr>
        <p:spPr bwMode="auto">
          <a:xfrm>
            <a:off x="2103120" y="2103120"/>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priya.nair@mediprep.com</a:t>
            </a:r>
            <a:endParaRPr/>
          </a:p>
        </p:txBody>
      </p:sp>
      <p:sp>
        <p:nvSpPr>
          <p:cNvPr id="1113233046" name="TextBox 6"/>
          <p:cNvSpPr txBox="1"/>
          <p:nvPr/>
        </p:nvSpPr>
        <p:spPr bwMode="auto">
          <a:xfrm>
            <a:off x="6309360" y="1828800"/>
            <a:ext cx="3840480" cy="274320"/>
          </a:xfrm>
          <a:prstGeom prst="rect">
            <a:avLst/>
          </a:prstGeom>
          <a:noFill/>
        </p:spPr>
        <p:txBody>
          <a:bodyPr wrap="none">
            <a:spAutoFit/>
          </a:bodyPr>
          <a:lstStyle/>
          <a:p>
            <a:pPr>
              <a:defRPr sz="1200" b="1">
                <a:solidFill>
                  <a:srgbClr val="212529"/>
                </a:solidFill>
                <a:latin typeface="Arial"/>
              </a:defRPr>
            </a:pPr>
            <a:r>
              <a:rPr/>
              <a:t>Password</a:t>
            </a:r>
            <a:endParaRPr/>
          </a:p>
        </p:txBody>
      </p:sp>
      <p:sp>
        <p:nvSpPr>
          <p:cNvPr id="1449659858" name="Rounded Rectangle 7"/>
          <p:cNvSpPr/>
          <p:nvPr/>
        </p:nvSpPr>
        <p:spPr bwMode="auto">
          <a:xfrm>
            <a:off x="6309360" y="2103120"/>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a:t>
            </a:r>
            <a:endParaRPr/>
          </a:p>
        </p:txBody>
      </p:sp>
      <p:sp>
        <p:nvSpPr>
          <p:cNvPr id="1019947919" name="TextBox 8"/>
          <p:cNvSpPr txBox="1"/>
          <p:nvPr/>
        </p:nvSpPr>
        <p:spPr bwMode="auto">
          <a:xfrm>
            <a:off x="2103120" y="2743200"/>
            <a:ext cx="183636" cy="274679"/>
          </a:xfrm>
          <a:prstGeom prst="rect">
            <a:avLst/>
          </a:prstGeom>
          <a:noFill/>
        </p:spPr>
        <p:txBody>
          <a:bodyPr wrap="none">
            <a:spAutoFit/>
          </a:bodyPr>
          <a:lstStyle/>
          <a:p>
            <a:pPr>
              <a:defRPr sz="1200" b="1">
                <a:solidFill>
                  <a:srgbClr val="212529"/>
                </a:solidFill>
                <a:latin typeface="Arial"/>
              </a:defRPr>
            </a:pPr>
            <a:endParaRPr/>
          </a:p>
        </p:txBody>
      </p:sp>
      <p:sp>
        <p:nvSpPr>
          <p:cNvPr id="1379782897" name="TextBox 10"/>
          <p:cNvSpPr txBox="1"/>
          <p:nvPr/>
        </p:nvSpPr>
        <p:spPr bwMode="auto">
          <a:xfrm>
            <a:off x="6309360" y="2743200"/>
            <a:ext cx="183636" cy="274679"/>
          </a:xfrm>
          <a:prstGeom prst="rect">
            <a:avLst/>
          </a:prstGeom>
          <a:noFill/>
        </p:spPr>
        <p:txBody>
          <a:bodyPr wrap="none">
            <a:spAutoFit/>
          </a:bodyPr>
          <a:lstStyle/>
          <a:p>
            <a:pPr>
              <a:defRPr sz="1200" b="1">
                <a:solidFill>
                  <a:srgbClr val="212529"/>
                </a:solidFill>
                <a:latin typeface="Arial"/>
              </a:defRPr>
            </a:pPr>
            <a:endParaRPr/>
          </a:p>
        </p:txBody>
      </p:sp>
      <p:sp>
        <p:nvSpPr>
          <p:cNvPr id="736407887" name="Rounded Rectangle 12"/>
          <p:cNvSpPr/>
          <p:nvPr/>
        </p:nvSpPr>
        <p:spPr bwMode="auto">
          <a:xfrm>
            <a:off x="3803904" y="3931920"/>
            <a:ext cx="4572000" cy="502920"/>
          </a:xfrm>
          <a:prstGeom prst="roundRect">
            <a:avLst>
              <a:gd name="adj" fmla="val 16667"/>
            </a:avLst>
          </a:prstGeom>
          <a:solidFill>
            <a:srgbClr val="4B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rPr/>
              <a:t>LOGIN TO MEDIPREP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59414104"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Doctor Schedule Procedure Form</a:t>
            </a:r>
            <a:endParaRPr/>
          </a:p>
        </p:txBody>
      </p:sp>
      <p:sp>
        <p:nvSpPr>
          <p:cNvPr id="6638735" name="TextBox 2"/>
          <p:cNvSpPr txBox="1"/>
          <p:nvPr/>
        </p:nvSpPr>
        <p:spPr bwMode="auto">
          <a:xfrm>
            <a:off x="685800" y="1051560"/>
            <a:ext cx="10817352" cy="365760"/>
          </a:xfrm>
          <a:prstGeom prst="rect">
            <a:avLst/>
          </a:prstGeom>
          <a:noFill/>
        </p:spPr>
        <p:txBody>
          <a:bodyPr wrap="none">
            <a:spAutoFit/>
          </a:bodyPr>
          <a:lstStyle/>
          <a:p>
            <a:pPr>
              <a:defRPr sz="1350">
                <a:solidFill>
                  <a:srgbClr val="212529"/>
                </a:solidFill>
                <a:latin typeface="Arial"/>
              </a:defRPr>
            </a:pPr>
            <a:r>
              <a:rPr/>
              <a:t>Doctors schedule patient procedures and assign room allocations.</a:t>
            </a:r>
            <a:endParaRPr/>
          </a:p>
        </p:txBody>
      </p:sp>
      <p:sp>
        <p:nvSpPr>
          <p:cNvPr id="1331661524" name="Rectangle 3"/>
          <p:cNvSpPr/>
          <p:nvPr/>
        </p:nvSpPr>
        <p:spPr bwMode="auto">
          <a:xfrm>
            <a:off x="1645920" y="1554480"/>
            <a:ext cx="8897112" cy="4846320"/>
          </a:xfrm>
          <a:prstGeom prst="rect">
            <a:avLst/>
          </a:prstGeom>
          <a:solidFill>
            <a:srgbClr val="FFFFFF"/>
          </a:solidFill>
          <a:ln w="19050">
            <a:solidFill>
              <a:srgbClr val="B4CD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17739297" name="TextBox 4"/>
          <p:cNvSpPr txBox="1"/>
          <p:nvPr/>
        </p:nvSpPr>
        <p:spPr bwMode="auto">
          <a:xfrm>
            <a:off x="2103120" y="1828800"/>
            <a:ext cx="3840480" cy="274320"/>
          </a:xfrm>
          <a:prstGeom prst="rect">
            <a:avLst/>
          </a:prstGeom>
          <a:noFill/>
        </p:spPr>
        <p:txBody>
          <a:bodyPr wrap="none">
            <a:spAutoFit/>
          </a:bodyPr>
          <a:lstStyle/>
          <a:p>
            <a:pPr>
              <a:defRPr sz="1200" b="1">
                <a:solidFill>
                  <a:srgbClr val="212529"/>
                </a:solidFill>
                <a:latin typeface="Arial"/>
              </a:defRPr>
            </a:pPr>
            <a:r>
              <a:rPr/>
              <a:t>Patient Name</a:t>
            </a:r>
            <a:endParaRPr/>
          </a:p>
        </p:txBody>
      </p:sp>
      <p:sp>
        <p:nvSpPr>
          <p:cNvPr id="1587310413" name="Rounded Rectangle 5"/>
          <p:cNvSpPr/>
          <p:nvPr/>
        </p:nvSpPr>
        <p:spPr bwMode="auto">
          <a:xfrm>
            <a:off x="2103120" y="2103120"/>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Rahul Sharma (PAT-8042)</a:t>
            </a:r>
            <a:endParaRPr/>
          </a:p>
        </p:txBody>
      </p:sp>
      <p:sp>
        <p:nvSpPr>
          <p:cNvPr id="1683104784" name="TextBox 6"/>
          <p:cNvSpPr txBox="1"/>
          <p:nvPr/>
        </p:nvSpPr>
        <p:spPr bwMode="auto">
          <a:xfrm>
            <a:off x="6309360" y="1828800"/>
            <a:ext cx="3840480" cy="274320"/>
          </a:xfrm>
          <a:prstGeom prst="rect">
            <a:avLst/>
          </a:prstGeom>
          <a:noFill/>
        </p:spPr>
        <p:txBody>
          <a:bodyPr wrap="none">
            <a:spAutoFit/>
          </a:bodyPr>
          <a:lstStyle/>
          <a:p>
            <a:pPr>
              <a:defRPr sz="1200" b="1">
                <a:solidFill>
                  <a:srgbClr val="212529"/>
                </a:solidFill>
                <a:latin typeface="Arial"/>
              </a:defRPr>
            </a:pPr>
            <a:r>
              <a:rPr/>
              <a:t>Procedure Catalog</a:t>
            </a:r>
            <a:endParaRPr/>
          </a:p>
        </p:txBody>
      </p:sp>
      <p:sp>
        <p:nvSpPr>
          <p:cNvPr id="201865676" name="Rounded Rectangle 7"/>
          <p:cNvSpPr/>
          <p:nvPr/>
        </p:nvSpPr>
        <p:spPr bwMode="auto">
          <a:xfrm>
            <a:off x="6309360" y="2103120"/>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Left Heart Catheterization (CPT-93452)</a:t>
            </a:r>
            <a:endParaRPr/>
          </a:p>
        </p:txBody>
      </p:sp>
      <p:sp>
        <p:nvSpPr>
          <p:cNvPr id="2137303643" name="TextBox 8"/>
          <p:cNvSpPr txBox="1"/>
          <p:nvPr/>
        </p:nvSpPr>
        <p:spPr bwMode="auto">
          <a:xfrm>
            <a:off x="2103120" y="2743200"/>
            <a:ext cx="3840480" cy="274320"/>
          </a:xfrm>
          <a:prstGeom prst="rect">
            <a:avLst/>
          </a:prstGeom>
          <a:noFill/>
        </p:spPr>
        <p:txBody>
          <a:bodyPr wrap="none">
            <a:spAutoFit/>
          </a:bodyPr>
          <a:lstStyle/>
          <a:p>
            <a:pPr>
              <a:defRPr sz="1200" b="1">
                <a:solidFill>
                  <a:srgbClr val="212529"/>
                </a:solidFill>
                <a:latin typeface="Arial"/>
              </a:defRPr>
            </a:pPr>
            <a:r>
              <a:rPr/>
              <a:t>Scheduled Date &amp; Time</a:t>
            </a:r>
            <a:endParaRPr/>
          </a:p>
        </p:txBody>
      </p:sp>
      <p:sp>
        <p:nvSpPr>
          <p:cNvPr id="1689383541" name="Rounded Rectangle 9"/>
          <p:cNvSpPr/>
          <p:nvPr/>
        </p:nvSpPr>
        <p:spPr bwMode="auto">
          <a:xfrm>
            <a:off x="2103120" y="3017519"/>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05 Oct 2026, 10:00 AM</a:t>
            </a:r>
            <a:endParaRPr/>
          </a:p>
        </p:txBody>
      </p:sp>
      <p:sp>
        <p:nvSpPr>
          <p:cNvPr id="88005679" name="TextBox 10"/>
          <p:cNvSpPr txBox="1"/>
          <p:nvPr/>
        </p:nvSpPr>
        <p:spPr bwMode="auto">
          <a:xfrm>
            <a:off x="6309360" y="2743200"/>
            <a:ext cx="3840480" cy="274320"/>
          </a:xfrm>
          <a:prstGeom prst="rect">
            <a:avLst/>
          </a:prstGeom>
          <a:noFill/>
        </p:spPr>
        <p:txBody>
          <a:bodyPr wrap="none">
            <a:spAutoFit/>
          </a:bodyPr>
          <a:lstStyle/>
          <a:p>
            <a:pPr>
              <a:defRPr sz="1200" b="1">
                <a:solidFill>
                  <a:srgbClr val="212529"/>
                </a:solidFill>
                <a:latin typeface="Arial"/>
              </a:defRPr>
            </a:pPr>
            <a:r>
              <a:rPr/>
              <a:t>Location / Room</a:t>
            </a:r>
            <a:endParaRPr/>
          </a:p>
        </p:txBody>
      </p:sp>
      <p:sp>
        <p:nvSpPr>
          <p:cNvPr id="353857776" name="Rounded Rectangle 11"/>
          <p:cNvSpPr/>
          <p:nvPr/>
        </p:nvSpPr>
        <p:spPr bwMode="auto">
          <a:xfrm>
            <a:off x="6309360" y="3017519"/>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Cardiology Dept - Lab 2</a:t>
            </a:r>
            <a:endParaRPr/>
          </a:p>
        </p:txBody>
      </p:sp>
      <p:sp>
        <p:nvSpPr>
          <p:cNvPr id="1962407783" name="Rounded Rectangle 12"/>
          <p:cNvSpPr/>
          <p:nvPr/>
        </p:nvSpPr>
        <p:spPr bwMode="auto">
          <a:xfrm>
            <a:off x="3803904" y="3931920"/>
            <a:ext cx="4572000" cy="502920"/>
          </a:xfrm>
          <a:prstGeom prst="roundRect">
            <a:avLst>
              <a:gd name="adj" fmla="val 16667"/>
            </a:avLst>
          </a:prstGeom>
          <a:solidFill>
            <a:srgbClr val="4B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rPr/>
              <a:t>CONFIRM SCHEDULED PROCEDURE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2491966"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Patient Checklist Page</a:t>
            </a:r>
            <a:endParaRPr/>
          </a:p>
        </p:txBody>
      </p:sp>
      <p:sp>
        <p:nvSpPr>
          <p:cNvPr id="1876695312" name="TextBox 2"/>
          <p:cNvSpPr txBox="1"/>
          <p:nvPr/>
        </p:nvSpPr>
        <p:spPr bwMode="auto">
          <a:xfrm>
            <a:off x="685800" y="1051560"/>
            <a:ext cx="10817352" cy="365760"/>
          </a:xfrm>
          <a:prstGeom prst="rect">
            <a:avLst/>
          </a:prstGeom>
          <a:noFill/>
        </p:spPr>
        <p:txBody>
          <a:bodyPr wrap="none">
            <a:spAutoFit/>
          </a:bodyPr>
          <a:lstStyle/>
          <a:p>
            <a:pPr>
              <a:defRPr sz="1350">
                <a:solidFill>
                  <a:srgbClr val="212529"/>
                </a:solidFill>
                <a:latin typeface="Arial"/>
              </a:defRPr>
            </a:pPr>
            <a:r>
              <a:rPr/>
              <a:t>Patients view scheduled procedure guidelines and preparation tasks.</a:t>
            </a:r>
            <a:endParaRPr/>
          </a:p>
        </p:txBody>
      </p:sp>
      <p:sp>
        <p:nvSpPr>
          <p:cNvPr id="2040549055" name="Rectangle 3"/>
          <p:cNvSpPr/>
          <p:nvPr/>
        </p:nvSpPr>
        <p:spPr bwMode="auto">
          <a:xfrm>
            <a:off x="1645920" y="1554480"/>
            <a:ext cx="8897112" cy="4846320"/>
          </a:xfrm>
          <a:prstGeom prst="rect">
            <a:avLst/>
          </a:prstGeom>
          <a:solidFill>
            <a:srgbClr val="FFFFFF"/>
          </a:solidFill>
          <a:ln w="19050">
            <a:solidFill>
              <a:srgbClr val="B4CD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994835" name="TextBox 4"/>
          <p:cNvSpPr txBox="1"/>
          <p:nvPr/>
        </p:nvSpPr>
        <p:spPr bwMode="auto">
          <a:xfrm>
            <a:off x="2103120" y="1828800"/>
            <a:ext cx="3840480" cy="274320"/>
          </a:xfrm>
          <a:prstGeom prst="rect">
            <a:avLst/>
          </a:prstGeom>
          <a:noFill/>
        </p:spPr>
        <p:txBody>
          <a:bodyPr wrap="none">
            <a:spAutoFit/>
          </a:bodyPr>
          <a:lstStyle/>
          <a:p>
            <a:pPr>
              <a:defRPr sz="1200" b="1">
                <a:solidFill>
                  <a:srgbClr val="212529"/>
                </a:solidFill>
                <a:latin typeface="Arial"/>
              </a:defRPr>
            </a:pPr>
            <a:r>
              <a:rPr/>
              <a:t>Procedure Name</a:t>
            </a:r>
            <a:endParaRPr/>
          </a:p>
        </p:txBody>
      </p:sp>
      <p:sp>
        <p:nvSpPr>
          <p:cNvPr id="1518373351" name="Rounded Rectangle 5"/>
          <p:cNvSpPr/>
          <p:nvPr/>
        </p:nvSpPr>
        <p:spPr bwMode="auto">
          <a:xfrm>
            <a:off x="2103120" y="2103120"/>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Left Heart Catheterization (CPT-93452)</a:t>
            </a:r>
            <a:endParaRPr/>
          </a:p>
        </p:txBody>
      </p:sp>
      <p:sp>
        <p:nvSpPr>
          <p:cNvPr id="1735988597" name="TextBox 6"/>
          <p:cNvSpPr txBox="1"/>
          <p:nvPr/>
        </p:nvSpPr>
        <p:spPr bwMode="auto">
          <a:xfrm>
            <a:off x="6309360" y="1828800"/>
            <a:ext cx="3840480" cy="274320"/>
          </a:xfrm>
          <a:prstGeom prst="rect">
            <a:avLst/>
          </a:prstGeom>
          <a:noFill/>
        </p:spPr>
        <p:txBody>
          <a:bodyPr wrap="none">
            <a:spAutoFit/>
          </a:bodyPr>
          <a:lstStyle/>
          <a:p>
            <a:pPr>
              <a:defRPr sz="1200" b="1">
                <a:solidFill>
                  <a:srgbClr val="212529"/>
                </a:solidFill>
                <a:latin typeface="Arial"/>
              </a:defRPr>
            </a:pPr>
            <a:r>
              <a:rPr/>
              <a:t>Attending Doctor</a:t>
            </a:r>
            <a:endParaRPr/>
          </a:p>
        </p:txBody>
      </p:sp>
      <p:sp>
        <p:nvSpPr>
          <p:cNvPr id="1477277205" name="Rounded Rectangle 7"/>
          <p:cNvSpPr/>
          <p:nvPr/>
        </p:nvSpPr>
        <p:spPr bwMode="auto">
          <a:xfrm>
            <a:off x="6309360" y="2103120"/>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Dr. Priya Nair</a:t>
            </a:r>
            <a:endParaRPr/>
          </a:p>
        </p:txBody>
      </p:sp>
      <p:sp>
        <p:nvSpPr>
          <p:cNvPr id="354240600" name="TextBox 8"/>
          <p:cNvSpPr txBox="1"/>
          <p:nvPr/>
        </p:nvSpPr>
        <p:spPr bwMode="auto">
          <a:xfrm>
            <a:off x="2103120" y="2743200"/>
            <a:ext cx="3840480" cy="274320"/>
          </a:xfrm>
          <a:prstGeom prst="rect">
            <a:avLst/>
          </a:prstGeom>
          <a:noFill/>
        </p:spPr>
        <p:txBody>
          <a:bodyPr wrap="none">
            <a:spAutoFit/>
          </a:bodyPr>
          <a:lstStyle/>
          <a:p>
            <a:pPr>
              <a:defRPr sz="1200" b="1">
                <a:solidFill>
                  <a:srgbClr val="212529"/>
                </a:solidFill>
                <a:latin typeface="Arial"/>
              </a:defRPr>
            </a:pPr>
            <a:r>
              <a:rPr/>
              <a:t>Task Checklist</a:t>
            </a:r>
            <a:endParaRPr/>
          </a:p>
        </p:txBody>
      </p:sp>
      <p:sp>
        <p:nvSpPr>
          <p:cNvPr id="273847909" name="Rounded Rectangle 9"/>
          <p:cNvSpPr/>
          <p:nvPr/>
        </p:nvSpPr>
        <p:spPr bwMode="auto">
          <a:xfrm>
            <a:off x="2103120" y="3017519"/>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8-Hour NPO Fasting (Completed)</a:t>
            </a:r>
            <a:endParaRPr/>
          </a:p>
        </p:txBody>
      </p:sp>
      <p:sp>
        <p:nvSpPr>
          <p:cNvPr id="368398642" name="TextBox 10"/>
          <p:cNvSpPr txBox="1"/>
          <p:nvPr/>
        </p:nvSpPr>
        <p:spPr bwMode="auto">
          <a:xfrm>
            <a:off x="6309360" y="2743200"/>
            <a:ext cx="3840480" cy="274320"/>
          </a:xfrm>
          <a:prstGeom prst="rect">
            <a:avLst/>
          </a:prstGeom>
          <a:noFill/>
        </p:spPr>
        <p:txBody>
          <a:bodyPr wrap="none">
            <a:spAutoFit/>
          </a:bodyPr>
          <a:lstStyle/>
          <a:p>
            <a:pPr>
              <a:defRPr sz="1200" b="1">
                <a:solidFill>
                  <a:srgbClr val="212529"/>
                </a:solidFill>
                <a:latin typeface="Arial"/>
              </a:defRPr>
            </a:pPr>
            <a:r>
              <a:rPr/>
              <a:t>Document Status</a:t>
            </a:r>
            <a:endParaRPr/>
          </a:p>
        </p:txBody>
      </p:sp>
      <p:sp>
        <p:nvSpPr>
          <p:cNvPr id="1236046716" name="Rounded Rectangle 11"/>
          <p:cNvSpPr/>
          <p:nvPr/>
        </p:nvSpPr>
        <p:spPr bwMode="auto">
          <a:xfrm>
            <a:off x="6309360" y="3017519"/>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Blood Test PDF (Pending Upload)</a:t>
            </a:r>
            <a:endParaRPr/>
          </a:p>
        </p:txBody>
      </p:sp>
      <p:sp>
        <p:nvSpPr>
          <p:cNvPr id="927872359" name="Rounded Rectangle 12"/>
          <p:cNvSpPr/>
          <p:nvPr/>
        </p:nvSpPr>
        <p:spPr bwMode="auto">
          <a:xfrm>
            <a:off x="3803904" y="3931920"/>
            <a:ext cx="4572000" cy="502920"/>
          </a:xfrm>
          <a:prstGeom prst="roundRect">
            <a:avLst>
              <a:gd name="adj" fmla="val 16667"/>
            </a:avLst>
          </a:prstGeom>
          <a:solidFill>
            <a:srgbClr val="4B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rPr/>
              <a:t>VIEW CHECKLIST DETAILS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14226884"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Patient Report Upload Form</a:t>
            </a:r>
            <a:endParaRPr/>
          </a:p>
        </p:txBody>
      </p:sp>
      <p:sp>
        <p:nvSpPr>
          <p:cNvPr id="177219056" name="TextBox 2"/>
          <p:cNvSpPr txBox="1"/>
          <p:nvPr/>
        </p:nvSpPr>
        <p:spPr bwMode="auto">
          <a:xfrm>
            <a:off x="685800" y="1051560"/>
            <a:ext cx="10817352" cy="365760"/>
          </a:xfrm>
          <a:prstGeom prst="rect">
            <a:avLst/>
          </a:prstGeom>
          <a:noFill/>
        </p:spPr>
        <p:txBody>
          <a:bodyPr wrap="none">
            <a:spAutoFit/>
          </a:bodyPr>
          <a:lstStyle/>
          <a:p>
            <a:pPr>
              <a:defRPr sz="1350">
                <a:solidFill>
                  <a:srgbClr val="212529"/>
                </a:solidFill>
                <a:latin typeface="Arial"/>
              </a:defRPr>
            </a:pPr>
            <a:r>
              <a:rPr/>
              <a:t>Patients upload required medical PDF reports.</a:t>
            </a:r>
            <a:endParaRPr/>
          </a:p>
        </p:txBody>
      </p:sp>
      <p:sp>
        <p:nvSpPr>
          <p:cNvPr id="971479570" name="Rectangle 3"/>
          <p:cNvSpPr/>
          <p:nvPr/>
        </p:nvSpPr>
        <p:spPr bwMode="auto">
          <a:xfrm>
            <a:off x="1645920" y="1554480"/>
            <a:ext cx="8897112" cy="4846320"/>
          </a:xfrm>
          <a:prstGeom prst="rect">
            <a:avLst/>
          </a:prstGeom>
          <a:solidFill>
            <a:srgbClr val="FFFFFF"/>
          </a:solidFill>
          <a:ln w="19050">
            <a:solidFill>
              <a:srgbClr val="B4CD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78254668" name="TextBox 4"/>
          <p:cNvSpPr txBox="1"/>
          <p:nvPr/>
        </p:nvSpPr>
        <p:spPr bwMode="auto">
          <a:xfrm>
            <a:off x="2103120" y="1828800"/>
            <a:ext cx="3840480" cy="274320"/>
          </a:xfrm>
          <a:prstGeom prst="rect">
            <a:avLst/>
          </a:prstGeom>
          <a:noFill/>
        </p:spPr>
        <p:txBody>
          <a:bodyPr wrap="none">
            <a:spAutoFit/>
          </a:bodyPr>
          <a:lstStyle/>
          <a:p>
            <a:pPr>
              <a:defRPr sz="1200" b="1">
                <a:solidFill>
                  <a:srgbClr val="212529"/>
                </a:solidFill>
                <a:latin typeface="Arial"/>
              </a:defRPr>
            </a:pPr>
            <a:r>
              <a:rPr/>
              <a:t>Checklist Item</a:t>
            </a:r>
            <a:endParaRPr/>
          </a:p>
        </p:txBody>
      </p:sp>
      <p:sp>
        <p:nvSpPr>
          <p:cNvPr id="1181798375" name="Rounded Rectangle 5"/>
          <p:cNvSpPr/>
          <p:nvPr/>
        </p:nvSpPr>
        <p:spPr bwMode="auto">
          <a:xfrm>
            <a:off x="2103120" y="2103120"/>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Upload Pre-op Blood Test Report</a:t>
            </a:r>
            <a:endParaRPr/>
          </a:p>
        </p:txBody>
      </p:sp>
      <p:sp>
        <p:nvSpPr>
          <p:cNvPr id="671504695" name="TextBox 6"/>
          <p:cNvSpPr txBox="1"/>
          <p:nvPr/>
        </p:nvSpPr>
        <p:spPr bwMode="auto">
          <a:xfrm>
            <a:off x="6309360" y="1828800"/>
            <a:ext cx="3840480" cy="274320"/>
          </a:xfrm>
          <a:prstGeom prst="rect">
            <a:avLst/>
          </a:prstGeom>
          <a:noFill/>
        </p:spPr>
        <p:txBody>
          <a:bodyPr wrap="none">
            <a:spAutoFit/>
          </a:bodyPr>
          <a:lstStyle/>
          <a:p>
            <a:pPr>
              <a:defRPr sz="1200" b="1">
                <a:solidFill>
                  <a:srgbClr val="212529"/>
                </a:solidFill>
                <a:latin typeface="Arial"/>
              </a:defRPr>
            </a:pPr>
            <a:r>
              <a:rPr/>
              <a:t>Select PDF File</a:t>
            </a:r>
            <a:endParaRPr/>
          </a:p>
        </p:txBody>
      </p:sp>
      <p:sp>
        <p:nvSpPr>
          <p:cNvPr id="891183283" name="Rounded Rectangle 7"/>
          <p:cNvSpPr/>
          <p:nvPr/>
        </p:nvSpPr>
        <p:spPr bwMode="auto">
          <a:xfrm>
            <a:off x="6309360" y="2103120"/>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blood_test_report_rahul.pdf</a:t>
            </a:r>
            <a:endParaRPr/>
          </a:p>
        </p:txBody>
      </p:sp>
      <p:sp>
        <p:nvSpPr>
          <p:cNvPr id="1888047535" name="TextBox 8"/>
          <p:cNvSpPr txBox="1"/>
          <p:nvPr/>
        </p:nvSpPr>
        <p:spPr bwMode="auto">
          <a:xfrm>
            <a:off x="2103120" y="2743200"/>
            <a:ext cx="3840480" cy="274320"/>
          </a:xfrm>
          <a:prstGeom prst="rect">
            <a:avLst/>
          </a:prstGeom>
          <a:noFill/>
        </p:spPr>
        <p:txBody>
          <a:bodyPr wrap="none">
            <a:spAutoFit/>
          </a:bodyPr>
          <a:lstStyle/>
          <a:p>
            <a:pPr>
              <a:defRPr sz="1200" b="1">
                <a:solidFill>
                  <a:srgbClr val="212529"/>
                </a:solidFill>
                <a:latin typeface="Arial"/>
              </a:defRPr>
            </a:pPr>
            <a:r>
              <a:rPr/>
              <a:t>Signed Consent Form</a:t>
            </a:r>
            <a:endParaRPr/>
          </a:p>
        </p:txBody>
      </p:sp>
      <p:sp>
        <p:nvSpPr>
          <p:cNvPr id="1102497657" name="Rounded Rectangle 9"/>
          <p:cNvSpPr/>
          <p:nvPr/>
        </p:nvSpPr>
        <p:spPr bwMode="auto">
          <a:xfrm>
            <a:off x="2103120" y="3017519"/>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Upload signed consent form PDF</a:t>
            </a:r>
            <a:endParaRPr/>
          </a:p>
        </p:txBody>
      </p:sp>
      <p:sp>
        <p:nvSpPr>
          <p:cNvPr id="400650808" name="TextBox 10"/>
          <p:cNvSpPr txBox="1"/>
          <p:nvPr/>
        </p:nvSpPr>
        <p:spPr bwMode="auto">
          <a:xfrm>
            <a:off x="6309360" y="2743200"/>
            <a:ext cx="3840480" cy="274320"/>
          </a:xfrm>
          <a:prstGeom prst="rect">
            <a:avLst/>
          </a:prstGeom>
          <a:noFill/>
        </p:spPr>
        <p:txBody>
          <a:bodyPr wrap="none">
            <a:spAutoFit/>
          </a:bodyPr>
          <a:lstStyle/>
          <a:p>
            <a:pPr>
              <a:defRPr sz="1200" b="1">
                <a:solidFill>
                  <a:srgbClr val="212529"/>
                </a:solidFill>
                <a:latin typeface="Arial"/>
              </a:defRPr>
            </a:pPr>
            <a:r>
              <a:rPr/>
              <a:t>Fasting Checkoff</a:t>
            </a:r>
            <a:endParaRPr/>
          </a:p>
        </p:txBody>
      </p:sp>
      <p:sp>
        <p:nvSpPr>
          <p:cNvPr id="872427821" name="Rounded Rectangle 11"/>
          <p:cNvSpPr/>
          <p:nvPr/>
        </p:nvSpPr>
        <p:spPr bwMode="auto">
          <a:xfrm>
            <a:off x="6309360" y="3017519"/>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Mark 8-hour NPO fasting as completed</a:t>
            </a:r>
            <a:endParaRPr/>
          </a:p>
        </p:txBody>
      </p:sp>
      <p:sp>
        <p:nvSpPr>
          <p:cNvPr id="674947575" name="Rounded Rectangle 12"/>
          <p:cNvSpPr/>
          <p:nvPr/>
        </p:nvSpPr>
        <p:spPr bwMode="auto">
          <a:xfrm>
            <a:off x="3803904" y="3931920"/>
            <a:ext cx="4572000" cy="502920"/>
          </a:xfrm>
          <a:prstGeom prst="roundRect">
            <a:avLst>
              <a:gd name="adj" fmla="val 16667"/>
            </a:avLst>
          </a:prstGeom>
          <a:solidFill>
            <a:srgbClr val="4B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rPr/>
              <a:t>SUBMIT COMPLIANCE REPORT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30147586"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Patient Vitals Form</a:t>
            </a:r>
            <a:endParaRPr/>
          </a:p>
        </p:txBody>
      </p:sp>
      <p:sp>
        <p:nvSpPr>
          <p:cNvPr id="37042990" name="TextBox 2"/>
          <p:cNvSpPr txBox="1"/>
          <p:nvPr/>
        </p:nvSpPr>
        <p:spPr bwMode="auto">
          <a:xfrm>
            <a:off x="685800" y="1051560"/>
            <a:ext cx="10817352" cy="365760"/>
          </a:xfrm>
          <a:prstGeom prst="rect">
            <a:avLst/>
          </a:prstGeom>
          <a:noFill/>
        </p:spPr>
        <p:txBody>
          <a:bodyPr wrap="none">
            <a:spAutoFit/>
          </a:bodyPr>
          <a:lstStyle/>
          <a:p>
            <a:pPr>
              <a:defRPr sz="1350">
                <a:solidFill>
                  <a:srgbClr val="212529"/>
                </a:solidFill>
                <a:latin typeface="Arial"/>
              </a:defRPr>
            </a:pPr>
            <a:r>
              <a:rPr/>
              <a:t>Patients enter pre-operative vital parameters.</a:t>
            </a:r>
            <a:endParaRPr/>
          </a:p>
        </p:txBody>
      </p:sp>
      <p:sp>
        <p:nvSpPr>
          <p:cNvPr id="287860342" name="Rectangle 3"/>
          <p:cNvSpPr/>
          <p:nvPr/>
        </p:nvSpPr>
        <p:spPr bwMode="auto">
          <a:xfrm>
            <a:off x="1645920" y="1554480"/>
            <a:ext cx="8897112" cy="4846320"/>
          </a:xfrm>
          <a:prstGeom prst="rect">
            <a:avLst/>
          </a:prstGeom>
          <a:solidFill>
            <a:srgbClr val="FFFFFF"/>
          </a:solidFill>
          <a:ln w="19050">
            <a:solidFill>
              <a:srgbClr val="B4CD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56770105" name="TextBox 4"/>
          <p:cNvSpPr txBox="1"/>
          <p:nvPr/>
        </p:nvSpPr>
        <p:spPr bwMode="auto">
          <a:xfrm>
            <a:off x="2103120" y="1828800"/>
            <a:ext cx="3840480" cy="274320"/>
          </a:xfrm>
          <a:prstGeom prst="rect">
            <a:avLst/>
          </a:prstGeom>
          <a:noFill/>
        </p:spPr>
        <p:txBody>
          <a:bodyPr wrap="none">
            <a:spAutoFit/>
          </a:bodyPr>
          <a:lstStyle/>
          <a:p>
            <a:pPr>
              <a:defRPr sz="1200" b="1">
                <a:solidFill>
                  <a:srgbClr val="212529"/>
                </a:solidFill>
                <a:latin typeface="Arial"/>
              </a:defRPr>
            </a:pPr>
            <a:r>
              <a:rPr/>
              <a:t>Fasting Blood Sugar</a:t>
            </a:r>
            <a:endParaRPr/>
          </a:p>
        </p:txBody>
      </p:sp>
      <p:sp>
        <p:nvSpPr>
          <p:cNvPr id="1313705377" name="Rounded Rectangle 5"/>
          <p:cNvSpPr/>
          <p:nvPr/>
        </p:nvSpPr>
        <p:spPr bwMode="auto">
          <a:xfrm>
            <a:off x="2103120" y="2103120"/>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110 mg/dL</a:t>
            </a:r>
            <a:endParaRPr/>
          </a:p>
        </p:txBody>
      </p:sp>
      <p:sp>
        <p:nvSpPr>
          <p:cNvPr id="950536525" name="TextBox 6"/>
          <p:cNvSpPr txBox="1"/>
          <p:nvPr/>
        </p:nvSpPr>
        <p:spPr bwMode="auto">
          <a:xfrm>
            <a:off x="6309360" y="1828800"/>
            <a:ext cx="3840480" cy="274320"/>
          </a:xfrm>
          <a:prstGeom prst="rect">
            <a:avLst/>
          </a:prstGeom>
          <a:noFill/>
        </p:spPr>
        <p:txBody>
          <a:bodyPr wrap="none">
            <a:spAutoFit/>
          </a:bodyPr>
          <a:lstStyle/>
          <a:p>
            <a:pPr>
              <a:defRPr sz="1200" b="1">
                <a:solidFill>
                  <a:srgbClr val="212529"/>
                </a:solidFill>
                <a:latin typeface="Arial"/>
              </a:defRPr>
            </a:pPr>
            <a:r>
              <a:rPr/>
              <a:t>Blood Pressure</a:t>
            </a:r>
            <a:endParaRPr/>
          </a:p>
        </p:txBody>
      </p:sp>
      <p:sp>
        <p:nvSpPr>
          <p:cNvPr id="1279885243" name="Rounded Rectangle 7"/>
          <p:cNvSpPr/>
          <p:nvPr/>
        </p:nvSpPr>
        <p:spPr bwMode="auto">
          <a:xfrm>
            <a:off x="6309360" y="2103120"/>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120 / 80 mmHg</a:t>
            </a:r>
            <a:endParaRPr/>
          </a:p>
        </p:txBody>
      </p:sp>
      <p:sp>
        <p:nvSpPr>
          <p:cNvPr id="1228470183" name="TextBox 8"/>
          <p:cNvSpPr txBox="1"/>
          <p:nvPr/>
        </p:nvSpPr>
        <p:spPr bwMode="auto">
          <a:xfrm>
            <a:off x="2103120" y="2743200"/>
            <a:ext cx="3840480" cy="274320"/>
          </a:xfrm>
          <a:prstGeom prst="rect">
            <a:avLst/>
          </a:prstGeom>
          <a:noFill/>
        </p:spPr>
        <p:txBody>
          <a:bodyPr wrap="none">
            <a:spAutoFit/>
          </a:bodyPr>
          <a:lstStyle/>
          <a:p>
            <a:pPr>
              <a:defRPr sz="1200" b="1">
                <a:solidFill>
                  <a:srgbClr val="212529"/>
                </a:solidFill>
                <a:latin typeface="Arial"/>
              </a:defRPr>
            </a:pPr>
            <a:r>
              <a:rPr/>
              <a:t>Body Temperature</a:t>
            </a:r>
            <a:endParaRPr/>
          </a:p>
        </p:txBody>
      </p:sp>
      <p:sp>
        <p:nvSpPr>
          <p:cNvPr id="593929810" name="Rounded Rectangle 9"/>
          <p:cNvSpPr/>
          <p:nvPr/>
        </p:nvSpPr>
        <p:spPr bwMode="auto">
          <a:xfrm>
            <a:off x="2103120" y="3017519"/>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98.6 °F</a:t>
            </a:r>
            <a:endParaRPr/>
          </a:p>
        </p:txBody>
      </p:sp>
      <p:sp>
        <p:nvSpPr>
          <p:cNvPr id="1922627701" name="TextBox 10"/>
          <p:cNvSpPr txBox="1"/>
          <p:nvPr/>
        </p:nvSpPr>
        <p:spPr bwMode="auto">
          <a:xfrm>
            <a:off x="6309360" y="2743200"/>
            <a:ext cx="3840480" cy="274320"/>
          </a:xfrm>
          <a:prstGeom prst="rect">
            <a:avLst/>
          </a:prstGeom>
          <a:noFill/>
        </p:spPr>
        <p:txBody>
          <a:bodyPr wrap="none">
            <a:spAutoFit/>
          </a:bodyPr>
          <a:lstStyle/>
          <a:p>
            <a:pPr>
              <a:defRPr sz="1200" b="1">
                <a:solidFill>
                  <a:srgbClr val="212529"/>
                </a:solidFill>
                <a:latin typeface="Arial"/>
              </a:defRPr>
            </a:pPr>
            <a:r>
              <a:rPr/>
              <a:t>Serum Creatinine</a:t>
            </a:r>
            <a:endParaRPr/>
          </a:p>
        </p:txBody>
      </p:sp>
      <p:sp>
        <p:nvSpPr>
          <p:cNvPr id="1423576777" name="Rounded Rectangle 11"/>
          <p:cNvSpPr/>
          <p:nvPr/>
        </p:nvSpPr>
        <p:spPr bwMode="auto">
          <a:xfrm>
            <a:off x="6309360" y="3017519"/>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0.9 mg/dL</a:t>
            </a:r>
            <a:endParaRPr/>
          </a:p>
        </p:txBody>
      </p:sp>
      <p:sp>
        <p:nvSpPr>
          <p:cNvPr id="1727750779" name="Rounded Rectangle 12"/>
          <p:cNvSpPr/>
          <p:nvPr/>
        </p:nvSpPr>
        <p:spPr bwMode="auto">
          <a:xfrm>
            <a:off x="3803904" y="3931920"/>
            <a:ext cx="4572000" cy="502920"/>
          </a:xfrm>
          <a:prstGeom prst="roundRect">
            <a:avLst>
              <a:gd name="adj" fmla="val 16667"/>
            </a:avLst>
          </a:prstGeom>
          <a:solidFill>
            <a:srgbClr val="4B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rPr/>
              <a:t>LOG VITALS RECORD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46601723"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Doctor Checklist / Verification Page</a:t>
            </a:r>
            <a:endParaRPr/>
          </a:p>
        </p:txBody>
      </p:sp>
      <p:sp>
        <p:nvSpPr>
          <p:cNvPr id="1929596941" name="TextBox 2"/>
          <p:cNvSpPr txBox="1"/>
          <p:nvPr/>
        </p:nvSpPr>
        <p:spPr bwMode="auto">
          <a:xfrm>
            <a:off x="685800" y="1051560"/>
            <a:ext cx="10817352" cy="365760"/>
          </a:xfrm>
          <a:prstGeom prst="rect">
            <a:avLst/>
          </a:prstGeom>
          <a:noFill/>
        </p:spPr>
        <p:txBody>
          <a:bodyPr wrap="none">
            <a:spAutoFit/>
          </a:bodyPr>
          <a:lstStyle/>
          <a:p>
            <a:pPr>
              <a:defRPr sz="1350">
                <a:solidFill>
                  <a:srgbClr val="212529"/>
                </a:solidFill>
                <a:latin typeface="Arial"/>
              </a:defRPr>
            </a:pPr>
            <a:r>
              <a:rPr/>
              <a:t>Doctors audit submitted reports and sign-off.</a:t>
            </a:r>
            <a:endParaRPr/>
          </a:p>
        </p:txBody>
      </p:sp>
      <p:sp>
        <p:nvSpPr>
          <p:cNvPr id="1649446391" name="Rectangle 3"/>
          <p:cNvSpPr/>
          <p:nvPr/>
        </p:nvSpPr>
        <p:spPr bwMode="auto">
          <a:xfrm>
            <a:off x="1645920" y="1554480"/>
            <a:ext cx="8897112" cy="4846320"/>
          </a:xfrm>
          <a:prstGeom prst="rect">
            <a:avLst/>
          </a:prstGeom>
          <a:solidFill>
            <a:srgbClr val="FFFFFF"/>
          </a:solidFill>
          <a:ln w="19050">
            <a:solidFill>
              <a:srgbClr val="B4CD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25369209" name="TextBox 4"/>
          <p:cNvSpPr txBox="1"/>
          <p:nvPr/>
        </p:nvSpPr>
        <p:spPr bwMode="auto">
          <a:xfrm>
            <a:off x="2103120" y="1828800"/>
            <a:ext cx="3840480" cy="274320"/>
          </a:xfrm>
          <a:prstGeom prst="rect">
            <a:avLst/>
          </a:prstGeom>
          <a:noFill/>
        </p:spPr>
        <p:txBody>
          <a:bodyPr wrap="none">
            <a:spAutoFit/>
          </a:bodyPr>
          <a:lstStyle/>
          <a:p>
            <a:pPr>
              <a:defRPr sz="1200" b="1">
                <a:solidFill>
                  <a:srgbClr val="212529"/>
                </a:solidFill>
                <a:latin typeface="Arial"/>
              </a:defRPr>
            </a:pPr>
            <a:r>
              <a:rPr/>
              <a:t>Patient File</a:t>
            </a:r>
            <a:endParaRPr/>
          </a:p>
        </p:txBody>
      </p:sp>
      <p:sp>
        <p:nvSpPr>
          <p:cNvPr id="921352763" name="Rounded Rectangle 5"/>
          <p:cNvSpPr/>
          <p:nvPr/>
        </p:nvSpPr>
        <p:spPr bwMode="auto">
          <a:xfrm>
            <a:off x="2103120" y="2103120"/>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blood_test_report_rahul.pdf [Preview PDF]</a:t>
            </a:r>
            <a:endParaRPr/>
          </a:p>
        </p:txBody>
      </p:sp>
      <p:sp>
        <p:nvSpPr>
          <p:cNvPr id="1047357329" name="TextBox 6"/>
          <p:cNvSpPr txBox="1"/>
          <p:nvPr/>
        </p:nvSpPr>
        <p:spPr bwMode="auto">
          <a:xfrm>
            <a:off x="6309360" y="1828800"/>
            <a:ext cx="3840480" cy="274320"/>
          </a:xfrm>
          <a:prstGeom prst="rect">
            <a:avLst/>
          </a:prstGeom>
          <a:noFill/>
        </p:spPr>
        <p:txBody>
          <a:bodyPr wrap="none">
            <a:spAutoFit/>
          </a:bodyPr>
          <a:lstStyle/>
          <a:p>
            <a:pPr>
              <a:defRPr sz="1200" b="1">
                <a:solidFill>
                  <a:srgbClr val="212529"/>
                </a:solidFill>
                <a:latin typeface="Arial"/>
              </a:defRPr>
            </a:pPr>
            <a:r>
              <a:rPr/>
              <a:t>Verification Action</a:t>
            </a:r>
            <a:endParaRPr/>
          </a:p>
        </p:txBody>
      </p:sp>
      <p:sp>
        <p:nvSpPr>
          <p:cNvPr id="1219733967" name="Rounded Rectangle 7"/>
          <p:cNvSpPr/>
          <p:nvPr/>
        </p:nvSpPr>
        <p:spPr bwMode="auto">
          <a:xfrm>
            <a:off x="6309360" y="2103120"/>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Verify &amp; Approve Report</a:t>
            </a:r>
            <a:endParaRPr/>
          </a:p>
        </p:txBody>
      </p:sp>
      <p:sp>
        <p:nvSpPr>
          <p:cNvPr id="1025114697" name="TextBox 8"/>
          <p:cNvSpPr txBox="1"/>
          <p:nvPr/>
        </p:nvSpPr>
        <p:spPr bwMode="auto">
          <a:xfrm>
            <a:off x="2103120" y="2743200"/>
            <a:ext cx="3840480" cy="274320"/>
          </a:xfrm>
          <a:prstGeom prst="rect">
            <a:avLst/>
          </a:prstGeom>
          <a:noFill/>
        </p:spPr>
        <p:txBody>
          <a:bodyPr wrap="none">
            <a:spAutoFit/>
          </a:bodyPr>
          <a:lstStyle/>
          <a:p>
            <a:pPr>
              <a:defRPr sz="1200" b="1">
                <a:solidFill>
                  <a:srgbClr val="212529"/>
                </a:solidFill>
                <a:latin typeface="Arial"/>
              </a:defRPr>
            </a:pPr>
            <a:r>
              <a:rPr/>
              <a:t>Clinical Board Directive</a:t>
            </a:r>
            <a:endParaRPr/>
          </a:p>
        </p:txBody>
      </p:sp>
      <p:sp>
        <p:nvSpPr>
          <p:cNvPr id="845213550" name="Rounded Rectangle 9"/>
          <p:cNvSpPr/>
          <p:nvPr/>
        </p:nvSpPr>
        <p:spPr bwMode="auto">
          <a:xfrm>
            <a:off x="2103120" y="3017519"/>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Proceed with fasting. Report approved by Dr. Priya Nair.</a:t>
            </a:r>
            <a:endParaRPr/>
          </a:p>
        </p:txBody>
      </p:sp>
      <p:sp>
        <p:nvSpPr>
          <p:cNvPr id="2051736869" name="TextBox 10"/>
          <p:cNvSpPr txBox="1"/>
          <p:nvPr/>
        </p:nvSpPr>
        <p:spPr bwMode="auto">
          <a:xfrm>
            <a:off x="6309360" y="2743200"/>
            <a:ext cx="3840480" cy="274320"/>
          </a:xfrm>
          <a:prstGeom prst="rect">
            <a:avLst/>
          </a:prstGeom>
          <a:noFill/>
        </p:spPr>
        <p:txBody>
          <a:bodyPr wrap="none">
            <a:spAutoFit/>
          </a:bodyPr>
          <a:lstStyle/>
          <a:p>
            <a:pPr>
              <a:defRPr sz="1200" b="1">
                <a:solidFill>
                  <a:srgbClr val="212529"/>
                </a:solidFill>
                <a:latin typeface="Arial"/>
              </a:defRPr>
            </a:pPr>
            <a:r>
              <a:rPr/>
              <a:t>Audit Status</a:t>
            </a:r>
            <a:endParaRPr/>
          </a:p>
        </p:txBody>
      </p:sp>
      <p:sp>
        <p:nvSpPr>
          <p:cNvPr id="934506148" name="Rounded Rectangle 11"/>
          <p:cNvSpPr/>
          <p:nvPr/>
        </p:nvSpPr>
        <p:spPr bwMode="auto">
          <a:xfrm>
            <a:off x="6309360" y="3017519"/>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Verified by Clinician</a:t>
            </a:r>
            <a:endParaRPr/>
          </a:p>
        </p:txBody>
      </p:sp>
      <p:sp>
        <p:nvSpPr>
          <p:cNvPr id="1603015542" name="Rounded Rectangle 12"/>
          <p:cNvSpPr/>
          <p:nvPr/>
        </p:nvSpPr>
        <p:spPr bwMode="auto">
          <a:xfrm>
            <a:off x="3803904" y="3931920"/>
            <a:ext cx="4572000" cy="502920"/>
          </a:xfrm>
          <a:prstGeom prst="roundRect">
            <a:avLst>
              <a:gd name="adj" fmla="val 16667"/>
            </a:avLst>
          </a:prstGeom>
          <a:solidFill>
            <a:srgbClr val="4B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rPr/>
              <a:t>SUBMIT VERIFICATION SIGN-OFF</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5187149"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Doctor Dashboard</a:t>
            </a:r>
            <a:endParaRPr/>
          </a:p>
        </p:txBody>
      </p:sp>
      <p:sp>
        <p:nvSpPr>
          <p:cNvPr id="1303758389" name="TextBox 2"/>
          <p:cNvSpPr txBox="1"/>
          <p:nvPr/>
        </p:nvSpPr>
        <p:spPr bwMode="auto">
          <a:xfrm>
            <a:off x="685800" y="1051560"/>
            <a:ext cx="10817352" cy="365760"/>
          </a:xfrm>
          <a:prstGeom prst="rect">
            <a:avLst/>
          </a:prstGeom>
          <a:noFill/>
        </p:spPr>
        <p:txBody>
          <a:bodyPr wrap="none">
            <a:spAutoFit/>
          </a:bodyPr>
          <a:lstStyle/>
          <a:p>
            <a:pPr>
              <a:defRPr sz="1350">
                <a:solidFill>
                  <a:srgbClr val="212529"/>
                </a:solidFill>
                <a:latin typeface="Arial"/>
              </a:defRPr>
            </a:pPr>
            <a:r>
              <a:rPr/>
              <a:t>Real-time summary monitoring readiness scores and active cases.</a:t>
            </a:r>
            <a:endParaRPr/>
          </a:p>
        </p:txBody>
      </p:sp>
      <p:sp>
        <p:nvSpPr>
          <p:cNvPr id="972100186" name="Rectangle 3"/>
          <p:cNvSpPr/>
          <p:nvPr/>
        </p:nvSpPr>
        <p:spPr bwMode="auto">
          <a:xfrm>
            <a:off x="1645920" y="1554480"/>
            <a:ext cx="8897112" cy="4846320"/>
          </a:xfrm>
          <a:prstGeom prst="rect">
            <a:avLst/>
          </a:prstGeom>
          <a:solidFill>
            <a:srgbClr val="FFFFFF"/>
          </a:solidFill>
          <a:ln w="19050">
            <a:solidFill>
              <a:srgbClr val="B4CD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14981608" name="TextBox 4"/>
          <p:cNvSpPr txBox="1"/>
          <p:nvPr/>
        </p:nvSpPr>
        <p:spPr bwMode="auto">
          <a:xfrm>
            <a:off x="2103120" y="1828800"/>
            <a:ext cx="3840480" cy="274320"/>
          </a:xfrm>
          <a:prstGeom prst="rect">
            <a:avLst/>
          </a:prstGeom>
          <a:noFill/>
        </p:spPr>
        <p:txBody>
          <a:bodyPr wrap="none">
            <a:spAutoFit/>
          </a:bodyPr>
          <a:lstStyle/>
          <a:p>
            <a:pPr>
              <a:defRPr sz="1200" b="1">
                <a:solidFill>
                  <a:srgbClr val="212529"/>
                </a:solidFill>
                <a:latin typeface="Arial"/>
              </a:defRPr>
            </a:pPr>
            <a:r>
              <a:rPr/>
              <a:t>Today's Cases</a:t>
            </a:r>
            <a:endParaRPr/>
          </a:p>
        </p:txBody>
      </p:sp>
      <p:sp>
        <p:nvSpPr>
          <p:cNvPr id="408668233" name="Rounded Rectangle 5"/>
          <p:cNvSpPr/>
          <p:nvPr/>
        </p:nvSpPr>
        <p:spPr bwMode="auto">
          <a:xfrm>
            <a:off x="2103120" y="2103120"/>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12 total scheduled procedures</a:t>
            </a:r>
            <a:endParaRPr/>
          </a:p>
        </p:txBody>
      </p:sp>
      <p:sp>
        <p:nvSpPr>
          <p:cNvPr id="383930896" name="TextBox 6"/>
          <p:cNvSpPr txBox="1"/>
          <p:nvPr/>
        </p:nvSpPr>
        <p:spPr bwMode="auto">
          <a:xfrm>
            <a:off x="6309360" y="1828800"/>
            <a:ext cx="3840480" cy="274320"/>
          </a:xfrm>
          <a:prstGeom prst="rect">
            <a:avLst/>
          </a:prstGeom>
          <a:noFill/>
        </p:spPr>
        <p:txBody>
          <a:bodyPr wrap="none">
            <a:spAutoFit/>
          </a:bodyPr>
          <a:lstStyle/>
          <a:p>
            <a:pPr>
              <a:defRPr sz="1200" b="1">
                <a:solidFill>
                  <a:srgbClr val="212529"/>
                </a:solidFill>
                <a:latin typeface="Arial"/>
              </a:defRPr>
            </a:pPr>
            <a:r>
              <a:rPr/>
              <a:t>Ready Patients</a:t>
            </a:r>
            <a:endParaRPr/>
          </a:p>
        </p:txBody>
      </p:sp>
      <p:sp>
        <p:nvSpPr>
          <p:cNvPr id="580628847" name="Rounded Rectangle 7"/>
          <p:cNvSpPr/>
          <p:nvPr/>
        </p:nvSpPr>
        <p:spPr bwMode="auto">
          <a:xfrm>
            <a:off x="6309360" y="2103120"/>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8 cases (100% Green)</a:t>
            </a:r>
            <a:endParaRPr/>
          </a:p>
        </p:txBody>
      </p:sp>
      <p:sp>
        <p:nvSpPr>
          <p:cNvPr id="115286551" name="TextBox 8"/>
          <p:cNvSpPr txBox="1"/>
          <p:nvPr/>
        </p:nvSpPr>
        <p:spPr bwMode="auto">
          <a:xfrm>
            <a:off x="2103120" y="2743200"/>
            <a:ext cx="3840480" cy="274320"/>
          </a:xfrm>
          <a:prstGeom prst="rect">
            <a:avLst/>
          </a:prstGeom>
          <a:noFill/>
        </p:spPr>
        <p:txBody>
          <a:bodyPr wrap="none">
            <a:spAutoFit/>
          </a:bodyPr>
          <a:lstStyle/>
          <a:p>
            <a:pPr>
              <a:defRPr sz="1200" b="1">
                <a:solidFill>
                  <a:srgbClr val="212529"/>
                </a:solidFill>
                <a:latin typeface="Arial"/>
              </a:defRPr>
            </a:pPr>
            <a:r>
              <a:rPr/>
              <a:t>Pending Patients</a:t>
            </a:r>
            <a:endParaRPr/>
          </a:p>
        </p:txBody>
      </p:sp>
      <p:sp>
        <p:nvSpPr>
          <p:cNvPr id="1510727990" name="Rounded Rectangle 9"/>
          <p:cNvSpPr/>
          <p:nvPr/>
        </p:nvSpPr>
        <p:spPr bwMode="auto">
          <a:xfrm>
            <a:off x="2103120" y="3017519"/>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4 cases (Yellow / Orange)</a:t>
            </a:r>
            <a:endParaRPr/>
          </a:p>
        </p:txBody>
      </p:sp>
      <p:sp>
        <p:nvSpPr>
          <p:cNvPr id="1683161805" name="TextBox 10"/>
          <p:cNvSpPr txBox="1"/>
          <p:nvPr/>
        </p:nvSpPr>
        <p:spPr bwMode="auto">
          <a:xfrm>
            <a:off x="6309360" y="2743200"/>
            <a:ext cx="3840480" cy="274320"/>
          </a:xfrm>
          <a:prstGeom prst="rect">
            <a:avLst/>
          </a:prstGeom>
          <a:noFill/>
        </p:spPr>
        <p:txBody>
          <a:bodyPr wrap="none">
            <a:spAutoFit/>
          </a:bodyPr>
          <a:lstStyle/>
          <a:p>
            <a:pPr>
              <a:defRPr sz="1200" b="1">
                <a:solidFill>
                  <a:srgbClr val="212529"/>
                </a:solidFill>
                <a:latin typeface="Arial"/>
              </a:defRPr>
            </a:pPr>
            <a:r>
              <a:rPr/>
              <a:t>Compliance Overview</a:t>
            </a:r>
            <a:endParaRPr/>
          </a:p>
        </p:txBody>
      </p:sp>
      <p:sp>
        <p:nvSpPr>
          <p:cNvPr id="1343237883" name="Rounded Rectangle 11"/>
          <p:cNvSpPr/>
          <p:nvPr/>
        </p:nvSpPr>
        <p:spPr bwMode="auto">
          <a:xfrm>
            <a:off x="6309360" y="3017519"/>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Chart.js Dynamic Distribution Graph</a:t>
            </a:r>
            <a:endParaRPr/>
          </a:p>
        </p:txBody>
      </p:sp>
      <p:sp>
        <p:nvSpPr>
          <p:cNvPr id="72627972" name="Rounded Rectangle 12"/>
          <p:cNvSpPr/>
          <p:nvPr/>
        </p:nvSpPr>
        <p:spPr bwMode="auto">
          <a:xfrm>
            <a:off x="3803904" y="3931920"/>
            <a:ext cx="4572000" cy="502920"/>
          </a:xfrm>
          <a:prstGeom prst="roundRect">
            <a:avLst>
              <a:gd name="adj" fmla="val 16667"/>
            </a:avLst>
          </a:prstGeom>
          <a:solidFill>
            <a:srgbClr val="4B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rPr/>
              <a:t>VIEW CLINICAL SUMMARY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32149071" name="TextBox 1"/>
          <p:cNvSpPr txBox="1"/>
          <p:nvPr/>
        </p:nvSpPr>
        <p:spPr bwMode="auto">
          <a:xfrm>
            <a:off x="685800" y="365760"/>
            <a:ext cx="10817352" cy="731520"/>
          </a:xfrm>
          <a:prstGeom prst="rect">
            <a:avLst/>
          </a:prstGeom>
          <a:noFill/>
        </p:spPr>
        <p:txBody>
          <a:bodyPr wrap="square" lIns="0" tIns="0" rIns="0" bIns="0">
            <a:spAutoFit/>
          </a:bodyPr>
          <a:lstStyle/>
          <a:p>
            <a:pPr>
              <a:defRPr sz="2800" b="1">
                <a:solidFill>
                  <a:srgbClr val="182B49"/>
                </a:solidFill>
                <a:latin typeface="Arial"/>
              </a:defRPr>
            </a:pPr>
            <a:r>
              <a:rPr/>
              <a:t>Patient Readiness Dashboard</a:t>
            </a:r>
            <a:endParaRPr/>
          </a:p>
        </p:txBody>
      </p:sp>
      <p:sp>
        <p:nvSpPr>
          <p:cNvPr id="1655879376" name="TextBox 2"/>
          <p:cNvSpPr txBox="1"/>
          <p:nvPr/>
        </p:nvSpPr>
        <p:spPr bwMode="auto">
          <a:xfrm>
            <a:off x="685800" y="1051560"/>
            <a:ext cx="10817352" cy="365760"/>
          </a:xfrm>
          <a:prstGeom prst="rect">
            <a:avLst/>
          </a:prstGeom>
          <a:noFill/>
        </p:spPr>
        <p:txBody>
          <a:bodyPr wrap="none">
            <a:spAutoFit/>
          </a:bodyPr>
          <a:lstStyle/>
          <a:p>
            <a:pPr>
              <a:defRPr sz="1350">
                <a:solidFill>
                  <a:srgbClr val="212529"/>
                </a:solidFill>
                <a:latin typeface="Arial"/>
              </a:defRPr>
            </a:pPr>
            <a:r>
              <a:rPr/>
              <a:t>Patient view of preparation progress and safety alerts.</a:t>
            </a:r>
            <a:endParaRPr/>
          </a:p>
        </p:txBody>
      </p:sp>
      <p:sp>
        <p:nvSpPr>
          <p:cNvPr id="1226351334" name="Rectangle 3"/>
          <p:cNvSpPr/>
          <p:nvPr/>
        </p:nvSpPr>
        <p:spPr bwMode="auto">
          <a:xfrm>
            <a:off x="1645920" y="1554480"/>
            <a:ext cx="8897112" cy="4846320"/>
          </a:xfrm>
          <a:prstGeom prst="rect">
            <a:avLst/>
          </a:prstGeom>
          <a:solidFill>
            <a:srgbClr val="FFFFFF"/>
          </a:solidFill>
          <a:ln w="19050">
            <a:solidFill>
              <a:srgbClr val="B4CD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52808693" name="TextBox 4"/>
          <p:cNvSpPr txBox="1"/>
          <p:nvPr/>
        </p:nvSpPr>
        <p:spPr bwMode="auto">
          <a:xfrm>
            <a:off x="2103120" y="1828800"/>
            <a:ext cx="3840480" cy="274320"/>
          </a:xfrm>
          <a:prstGeom prst="rect">
            <a:avLst/>
          </a:prstGeom>
          <a:noFill/>
        </p:spPr>
        <p:txBody>
          <a:bodyPr wrap="none">
            <a:spAutoFit/>
          </a:bodyPr>
          <a:lstStyle/>
          <a:p>
            <a:pPr>
              <a:defRPr sz="1200" b="1">
                <a:solidFill>
                  <a:srgbClr val="212529"/>
                </a:solidFill>
                <a:latin typeface="Arial"/>
              </a:defRPr>
            </a:pPr>
            <a:r>
              <a:rPr/>
              <a:t>Procedure Details</a:t>
            </a:r>
            <a:endParaRPr/>
          </a:p>
        </p:txBody>
      </p:sp>
      <p:sp>
        <p:nvSpPr>
          <p:cNvPr id="1458367262" name="Rounded Rectangle 5"/>
          <p:cNvSpPr/>
          <p:nvPr/>
        </p:nvSpPr>
        <p:spPr bwMode="auto">
          <a:xfrm>
            <a:off x="2103120" y="2103120"/>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Left Heart Catheterization (CPT-93452)</a:t>
            </a:r>
            <a:endParaRPr/>
          </a:p>
        </p:txBody>
      </p:sp>
      <p:sp>
        <p:nvSpPr>
          <p:cNvPr id="576598734" name="TextBox 6"/>
          <p:cNvSpPr txBox="1"/>
          <p:nvPr/>
        </p:nvSpPr>
        <p:spPr bwMode="auto">
          <a:xfrm>
            <a:off x="6309360" y="1828800"/>
            <a:ext cx="3840480" cy="274320"/>
          </a:xfrm>
          <a:prstGeom prst="rect">
            <a:avLst/>
          </a:prstGeom>
          <a:noFill/>
        </p:spPr>
        <p:txBody>
          <a:bodyPr wrap="none">
            <a:spAutoFit/>
          </a:bodyPr>
          <a:lstStyle/>
          <a:p>
            <a:pPr>
              <a:defRPr sz="1200" b="1">
                <a:solidFill>
                  <a:srgbClr val="212529"/>
                </a:solidFill>
                <a:latin typeface="Arial"/>
              </a:defRPr>
            </a:pPr>
            <a:r>
              <a:rPr/>
              <a:t>Preparation Progress</a:t>
            </a:r>
            <a:endParaRPr/>
          </a:p>
        </p:txBody>
      </p:sp>
      <p:sp>
        <p:nvSpPr>
          <p:cNvPr id="2037756562" name="Rounded Rectangle 7"/>
          <p:cNvSpPr/>
          <p:nvPr/>
        </p:nvSpPr>
        <p:spPr bwMode="auto">
          <a:xfrm>
            <a:off x="6309360" y="2103120"/>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85% Completion Bar</a:t>
            </a:r>
            <a:endParaRPr/>
          </a:p>
        </p:txBody>
      </p:sp>
      <p:sp>
        <p:nvSpPr>
          <p:cNvPr id="50357703" name="TextBox 8"/>
          <p:cNvSpPr txBox="1"/>
          <p:nvPr/>
        </p:nvSpPr>
        <p:spPr bwMode="auto">
          <a:xfrm>
            <a:off x="2103120" y="2743200"/>
            <a:ext cx="3840480" cy="274320"/>
          </a:xfrm>
          <a:prstGeom prst="rect">
            <a:avLst/>
          </a:prstGeom>
          <a:noFill/>
        </p:spPr>
        <p:txBody>
          <a:bodyPr wrap="none">
            <a:spAutoFit/>
          </a:bodyPr>
          <a:lstStyle/>
          <a:p>
            <a:pPr>
              <a:defRPr sz="1200" b="1">
                <a:solidFill>
                  <a:srgbClr val="212529"/>
                </a:solidFill>
                <a:latin typeface="Arial"/>
              </a:defRPr>
            </a:pPr>
            <a:r>
              <a:rPr/>
              <a:t>Readiness Status</a:t>
            </a:r>
            <a:endParaRPr/>
          </a:p>
        </p:txBody>
      </p:sp>
      <p:sp>
        <p:nvSpPr>
          <p:cNvPr id="1567808226" name="Rounded Rectangle 9"/>
          <p:cNvSpPr/>
          <p:nvPr/>
        </p:nvSpPr>
        <p:spPr bwMode="auto">
          <a:xfrm>
            <a:off x="2103120" y="3017519"/>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YELLOW (Warning: Missing Lab File)</a:t>
            </a:r>
            <a:endParaRPr/>
          </a:p>
        </p:txBody>
      </p:sp>
      <p:sp>
        <p:nvSpPr>
          <p:cNvPr id="4605656" name="TextBox 10"/>
          <p:cNvSpPr txBox="1"/>
          <p:nvPr/>
        </p:nvSpPr>
        <p:spPr bwMode="auto">
          <a:xfrm>
            <a:off x="6309360" y="2743200"/>
            <a:ext cx="3840480" cy="274320"/>
          </a:xfrm>
          <a:prstGeom prst="rect">
            <a:avLst/>
          </a:prstGeom>
          <a:noFill/>
        </p:spPr>
        <p:txBody>
          <a:bodyPr wrap="none">
            <a:spAutoFit/>
          </a:bodyPr>
          <a:lstStyle/>
          <a:p>
            <a:pPr>
              <a:defRPr sz="1200" b="1">
                <a:solidFill>
                  <a:srgbClr val="212529"/>
                </a:solidFill>
                <a:latin typeface="Arial"/>
              </a:defRPr>
            </a:pPr>
            <a:r>
              <a:rPr/>
              <a:t>Risk Warnings &amp; Messages</a:t>
            </a:r>
            <a:endParaRPr/>
          </a:p>
        </p:txBody>
      </p:sp>
      <p:sp>
        <p:nvSpPr>
          <p:cNvPr id="977684104" name="Rounded Rectangle 11"/>
          <p:cNvSpPr/>
          <p:nvPr/>
        </p:nvSpPr>
        <p:spPr bwMode="auto">
          <a:xfrm>
            <a:off x="6309360" y="3017519"/>
            <a:ext cx="3840480" cy="502920"/>
          </a:xfrm>
          <a:prstGeom prst="roundRect">
            <a:avLst>
              <a:gd name="adj" fmla="val 16667"/>
            </a:avLst>
          </a:prstGeom>
          <a:solidFill>
            <a:srgbClr val="64A0E6"/>
          </a:solidFill>
          <a:ln>
            <a:noFill/>
          </a:ln>
        </p:spPr>
        <p:style>
          <a:lnRef idx="1">
            <a:schemeClr val="accent1"/>
          </a:lnRef>
          <a:fillRef idx="3">
            <a:schemeClr val="accent1"/>
          </a:fillRef>
          <a:effectRef idx="2">
            <a:schemeClr val="accent1"/>
          </a:effectRef>
          <a:fontRef idx="minor">
            <a:schemeClr val="lt1"/>
          </a:fontRef>
        </p:style>
        <p:txBody>
          <a:bodyPr lIns="109728" rtlCol="0" anchor="ctr"/>
          <a:lstStyle/>
          <a:p>
            <a:pPr algn="ctr">
              <a:defRPr sz="1100">
                <a:solidFill>
                  <a:srgbClr val="FFFFFF"/>
                </a:solidFill>
                <a:latin typeface="Arial"/>
              </a:defRPr>
            </a:pPr>
            <a:r>
              <a:rPr/>
              <a:t>Fasting Blood Sugar Alert (&gt; 200 mg/dL)</a:t>
            </a:r>
            <a:endParaRPr/>
          </a:p>
        </p:txBody>
      </p:sp>
      <p:sp>
        <p:nvSpPr>
          <p:cNvPr id="1780376386" name="Rounded Rectangle 12"/>
          <p:cNvSpPr/>
          <p:nvPr/>
        </p:nvSpPr>
        <p:spPr bwMode="auto">
          <a:xfrm>
            <a:off x="3803904" y="3931920"/>
            <a:ext cx="4572000" cy="502920"/>
          </a:xfrm>
          <a:prstGeom prst="roundRect">
            <a:avLst>
              <a:gd name="adj" fmla="val 16667"/>
            </a:avLst>
          </a:prstGeom>
          <a:solidFill>
            <a:srgbClr val="4B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rPr/>
              <a:t>VIEW READINESS STATUS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129169611" name="TextBox 1"/>
          <p:cNvSpPr txBox="1"/>
          <p:nvPr/>
        </p:nvSpPr>
        <p:spPr bwMode="auto">
          <a:xfrm>
            <a:off x="914400" y="2693849"/>
            <a:ext cx="10360511" cy="1364339"/>
          </a:xfrm>
          <a:prstGeom prst="rect">
            <a:avLst/>
          </a:prstGeom>
          <a:noFill/>
        </p:spPr>
        <p:txBody>
          <a:bodyPr wrap="square">
            <a:spAutoFit/>
          </a:bodyPr>
          <a:lstStyle/>
          <a:p>
            <a:pPr algn="ctr">
              <a:defRPr sz="5600" b="1">
                <a:solidFill>
                  <a:srgbClr val="182B49"/>
                </a:solidFill>
                <a:latin typeface="Arial"/>
              </a:defRPr>
            </a:pPr>
            <a:r>
              <a:rPr/>
              <a:t>THANK YOU</a:t>
            </a:r>
            <a:endParaRPr/>
          </a:p>
          <a:p>
            <a:pPr algn="ctr">
              <a:spcBef>
                <a:spcPts val="1500"/>
              </a:spcBef>
              <a:defRPr sz="1500">
                <a:solidFill>
                  <a:srgbClr val="6C757D"/>
                </a:solidFill>
                <a:latin typeface="Arial"/>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32</Slides>
  <Notes>32</Notes>
  <HiddenSlides>0</HiddenSlides>
  <MMClips>2</MMClips>
  <ScaleCrop>0</ScaleCrop>
  <HeadingPairs>
    <vt:vector size="4" baseType="variant">
      <vt:variant>
        <vt:lpstr>Theme</vt:lpstr>
      </vt:variant>
      <vt:variant>
        <vt:i4>1</vt:i4>
      </vt:variant>
      <vt:variant>
        <vt:lpstr>Slide Titles</vt:lpstr>
      </vt:variant>
      <vt:variant>
        <vt:i4>32</vt:i4>
      </vt:variant>
    </vt:vector>
  </HeadingPairs>
  <TitlesOfParts>
    <vt:vector size="3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2</cp:revision>
  <dcterms:created xsi:type="dcterms:W3CDTF">2013-01-27T09:14:16Z</dcterms:created>
  <dcterms:modified xsi:type="dcterms:W3CDTF">2026-09-02T17:12:19Z</dcterms:modified>
  <cp:category/>
</cp:coreProperties>
</file>