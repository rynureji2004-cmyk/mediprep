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3716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82B49"/>
                </a:solidFill>
                <a:latin typeface="Arial"/>
              </a:defRPr>
            </a:pPr>
            <a:r>
              <a:t>MediPrep</a:t>
            </a:r>
          </a:p>
          <a:p>
            <a:pPr>
              <a:spcBef>
                <a:spcPts val="800"/>
              </a:spcBef>
              <a:defRPr sz="2200" b="1">
                <a:solidFill>
                  <a:srgbClr val="212529"/>
                </a:solidFill>
                <a:latin typeface="Arial"/>
              </a:defRPr>
            </a:pPr>
            <a:r>
              <a:t>Hospital Procedure Preparation and Readiness System</a:t>
            </a:r>
          </a:p>
          <a:p>
            <a:pPr>
              <a:spcBef>
                <a:spcPts val="1600"/>
              </a:spcBef>
              <a:defRPr sz="1800">
                <a:solidFill>
                  <a:srgbClr val="6C757D"/>
                </a:solidFill>
                <a:latin typeface="Courier New"/>
              </a:defRPr>
            </a:pPr>
            <a:r>
              <a:t>MCA Project Review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4297680"/>
            <a:ext cx="6858000" cy="2011680"/>
          </a:xfrm>
          <a:prstGeom prst="round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b="1" sz="1300">
                <a:solidFill>
                  <a:srgbClr val="FFFFFF"/>
                </a:solidFill>
                <a:latin typeface="Arial"/>
              </a:defRPr>
            </a:pPr>
            <a:r>
              <a:t>STUDENT NAME: RYNU REJI   |   ROLL NO: 52</a:t>
            </a:r>
          </a:p>
          <a:p>
            <a:pPr>
              <a:spcBef>
                <a:spcPts val="600"/>
              </a:spcBef>
              <a:defRPr sz="1200">
                <a:solidFill>
                  <a:srgbClr val="DCE6F5"/>
                </a:solidFill>
                <a:latin typeface="Arial"/>
              </a:defRPr>
            </a:pPr>
            <a:r>
              <a:t>CLASS: S3 MCA</a:t>
            </a:r>
          </a:p>
          <a:p>
            <a:pPr>
              <a:spcBef>
                <a:spcPts val="600"/>
              </a:spcBef>
              <a:defRPr sz="1200">
                <a:solidFill>
                  <a:srgbClr val="B4D2EB"/>
                </a:solidFill>
                <a:latin typeface="Arial"/>
              </a:defRPr>
            </a:pPr>
            <a:r>
              <a:t>GUIDE: Assistant Professor Rajesh 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50">
                <a:solidFill>
                  <a:srgbClr val="212529"/>
                </a:solidFill>
                <a:latin typeface="Arial"/>
              </a:defRPr>
            </a:pPr>
            <a:r>
              <a:t>•  MediPrep is a web-based hospital procedure preparation system.</a:t>
            </a:r>
          </a:p>
          <a:p>
            <a:pPr>
              <a:spcAft>
                <a:spcPts val="1800"/>
              </a:spcAft>
              <a:defRPr sz="1750">
                <a:solidFill>
                  <a:srgbClr val="212529"/>
                </a:solidFill>
                <a:latin typeface="Arial"/>
              </a:defRPr>
            </a:pPr>
            <a:r>
              <a:t>•  It helps doctors schedule procedures and assign preparation tasks.</a:t>
            </a:r>
          </a:p>
          <a:p>
            <a:pPr>
              <a:spcAft>
                <a:spcPts val="1800"/>
              </a:spcAft>
              <a:defRPr sz="1750">
                <a:solidFill>
                  <a:srgbClr val="212529"/>
                </a:solidFill>
                <a:latin typeface="Arial"/>
              </a:defRPr>
            </a:pPr>
            <a:r>
              <a:t>•  Patients can view their checklist, upload reports and enter pre-op vitals.</a:t>
            </a:r>
          </a:p>
          <a:p>
            <a:pPr>
              <a:spcAft>
                <a:spcPts val="1800"/>
              </a:spcAft>
              <a:defRPr sz="1750">
                <a:solidFill>
                  <a:srgbClr val="212529"/>
                </a:solidFill>
                <a:latin typeface="Arial"/>
              </a:defRPr>
            </a:pPr>
            <a:r>
              <a:t>•  Doctors can verify reports and monitor patient readiness.</a:t>
            </a:r>
          </a:p>
          <a:p>
            <a:pPr>
              <a:spcAft>
                <a:spcPts val="1800"/>
              </a:spcAft>
              <a:defRPr sz="1750">
                <a:solidFill>
                  <a:srgbClr val="212529"/>
                </a:solidFill>
                <a:latin typeface="Arial"/>
              </a:defRPr>
            </a:pPr>
            <a:r>
              <a:t>•  The system helps identify pending preparation and safety warnings before a procedure.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Module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182B49"/>
                </a:solidFill>
                <a:latin typeface="Arial"/>
              </a:defRPr>
            </a:pPr>
            <a:r>
              <a:t>1. Doctor Module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Login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Schedule procedure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Manage patient checklist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View uploaded reports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Verify reports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View patient vitals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Check risk alerts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Monitor readiness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Send patient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182B49"/>
                </a:solidFill>
                <a:latin typeface="Arial"/>
              </a:defRPr>
            </a:pPr>
            <a:r>
              <a:t>2. Patient Module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Login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View scheduled procedure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View checklist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Complete preparation tasks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Upload reports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Enter pre-op vitals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View readiness status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 View doctor messages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 b="1">
                <a:solidFill>
                  <a:srgbClr val="182B49"/>
                </a:solidFill>
                <a:latin typeface="Arial"/>
              </a:defRPr>
            </a:pPr>
            <a:r>
              <a:t>•  Frontend: HTML, CSS, JavaScript</a:t>
            </a:r>
          </a:p>
          <a:p>
            <a:pPr>
              <a:spcAft>
                <a:spcPts val="1800"/>
              </a:spcAft>
              <a:defRPr sz="1900" b="1">
                <a:solidFill>
                  <a:srgbClr val="182B49"/>
                </a:solidFill>
                <a:latin typeface="Arial"/>
              </a:defRPr>
            </a:pPr>
            <a:r>
              <a:t>•  Backend: Python Flask</a:t>
            </a:r>
          </a:p>
          <a:p>
            <a:pPr>
              <a:spcAft>
                <a:spcPts val="1800"/>
              </a:spcAft>
              <a:defRPr sz="1900" b="1">
                <a:solidFill>
                  <a:srgbClr val="182B49"/>
                </a:solidFill>
                <a:latin typeface="Arial"/>
              </a:defRPr>
            </a:pPr>
            <a:r>
              <a:t>•  Database: MySQL</a:t>
            </a:r>
          </a:p>
          <a:p>
            <a:pPr>
              <a:spcAft>
                <a:spcPts val="1800"/>
              </a:spcAft>
              <a:defRPr sz="1900" b="1">
                <a:solidFill>
                  <a:srgbClr val="182B49"/>
                </a:solidFill>
                <a:latin typeface="Arial"/>
              </a:defRPr>
            </a:pPr>
            <a:r>
              <a:t>•  Development Tool: Visual Studio Code</a:t>
            </a:r>
          </a:p>
          <a:p>
            <a:pPr>
              <a:spcAft>
                <a:spcPts val="1800"/>
              </a:spcAft>
              <a:defRPr sz="1900" b="1">
                <a:solidFill>
                  <a:srgbClr val="182B49"/>
                </a:solidFill>
                <a:latin typeface="Arial"/>
              </a:defRPr>
            </a:pPr>
            <a:r>
              <a:t>•  Web Server: Flask Development Server</a:t>
            </a:r>
          </a:p>
          <a:p>
            <a:pPr>
              <a:spcAft>
                <a:spcPts val="1800"/>
              </a:spcAft>
              <a:defRPr sz="1900" b="1">
                <a:solidFill>
                  <a:srgbClr val="182B49"/>
                </a:solidFill>
                <a:latin typeface="Arial"/>
              </a:defRPr>
            </a:pPr>
            <a:r>
              <a:t>•  Operating System: Windows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Table / Database Design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280160"/>
          <a:ext cx="108173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976872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t>tbl_users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Stores doctor and patient login details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t>tbl_procedures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Stores procedure details and CPT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t>tbl_scheduled_procedures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Stores scheduled procedure details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t>tbl_checklist_items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Stores patient preparation checklist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t>tbl_uploaded_reports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Stores uploaded report details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t>tbl_patient_vitals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Stores pre-operative vital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t>tbl_procedure_readiness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Stores readiness status and percentage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t>tbl_risk_alerts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Stores risk/safety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t>tbl_notifications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Stores doctor-patient messages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82B49"/>
                          </a:solidFill>
                          <a:latin typeface="Courier New"/>
                        </a:defRPr>
                      </a:pPr>
                      <a:r>
                        <a:t>tbl_health_suggestions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Stores preparation suggestions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Class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2651760" cy="27432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850" b="0">
                <a:solidFill>
                  <a:srgbClr val="212529"/>
                </a:solidFill>
                <a:latin typeface="Arial"/>
              </a:defRPr>
            </a:pPr>
            <a:r>
              <a:t>id : Integer</a:t>
            </a:r>
            <a:br/>
            <a:r>
              <a:t>full_name : String</a:t>
            </a:r>
            <a:br/>
            <a:r>
              <a:t>email : String</a:t>
            </a:r>
            <a:br/>
            <a:r>
              <a:t>password_hash : String</a:t>
            </a:r>
            <a:br/>
            <a:r>
              <a:t>role_name : String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00400"/>
            <a:ext cx="2651760" cy="27432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Notification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850" b="0">
                <a:solidFill>
                  <a:srgbClr val="212529"/>
                </a:solidFill>
                <a:latin typeface="Arial"/>
              </a:defRPr>
            </a:pPr>
            <a:r>
              <a:t>id : Integer</a:t>
            </a:r>
            <a:br/>
            <a:r>
              <a:t>user_id : Integer</a:t>
            </a:r>
            <a:br/>
            <a:r>
              <a:t>sender_id : Integer</a:t>
            </a:r>
            <a:br/>
            <a:r>
              <a:t>schedule_id : Integer</a:t>
            </a:r>
            <a:br/>
            <a:r>
              <a:t>title : String</a:t>
            </a:r>
            <a:br/>
            <a:r>
              <a:t>message : 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120640"/>
            <a:ext cx="2651760" cy="27432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ChecklistItem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94959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850" b="0">
                <a:solidFill>
                  <a:srgbClr val="212529"/>
                </a:solidFill>
                <a:latin typeface="Arial"/>
              </a:defRPr>
            </a:pPr>
            <a:r>
              <a:t>id : Integer</a:t>
            </a:r>
            <a:br/>
            <a:r>
              <a:t>scheduled_procedure_id : Integer</a:t>
            </a:r>
            <a:br/>
            <a:r>
              <a:t>task_name : String</a:t>
            </a:r>
            <a:br/>
            <a:r>
              <a:t>task_type : String</a:t>
            </a:r>
            <a:br/>
            <a:r>
              <a:t>status : String</a:t>
            </a:r>
            <a:br/>
            <a:r>
              <a:t>is_critical : Boolean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2834640" cy="27432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ScheduledProcedure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28346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850" b="0">
                <a:solidFill>
                  <a:srgbClr val="212529"/>
                </a:solidFill>
                <a:latin typeface="Arial"/>
              </a:defRPr>
            </a:pPr>
            <a:r>
              <a:t>id : Integer</a:t>
            </a:r>
            <a:br/>
            <a:r>
              <a:t>patient_id : Integer</a:t>
            </a:r>
            <a:br/>
            <a:r>
              <a:t>doctor_id : Integer</a:t>
            </a:r>
            <a:br/>
            <a:r>
              <a:t>procedure_id : Integer</a:t>
            </a:r>
            <a:br/>
            <a:r>
              <a:t>scheduled_at : DateTime</a:t>
            </a:r>
            <a:br/>
            <a:r>
              <a:t>location : String</a:t>
            </a:r>
            <a:br/>
            <a:r>
              <a:t>status : String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200400"/>
            <a:ext cx="2834640" cy="27432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PatientVitals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474720"/>
            <a:ext cx="2834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850" b="0">
                <a:solidFill>
                  <a:srgbClr val="212529"/>
                </a:solidFill>
                <a:latin typeface="Arial"/>
              </a:defRPr>
            </a:pPr>
            <a:r>
              <a:t>id : Integer</a:t>
            </a:r>
            <a:br/>
            <a:r>
              <a:t>scheduled_procedure_id : Integer</a:t>
            </a:r>
            <a:br/>
            <a:r>
              <a:t>patient_id : Integer</a:t>
            </a:r>
            <a:br/>
            <a:r>
              <a:t>blood_sugar_mg_dl : Float</a:t>
            </a:r>
            <a:br/>
            <a:r>
              <a:t>bp_systolic : Integer</a:t>
            </a:r>
            <a:br/>
            <a:r>
              <a:t>bp_diastolic : Integer</a:t>
            </a:r>
            <a:br/>
            <a:r>
              <a:t>temperature_f : Float</a:t>
            </a:r>
            <a:br/>
            <a:r>
              <a:t>creatinine : Float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5120640"/>
            <a:ext cx="2834640" cy="27432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UploadedReport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5394959"/>
            <a:ext cx="2834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850" b="0">
                <a:solidFill>
                  <a:srgbClr val="212529"/>
                </a:solidFill>
                <a:latin typeface="Arial"/>
              </a:defRPr>
            </a:pPr>
            <a:r>
              <a:t>id : Integer</a:t>
            </a:r>
            <a:br/>
            <a:r>
              <a:t>checklist_item_id : Integer</a:t>
            </a:r>
            <a:br/>
            <a:r>
              <a:t>uploaded_by : Integer</a:t>
            </a:r>
            <a:br/>
            <a:r>
              <a:t>file_name : String</a:t>
            </a:r>
            <a:br/>
            <a:r>
              <a:t>file_path : String</a:t>
            </a:r>
            <a:br/>
            <a:r>
              <a:t>file_size : Integer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280160"/>
            <a:ext cx="2651760" cy="27432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Procedure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554480"/>
            <a:ext cx="26517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850" b="0">
                <a:solidFill>
                  <a:srgbClr val="212529"/>
                </a:solidFill>
                <a:latin typeface="Arial"/>
              </a:defRPr>
            </a:pPr>
            <a:r>
              <a:t>id : Integer</a:t>
            </a:r>
            <a:br/>
            <a:r>
              <a:t>procedure_code : String</a:t>
            </a:r>
            <a:br/>
            <a:r>
              <a:t>name : String</a:t>
            </a:r>
            <a:br/>
            <a:r>
              <a:t>category : 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743200"/>
            <a:ext cx="2651760" cy="27432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RiskAlert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01752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850" b="0">
                <a:solidFill>
                  <a:srgbClr val="212529"/>
                </a:solidFill>
                <a:latin typeface="Arial"/>
              </a:defRPr>
            </a:pPr>
            <a:r>
              <a:t>id : Integer</a:t>
            </a:r>
            <a:br/>
            <a:r>
              <a:t>scheduled_procedure_id : Integer</a:t>
            </a:r>
            <a:br/>
            <a:r>
              <a:t>alert_code : String</a:t>
            </a:r>
            <a:br/>
            <a:r>
              <a:t>description : Text</a:t>
            </a:r>
            <a:br/>
            <a:r>
              <a:t>is_resolved : Boolean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4160520"/>
            <a:ext cx="2651760" cy="27432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HealthSuggestion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434840"/>
            <a:ext cx="26517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850" b="0">
                <a:solidFill>
                  <a:srgbClr val="212529"/>
                </a:solidFill>
                <a:latin typeface="Arial"/>
              </a:defRPr>
            </a:pPr>
            <a:r>
              <a:t>id : Integer</a:t>
            </a:r>
            <a:br/>
            <a:r>
              <a:t>procedure_id : Integer</a:t>
            </a:r>
            <a:br/>
            <a:r>
              <a:t>suggestion_text : Text</a:t>
            </a:r>
            <a:br/>
            <a:r>
              <a:t>trigger_condition : String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5486400"/>
            <a:ext cx="2651760" cy="27432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ProcedureReadiness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5760720"/>
            <a:ext cx="26517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850" b="0">
                <a:solidFill>
                  <a:srgbClr val="212529"/>
                </a:solidFill>
                <a:latin typeface="Arial"/>
              </a:defRPr>
            </a:pPr>
            <a:r>
              <a:t>id : Integer</a:t>
            </a:r>
            <a:br/>
            <a:r>
              <a:t>scheduled_procedure_id : Integer</a:t>
            </a:r>
            <a:br/>
            <a:r>
              <a:t>readiness_percentage : Float</a:t>
            </a:r>
            <a:br/>
            <a:r>
              <a:t>readiness_status : String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1819275"/>
            <a:ext cx="1188720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160020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160020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1..*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1819275"/>
            <a:ext cx="1188720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160020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1..*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160020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96915" y="2743200"/>
            <a:ext cx="19050" cy="45720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278892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297180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0..*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2276475"/>
            <a:ext cx="2514601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64994" y="2286000"/>
            <a:ext cx="19050" cy="283464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9080" y="2084831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484632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1..*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5751195"/>
            <a:ext cx="1188720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46120" y="553212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553212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0..1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28835" y="2423160"/>
            <a:ext cx="19050" cy="17373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800" y="251460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393192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0..*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64994" y="2514600"/>
            <a:ext cx="19050" cy="68580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65960" y="260604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65960" y="297180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0..*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2276475"/>
            <a:ext cx="1188720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02955" y="2286000"/>
            <a:ext cx="19050" cy="45720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0" y="2084831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251460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0..*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760" y="2550795"/>
            <a:ext cx="822960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37195" y="2560320"/>
            <a:ext cx="19050" cy="338328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46720" y="5934075"/>
            <a:ext cx="365760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0" y="23591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79" y="571500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950">
                <a:solidFill>
                  <a:srgbClr val="182B49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Use Case Diagram</a:t>
            </a:r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65760" cy="365760"/>
          </a:xfrm>
          <a:prstGeom prst="ellipse">
            <a:avLst/>
          </a:prstGeom>
          <a:solidFill>
            <a:srgbClr val="2969B0"/>
          </a:solidFill>
          <a:ln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61872" y="2926080"/>
            <a:ext cx="36576" cy="54864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3017520"/>
            <a:ext cx="402336" cy="36576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900000">
            <a:off x="1170432" y="3456432"/>
            <a:ext cx="36576" cy="45720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700000">
            <a:off x="1353312" y="3456432"/>
            <a:ext cx="36576" cy="45720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182B49"/>
                </a:solidFill>
              </a:defRPr>
            </a:pPr>
            <a:r>
              <a:t>DOCTOR</a:t>
            </a:r>
          </a:p>
        </p:txBody>
      </p:sp>
      <p:sp>
        <p:nvSpPr>
          <p:cNvPr id="9" name="Oval 8"/>
          <p:cNvSpPr/>
          <p:nvPr/>
        </p:nvSpPr>
        <p:spPr>
          <a:xfrm>
            <a:off x="10725912" y="2560320"/>
            <a:ext cx="365760" cy="365760"/>
          </a:xfrm>
          <a:prstGeom prst="ellipse">
            <a:avLst/>
          </a:prstGeom>
          <a:solidFill>
            <a:srgbClr val="2969B0"/>
          </a:solidFill>
          <a:ln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90504" y="2926080"/>
            <a:ext cx="36576" cy="54864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07624" y="3017520"/>
            <a:ext cx="402336" cy="36576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900000">
            <a:off x="10799064" y="3456432"/>
            <a:ext cx="36576" cy="45720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700000">
            <a:off x="10981944" y="3456432"/>
            <a:ext cx="36576" cy="45720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60152" y="3931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182B49"/>
                </a:solidFill>
              </a:defRPr>
            </a:pPr>
            <a:r>
              <a:t>PATIENT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280160"/>
            <a:ext cx="7616952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6C757D"/>
                </a:solidFill>
                <a:latin typeface="Arial"/>
              </a:defRPr>
            </a:pPr>
            <a:r>
              <a:t>System Boundary: MEDIPREP SYSTEM</a:t>
            </a:r>
          </a:p>
        </p:txBody>
      </p:sp>
      <p:sp>
        <p:nvSpPr>
          <p:cNvPr id="16" name="Oval 15"/>
          <p:cNvSpPr/>
          <p:nvPr/>
        </p:nvSpPr>
        <p:spPr>
          <a:xfrm>
            <a:off x="2743200" y="1572768"/>
            <a:ext cx="2560320" cy="365760"/>
          </a:xfrm>
          <a:prstGeom prst="ellipse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Login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39570" y="1737360"/>
            <a:ext cx="12700" cy="173736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43200" y="2075688"/>
            <a:ext cx="2560320" cy="365760"/>
          </a:xfrm>
          <a:prstGeom prst="ellipse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Schedule Procedure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39570" y="2240280"/>
            <a:ext cx="12700" cy="1234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43200" y="2578608"/>
            <a:ext cx="2560320" cy="365760"/>
          </a:xfrm>
          <a:prstGeom prst="ellipse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Manage Checklist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3468370"/>
            <a:ext cx="1097280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43200" y="3081527"/>
            <a:ext cx="2560320" cy="365760"/>
          </a:xfrm>
          <a:prstGeom prst="ellipse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View 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3468370"/>
            <a:ext cx="1097280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43200" y="3584447"/>
            <a:ext cx="2560320" cy="365760"/>
          </a:xfrm>
          <a:prstGeom prst="ellipse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Verify Reports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3468370"/>
            <a:ext cx="1097280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43200" y="4087368"/>
            <a:ext cx="2560320" cy="365760"/>
          </a:xfrm>
          <a:prstGeom prst="ellipse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View Patient Vitals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0" y="3468370"/>
            <a:ext cx="1097280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43200" y="4590288"/>
            <a:ext cx="2560320" cy="365760"/>
          </a:xfrm>
          <a:prstGeom prst="ellipse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Check Risk Alerts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39570" y="3474720"/>
            <a:ext cx="12700" cy="128016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43200" y="5093208"/>
            <a:ext cx="2560320" cy="365760"/>
          </a:xfrm>
          <a:prstGeom prst="ellipse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Send Patient Message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39570" y="3474720"/>
            <a:ext cx="12700" cy="178308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43200" y="5596128"/>
            <a:ext cx="2560320" cy="365760"/>
          </a:xfrm>
          <a:prstGeom prst="ellipse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Monitor Readiness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39570" y="3474720"/>
            <a:ext cx="12700" cy="2286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43200" y="6099048"/>
            <a:ext cx="2560320" cy="365760"/>
          </a:xfrm>
          <a:prstGeom prst="ellipse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View Clinical Reports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39570" y="3474720"/>
            <a:ext cx="12700" cy="2788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0" y="1572768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Login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53802" y="1737360"/>
            <a:ext cx="12700" cy="173736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0" y="2075688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View Procedure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53802" y="2240280"/>
            <a:ext cx="12700" cy="1234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0" y="2578608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View Checklist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0" y="3468370"/>
            <a:ext cx="941832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58000" y="3081527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Complete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3468370"/>
            <a:ext cx="941832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858000" y="3584447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Upload Report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20" y="3468370"/>
            <a:ext cx="941832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0" y="4087368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Enter Vitals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3468370"/>
            <a:ext cx="941832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858000" y="4590288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View Readiness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53802" y="3474720"/>
            <a:ext cx="12700" cy="128016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858000" y="5093208"/>
            <a:ext cx="2560320" cy="365760"/>
          </a:xfrm>
          <a:prstGeom prst="ellipse">
            <a:avLst/>
          </a:prstGeom>
          <a:solidFill>
            <a:srgbClr val="FFEBD7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defRPr sz="850" b="1">
                <a:solidFill>
                  <a:srgbClr val="212529"/>
                </a:solidFill>
                <a:latin typeface="Arial"/>
              </a:defRPr>
            </a:pPr>
            <a:r>
              <a:t>View Messages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53802" y="3474720"/>
            <a:ext cx="12700" cy="178308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Form / User Interface Design (Part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5120640" cy="32004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1. Login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5120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050" b="0">
                <a:solidFill>
                  <a:srgbClr val="212529"/>
                </a:solidFill>
                <a:latin typeface="Arial"/>
              </a:defRPr>
            </a:pPr>
            <a:r>
              <a:t>• Email: priya.nair@mediprep.com</a:t>
            </a:r>
            <a:br/>
            <a:r>
              <a:t>• Password: ••••••••••••</a:t>
            </a:r>
            <a:br/>
            <a:r>
              <a:t>• Role: Doctor / Patient</a:t>
            </a:r>
            <a:br/>
            <a:r>
              <a:t>• Login button: authenticates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371600"/>
            <a:ext cx="5120640" cy="32004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2. Schedule Procedure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91640"/>
            <a:ext cx="5120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050" b="0">
                <a:solidFill>
                  <a:srgbClr val="212529"/>
                </a:solidFill>
                <a:latin typeface="Arial"/>
              </a:defRPr>
            </a:pPr>
            <a:r>
              <a:t>• Patient: Rahul Sharma (PAT-8042)</a:t>
            </a:r>
            <a:br/>
            <a:r>
              <a:t>• Procedure: Left Heart Catheterization (CPT-93452)</a:t>
            </a:r>
            <a:br/>
            <a:r>
              <a:t>• Date &amp; Time: 05 Oct 2026, 10:00 AM</a:t>
            </a:r>
            <a:br/>
            <a:r>
              <a:t>• Location: Cardiology Dept - Lab 2</a:t>
            </a:r>
            <a:br/>
            <a:r>
              <a:t>• Schedule button: creates booking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114800"/>
            <a:ext cx="5120640" cy="32004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3. Patient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434840"/>
            <a:ext cx="5120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050" b="0">
                <a:solidFill>
                  <a:srgbClr val="212529"/>
                </a:solidFill>
                <a:latin typeface="Arial"/>
              </a:defRPr>
            </a:pPr>
            <a:r>
              <a:t>• Procedure details: Left Heart Catheterization</a:t>
            </a:r>
            <a:br/>
            <a:r>
              <a:t>• Preparation progress: 85% completion</a:t>
            </a:r>
            <a:br/>
            <a:r>
              <a:t>• Readiness status: YELLOW (Warning)</a:t>
            </a:r>
            <a:br/>
            <a:r>
              <a:t>• Checklist view: fasting &amp; lab tasks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2512" y="4114800"/>
            <a:ext cx="5120640" cy="32004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4. Patient Checklist / Report Upload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4434840"/>
            <a:ext cx="5120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050" b="0">
                <a:solidFill>
                  <a:srgbClr val="212529"/>
                </a:solidFill>
                <a:latin typeface="Arial"/>
              </a:defRPr>
            </a:pPr>
            <a:r>
              <a:t>• Checklist task: 8-Hour NPO Fasting (Checked)</a:t>
            </a:r>
            <a:br/>
            <a:r>
              <a:t>• Upload report: blood_test_report.pdf</a:t>
            </a:r>
            <a:br/>
            <a:r>
              <a:t>• Complete action: submit file for review</a:t>
            </a:r>
            <a:br/>
            <a:r>
              <a:t>• Status: Uploaded / Pending Doctor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Form / User Interface Design (Part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5120640" cy="32004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5. Doctor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5120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050" b="0">
                <a:solidFill>
                  <a:srgbClr val="212529"/>
                </a:solidFill>
                <a:latin typeface="Arial"/>
              </a:defRPr>
            </a:pPr>
            <a:r>
              <a:t>• Today's Cases: 12 total scheduled procedures</a:t>
            </a:r>
            <a:br/>
            <a:r>
              <a:t>• Ready Patients: 8 cases (100% Green)</a:t>
            </a:r>
            <a:br/>
            <a:r>
              <a:t>• Pending Patients: 4 cases (Yellow / Orange)</a:t>
            </a:r>
            <a:br/>
            <a:r>
              <a:t>• Case overview &amp; readiness charts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371600"/>
            <a:ext cx="5120640" cy="32004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6. Doctor Checklist / Verification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91640"/>
            <a:ext cx="5120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050" b="0">
                <a:solidFill>
                  <a:srgbClr val="212529"/>
                </a:solidFill>
                <a:latin typeface="Arial"/>
              </a:defRPr>
            </a:pPr>
            <a:r>
              <a:t>• Patient checklist: view completed tasks</a:t>
            </a:r>
            <a:br/>
            <a:r>
              <a:t>• Uploaded report: blood_test.pdf [Preview PDF]</a:t>
            </a:r>
            <a:br/>
            <a:r>
              <a:t>• Verify option: clinician sign-off toggle</a:t>
            </a:r>
            <a:br/>
            <a:r>
              <a:t>• Readiness info: 85% status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114800"/>
            <a:ext cx="5120640" cy="32004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7. Patient Vitals 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434840"/>
            <a:ext cx="5120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050" b="0">
                <a:solidFill>
                  <a:srgbClr val="212529"/>
                </a:solidFill>
                <a:latin typeface="Arial"/>
              </a:defRPr>
            </a:pPr>
            <a:r>
              <a:t>• Blood sugar: 110 mg/dL</a:t>
            </a:r>
            <a:br/>
            <a:r>
              <a:t>• Blood pressure: 120 / 80 mmHg</a:t>
            </a:r>
            <a:br/>
            <a:r>
              <a:t>• Temperature: 98.6 °F</a:t>
            </a:r>
            <a:br/>
            <a:r>
              <a:t>• Creatinine: 0.9 mg/dL</a:t>
            </a:r>
            <a:br/>
            <a:r>
              <a:t>• Save button: logs vital readings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2512" y="4114800"/>
            <a:ext cx="5120640" cy="320040"/>
          </a:xfrm>
          <a:prstGeom prst="rect">
            <a:avLst/>
          </a:prstGeom>
          <a:solidFill>
            <a:srgbClr val="182B49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8. Clinical Board / Doctor Message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4434840"/>
            <a:ext cx="5120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l">
              <a:defRPr sz="1050" b="0">
                <a:solidFill>
                  <a:srgbClr val="212529"/>
                </a:solidFill>
                <a:latin typeface="Arial"/>
              </a:defRPr>
            </a:pPr>
            <a:r>
              <a:t>• Instruction: Proceed with fasting. Report approved.</a:t>
            </a:r>
            <a:br/>
            <a:r>
              <a:t>• Recipient: Rahul Sharma (PAT-8042)</a:t>
            </a:r>
            <a:br/>
            <a:r>
              <a:t>• Send button: posts directive to patient portal</a:t>
            </a:r>
            <a:br/>
            <a:r>
              <a:t>• Communication log: tracks directives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Project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011680"/>
            <a:ext cx="2377440" cy="1005840"/>
          </a:xfrm>
          <a:prstGeom prst="rect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050" b="1">
                <a:solidFill>
                  <a:srgbClr val="212529"/>
                </a:solidFill>
                <a:latin typeface="Arial"/>
              </a:defRPr>
            </a:pPr>
            <a:r>
              <a:t>Doctor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0" y="2505075"/>
            <a:ext cx="256032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5400000">
            <a:off x="3319272" y="2441448"/>
            <a:ext cx="109728" cy="146304"/>
          </a:xfrm>
          <a:prstGeom prst="triangle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9000" y="2011680"/>
            <a:ext cx="2377440" cy="1005840"/>
          </a:xfrm>
          <a:prstGeom prst="rect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050" b="1">
                <a:solidFill>
                  <a:srgbClr val="212529"/>
                </a:solidFill>
                <a:latin typeface="Arial"/>
              </a:defRPr>
            </a:pPr>
            <a:r>
              <a:t>Schedule Procedure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0" y="2505075"/>
            <a:ext cx="256032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6062472" y="2441448"/>
            <a:ext cx="109728" cy="146304"/>
          </a:xfrm>
          <a:prstGeom prst="triangle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2011680"/>
            <a:ext cx="2377440" cy="1005840"/>
          </a:xfrm>
          <a:prstGeom prst="rect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050" b="1">
                <a:solidFill>
                  <a:srgbClr val="212529"/>
                </a:solidFill>
                <a:latin typeface="Arial"/>
              </a:defRPr>
            </a:pPr>
            <a:r>
              <a:t>Checklist Assigned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49640" y="2505075"/>
            <a:ext cx="256032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805672" y="2441448"/>
            <a:ext cx="109728" cy="146304"/>
          </a:xfrm>
          <a:prstGeom prst="triangle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15400" y="2011680"/>
            <a:ext cx="2377440" cy="1005840"/>
          </a:xfrm>
          <a:prstGeom prst="rect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050" b="1">
                <a:solidFill>
                  <a:srgbClr val="212529"/>
                </a:solidFill>
                <a:latin typeface="Arial"/>
              </a:defRPr>
            </a:pPr>
            <a:r>
              <a:t>Patient Prepares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94595" y="3017520"/>
            <a:ext cx="19050" cy="118872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16568" y="4196715"/>
            <a:ext cx="987552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6200000">
            <a:off x="9006840" y="4133088"/>
            <a:ext cx="109728" cy="146304"/>
          </a:xfrm>
          <a:prstGeom prst="triangle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15400" y="3703320"/>
            <a:ext cx="1737360" cy="1005840"/>
          </a:xfrm>
          <a:prstGeom prst="rect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950" b="1">
                <a:solidFill>
                  <a:srgbClr val="212529"/>
                </a:solidFill>
                <a:latin typeface="Arial"/>
              </a:defRPr>
            </a:pPr>
            <a:r>
              <a:t>Upload Reports / Complete Tasks / Enter Vitals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50808" y="4196715"/>
            <a:ext cx="164592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6200000">
            <a:off x="8641080" y="4133088"/>
            <a:ext cx="109728" cy="146304"/>
          </a:xfrm>
          <a:prstGeom prst="triangle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20" y="3703320"/>
            <a:ext cx="1737360" cy="1005840"/>
          </a:xfrm>
          <a:prstGeom prst="rect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950" b="1">
                <a:solidFill>
                  <a:srgbClr val="212529"/>
                </a:solidFill>
                <a:latin typeface="Arial"/>
              </a:defRPr>
            </a:pPr>
            <a:r>
              <a:t>Doctor Verifies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39128" y="4196715"/>
            <a:ext cx="164592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6200000">
            <a:off x="6629400" y="4133088"/>
            <a:ext cx="109728" cy="146304"/>
          </a:xfrm>
          <a:prstGeom prst="triangle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92040" y="3703320"/>
            <a:ext cx="1737360" cy="1005840"/>
          </a:xfrm>
          <a:prstGeom prst="rect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950" b="1">
                <a:solidFill>
                  <a:srgbClr val="212529"/>
                </a:solidFill>
                <a:latin typeface="Arial"/>
              </a:defRPr>
            </a:pPr>
            <a:r>
              <a:t>Risk Check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27448" y="4196715"/>
            <a:ext cx="164592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6200000">
            <a:off x="4617720" y="4133088"/>
            <a:ext cx="109728" cy="146304"/>
          </a:xfrm>
          <a:prstGeom prst="triangle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0359" y="3703320"/>
            <a:ext cx="1737360" cy="1005840"/>
          </a:xfrm>
          <a:prstGeom prst="rect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950" b="1">
                <a:solidFill>
                  <a:srgbClr val="212529"/>
                </a:solidFill>
                <a:latin typeface="Arial"/>
              </a:defRPr>
            </a:pPr>
            <a:r>
              <a:t>Readiness Evaluation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15767" y="4196715"/>
            <a:ext cx="164592" cy="1905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16200000">
            <a:off x="2606039" y="4133088"/>
            <a:ext cx="109728" cy="146304"/>
          </a:xfrm>
          <a:prstGeom prst="triangle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79" y="3703320"/>
            <a:ext cx="1737360" cy="1005840"/>
          </a:xfrm>
          <a:prstGeom prst="rect">
            <a:avLst/>
          </a:prstGeom>
          <a:solidFill>
            <a:srgbClr val="E6F0FC"/>
          </a:solidFill>
          <a:ln w="1905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950" b="1">
                <a:solidFill>
                  <a:srgbClr val="212529"/>
                </a:solidFill>
                <a:latin typeface="Arial"/>
              </a:defRPr>
            </a:pPr>
            <a:r>
              <a:t>Ready / Pending /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Project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9"/>
                </a:solidFill>
                <a:latin typeface="Arial"/>
              </a:defRPr>
            </a:pPr>
            <a:r>
              <a:t>Current Project Progress: Approximately 80%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12064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28A745"/>
                </a:solidFill>
                <a:latin typeface="Arial"/>
              </a:defRPr>
            </a:pPr>
            <a:r>
              <a:t>✓ Completed / Implemented (~80%)</a:t>
            </a:r>
          </a:p>
          <a:p>
            <a:pPr>
              <a:spcAft>
                <a:spcPts val="35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•  Doctor and Patient Login</a:t>
            </a:r>
          </a:p>
          <a:p>
            <a:pPr>
              <a:spcAft>
                <a:spcPts val="35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•  Procedure Management</a:t>
            </a:r>
          </a:p>
          <a:p>
            <a:pPr>
              <a:spcAft>
                <a:spcPts val="35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•  Procedure Scheduling</a:t>
            </a:r>
          </a:p>
          <a:p>
            <a:pPr>
              <a:spcAft>
                <a:spcPts val="35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•  Checklist Management</a:t>
            </a:r>
          </a:p>
          <a:p>
            <a:pPr>
              <a:spcAft>
                <a:spcPts val="35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•  Report Upload</a:t>
            </a:r>
          </a:p>
          <a:p>
            <a:pPr>
              <a:spcAft>
                <a:spcPts val="35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•  Doctor Report Verification</a:t>
            </a:r>
          </a:p>
          <a:p>
            <a:pPr>
              <a:spcAft>
                <a:spcPts val="35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•  Patient Vitals</a:t>
            </a:r>
          </a:p>
          <a:p>
            <a:pPr>
              <a:spcAft>
                <a:spcPts val="35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•  Risk Alert Checking</a:t>
            </a:r>
          </a:p>
          <a:p>
            <a:pPr>
              <a:spcAft>
                <a:spcPts val="35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•  Readiness Percentage</a:t>
            </a:r>
          </a:p>
          <a:p>
            <a:pPr>
              <a:spcAft>
                <a:spcPts val="35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•  Readiness Status</a:t>
            </a:r>
          </a:p>
          <a:p>
            <a:pPr>
              <a:spcAft>
                <a:spcPts val="35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•  Doctor-Patient Messages</a:t>
            </a:r>
          </a:p>
          <a:p>
            <a:pPr>
              <a:spcAft>
                <a:spcPts val="35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•  Dashboard and Reports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463040"/>
            <a:ext cx="512064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spcAft>
                <a:spcPts val="1200"/>
              </a:spcAft>
              <a:defRPr b="1" sz="1400">
                <a:solidFill>
                  <a:srgbClr val="F58220"/>
                </a:solidFill>
                <a:latin typeface="Arial"/>
              </a:defRPr>
            </a:pPr>
            <a:r>
              <a:t>• Remaining / To Be Completed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 Final testing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 Minor UI improvements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 Final validation and corrections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 Final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82B49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