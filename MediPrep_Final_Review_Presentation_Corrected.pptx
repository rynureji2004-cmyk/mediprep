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tableStyles" Target="tableStyles.xml"/><Relationship Id="rId3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4556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00509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087760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90756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140857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3753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596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959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522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CEEED1-91B3-9C70-6BEE-2B1DBEA40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65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13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93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674860-53B1-61BE-60E9-A9B3621F2D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929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785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424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BE79DE-EA2F-27D8-DC49-CFA39F5AF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993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9851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122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DEFD2B-0806-3FC5-76AF-B52828E9B6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3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757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67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6A097-CD35-C5B7-B34B-102A3D1803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681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3977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102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E746AA-B349-5C80-8F3F-D483BC9B1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483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783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56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0834F1-29E7-6D1C-8A1E-F779BA0E86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17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128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579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03325-4C76-990B-D668-B9E4E0371A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184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021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11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7B04C-47FB-9D19-4171-DE07AC655B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018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873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561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9AAA3-F2B8-CBD9-A172-0A9CDA3CB0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068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078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081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2981E-25A1-4508-FA4E-3620164F1E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402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907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471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7ACDF4-63FB-9F04-A97C-B8E32DEFD0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028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271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167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4D6DC9-24EB-1BCA-3E0E-C1A01ED631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261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815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3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06501-FE0F-450A-5D45-878B22AAA6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423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8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20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18394B-C378-F057-1416-8F75577CBF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928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5975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563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7F382B-1F85-C133-E651-07B2F05458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53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029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1928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A3DC10-5C1C-9B53-69F5-F773C59E75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062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7529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658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164DDB-F711-5916-9500-783E43C73A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980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5938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4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2FC129-A702-4B1D-88B7-E71A18AF02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841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304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192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5FC67D-2172-3147-08A5-100E2F99E8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41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911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486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BDA340-E2D5-559E-9047-23034D0E40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40E3F-4042-AF52-8B08-1A5CDA4396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725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983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532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5186F9-DEF1-D8B6-E75C-F678842E97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226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055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540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5C6791-0A7F-C3F3-FFBD-C8B2AF3FDC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739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7967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12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4355CF-8F6C-7B6F-256F-B728C34EE3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886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747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737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7B14D-5519-0809-9713-D583B3F22E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598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161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997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DCC4DA-6C6F-84B8-D531-FC25CD893E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00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571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08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CBC58D-1669-3778-84FE-4232E6F93A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582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403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98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8EA8C-C990-AEA0-02EB-857E48AB54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7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001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808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D0224-F5E9-7C65-D60F-E2B2A90C66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976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518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587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8B4E69-2E1C-B512-E446-5B53333A32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165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26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564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A1BE7B-2265-9C86-07DE-1C0A821DD4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46420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9879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281847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14866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5796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257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38964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73018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93669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499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9250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50985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33639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7789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45855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128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19525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26577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8089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58207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88584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980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77287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5812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21707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503737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267453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536053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75753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0363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763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857344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73066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6370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62814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49988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06517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587756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4592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17693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267299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75108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19526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917750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496344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22958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801033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20257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7479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694730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01469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96106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4575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7274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83094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41166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6634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2814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35274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1000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248323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9790448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03189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968734" name="Rectangle 1"/>
          <p:cNvSpPr/>
          <p:nvPr/>
        </p:nvSpPr>
        <p:spPr bwMode="auto">
          <a:xfrm>
            <a:off x="0" y="0"/>
            <a:ext cx="914400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787816" name="TextBox 2"/>
          <p:cNvSpPr txBox="1"/>
          <p:nvPr/>
        </p:nvSpPr>
        <p:spPr bwMode="auto">
          <a:xfrm>
            <a:off x="1280160" y="1097280"/>
            <a:ext cx="10060919" cy="167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82B49"/>
                </a:solidFill>
                <a:latin typeface="Arial"/>
              </a:defRPr>
            </a:pPr>
            <a:r>
              <a:rPr b="1">
                <a:solidFill>
                  <a:schemeClr val="tx1"/>
                </a:solidFill>
              </a:rPr>
              <a:t>MediPrep</a:t>
            </a:r>
            <a:endParaRPr b="1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2200" b="1">
                <a:solidFill>
                  <a:srgbClr val="212529"/>
                </a:solidFill>
                <a:latin typeface="Arial"/>
              </a:defRPr>
            </a:pPr>
            <a:r>
              <a:rPr b="1">
                <a:solidFill>
                  <a:schemeClr val="tx1"/>
                </a:solidFill>
              </a:rPr>
              <a:t>Hospital Procedure Preparation and Readiness System</a:t>
            </a:r>
            <a:endParaRPr b="1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  <a:defRPr sz="1800">
                <a:solidFill>
                  <a:srgbClr val="6C757D"/>
                </a:solidFill>
                <a:latin typeface="Courier New"/>
              </a:defRPr>
            </a:pPr>
            <a:r>
              <a:rPr b="1">
                <a:solidFill>
                  <a:schemeClr val="tx1"/>
                </a:solidFill>
              </a:rPr>
              <a:t>MCA Project Review Presentation</a:t>
            </a:r>
            <a:endParaRPr/>
          </a:p>
        </p:txBody>
      </p:sp>
      <p:sp>
        <p:nvSpPr>
          <p:cNvPr id="1586235182" name="Rounded Rectangle 3"/>
          <p:cNvSpPr/>
          <p:nvPr/>
        </p:nvSpPr>
        <p:spPr bwMode="auto">
          <a:xfrm>
            <a:off x="4754880" y="4297680"/>
            <a:ext cx="6858000" cy="2011680"/>
          </a:xfrm>
          <a:prstGeom prst="roundRect">
            <a:avLst>
              <a:gd name="adj" fmla="val 16667"/>
            </a:avLst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STUDENT NAME: RYNU REJI   |   REGISTER NO: </a:t>
            </a:r>
            <a:r>
              <a:rPr/>
              <a:t>24SJMCA-2052</a:t>
            </a:r>
            <a:endParaRPr/>
          </a:p>
          <a:p>
            <a:pPr>
              <a:spcBef>
                <a:spcPts val="400"/>
              </a:spcBef>
              <a:defRPr sz="1100">
                <a:solidFill>
                  <a:srgbClr val="DCE6F5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100">
                <a:solidFill>
                  <a:srgbClr val="DCE6F5"/>
                </a:solidFill>
                <a:latin typeface="Arial"/>
              </a:defRPr>
            </a:pPr>
            <a:r>
              <a:rPr/>
              <a:t>S3 MCA</a:t>
            </a:r>
            <a:endParaRPr/>
          </a:p>
          <a:p>
            <a:pPr>
              <a:spcBef>
                <a:spcPts val="400"/>
              </a:spcBef>
              <a:defRPr sz="1100">
                <a:solidFill>
                  <a:srgbClr val="B4D2EB"/>
                </a:solidFill>
                <a:latin typeface="Arial"/>
              </a:defRPr>
            </a:pPr>
            <a:r>
              <a:rPr/>
              <a:t>PROJECT GUIDE: Assistant Professor Rajesh A.V.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892851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MediPrep – Project Introduction</a:t>
            </a:r>
          </a:p>
        </p:txBody>
      </p:sp>
      <p:sp>
        <p:nvSpPr>
          <p:cNvPr id="362597286" name="TextBox 2"/>
          <p:cNvSpPr txBox="1"/>
          <p:nvPr/>
        </p:nvSpPr>
        <p:spPr bwMode="auto">
          <a:xfrm>
            <a:off x="685800" y="1097279"/>
            <a:ext cx="10817712" cy="533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32323"/>
                </a:solidFill>
              </a:defRPr>
            </a:pPr>
            <a:r>
              <a:t>MediPrep is a web application that helps doctors and patients manage preparation before hospital procedures.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Doctors can schedule procedures, assign preparation checklists, review uploaded reports, check patient vitals, and monitor readiness.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Patients can view their procedure details, follow preparation instructions, complete checklist tasks, upload required documents, enter vitals, and check their preparation progress.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The system keeps procedure preparation information in one place. It helps reduce missed tasks, misplaced reports, and last-minute confusion.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MediPrep uses predefined rules to highlight incomplete tasks and vital readings that need attention. It supports better communication between doctors and patients.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19771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Existing System</a:t>
            </a:r>
          </a:p>
        </p:txBody>
      </p:sp>
      <p:sp>
        <p:nvSpPr>
          <p:cNvPr id="1071252385" name="TextBox 2"/>
          <p:cNvSpPr txBox="1"/>
          <p:nvPr/>
        </p:nvSpPr>
        <p:spPr bwMode="auto">
          <a:xfrm>
            <a:off x="685800" y="137160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32323"/>
                </a:solidFill>
              </a:defRPr>
            </a:pPr>
            <a:r>
              <a:t>In the existing process, hospitals often use paper forms, registers, phone calls, and verbal instructions to prepare patients for procedures.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Each procedure has its own preparation steps, such as fasting, consent forms, and required medical tests.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Staff may keep patient details, lab reports, and schedules in separate records. Patients may forget instructions or need to call the hospital to clarify them.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Doctors may discover missing reports or preparation tasks close to the procedure time.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This manual process can cause delays, communication problems, and difficulty tracking whether a patient is ready.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10082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Drawbacks of the Existing System</a:t>
            </a:r>
          </a:p>
        </p:txBody>
      </p:sp>
      <p:sp>
        <p:nvSpPr>
          <p:cNvPr id="720511078" name="TextBox 2"/>
          <p:cNvSpPr txBox="1"/>
          <p:nvPr/>
        </p:nvSpPr>
        <p:spPr bwMode="auto">
          <a:xfrm>
            <a:off x="685800" y="137160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• Preparation steps may be missed or completed incorrectly.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Patient records and laboratory reports can be difficult to track.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Consent forms and previous reports may be misplaced.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Patients may not know their current preparation status.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Fasting and medication instructions may be forgotten.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Staff must manually monitor many scheduled patients.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Missing or unverified reports can delay procedures.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Preparing readiness summaries manually takes time.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Communication between doctors and patients may be inconsistent.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Incomplete preparation can affect procedure schedules.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809365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Proposed System</a:t>
            </a:r>
          </a:p>
        </p:txBody>
      </p:sp>
      <p:sp>
        <p:nvSpPr>
          <p:cNvPr id="1138273629" name="TextBox 2"/>
          <p:cNvSpPr txBox="1"/>
          <p:nvPr/>
        </p:nvSpPr>
        <p:spPr bwMode="auto">
          <a:xfrm>
            <a:off x="685800" y="137160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32323"/>
                </a:solidFill>
              </a:defRPr>
            </a:pPr>
            <a:r>
              <a:t>MediPrep provides one web application for doctors and patients to manage procedure preparation.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Doctors schedule procedures for existing patients, assign preparation checklists, review and verify reports, monitor patient vitals, and check readiness.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Patients view procedure instructions, complete checklist tasks, upload required medical documents, enter pre-operative vitals, and follow their readiness progress.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The system uses predefined rules to highlight incomplete tasks and vital readings that need attention.</a:t>
            </a:r>
          </a:p>
          <a:p>
            <a:pPr>
              <a:defRPr sz="2100">
                <a:solidFill>
                  <a:srgbClr val="232323"/>
                </a:solidFill>
              </a:defRPr>
            </a:pPr>
          </a:p>
          <a:p>
            <a:pPr>
              <a:defRPr sz="2100">
                <a:solidFill>
                  <a:srgbClr val="232323"/>
                </a:solidFill>
              </a:defRPr>
            </a:pPr>
            <a:r>
              <a:t>By keeping preparation information together, MediPrep helps reduce manual work and makes procedure readiness easier to monitor.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767248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Objectives</a:t>
            </a:r>
          </a:p>
        </p:txBody>
      </p:sp>
      <p:sp>
        <p:nvSpPr>
          <p:cNvPr id="1346315432" name="TextBox 2"/>
          <p:cNvSpPr txBox="1"/>
          <p:nvPr/>
        </p:nvSpPr>
        <p:spPr bwMode="auto">
          <a:xfrm>
            <a:off x="685800" y="137160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• Provide an online system for hospital procedure preparation.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Make procedure scheduling and checklist assignment easier.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Keep patient preparation details and reports organized.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Show patients their checklist progress and readiness status.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Help doctors review reports and monitor patient preparation.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Allow required medical documents to be uploaded and verified.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Use predefined rules to flag vital readings that need attention.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Improve communication between doctors and patients.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Help doctors review procedure readiness from one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236906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MediPrep – Module Description</a:t>
            </a:r>
          </a:p>
        </p:txBody>
      </p:sp>
      <p:sp>
        <p:nvSpPr>
          <p:cNvPr id="1941866077" name="TextBox 2"/>
          <p:cNvSpPr txBox="1"/>
          <p:nvPr/>
        </p:nvSpPr>
        <p:spPr bwMode="auto">
          <a:xfrm>
            <a:off x="685800" y="137160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MediPrep has two main user modules: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1. Doctor Module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2. Patient Module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Doctors schedule procedures, manage preparation checklists, review uploaded reports, check patient vitals, and monitor readiness.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Patients view scheduled procedures, follow preparation instructions, complete checklist tasks, upload required documents, enter vitals, and track their preparation status.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Each module provides functions based on the user's role.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446598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1. Doctor Module</a:t>
            </a:r>
          </a:p>
        </p:txBody>
      </p:sp>
      <p:sp>
        <p:nvSpPr>
          <p:cNvPr id="2108239573" name="TextBox 2"/>
          <p:cNvSpPr txBox="1"/>
          <p:nvPr/>
        </p:nvSpPr>
        <p:spPr bwMode="auto">
          <a:xfrm>
            <a:off x="685800" y="128016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The Doctor Module helps doctors manage scheduled procedures and check whether patients are prepared.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Functions: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Doctor login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Schedule procedures for existing patients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Assign and manage preparation checklist tasks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View uploaded medical reports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Verify submitted reports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View patient vital records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Check rule-based safety alerts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Monitor patient readiness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Send messages to patients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View available clinical summary reports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Purpose: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Helps doctors review patient preparation and identify incomplete requirements before a procedure.</a:t>
            </a:r>
          </a:p>
        </p:txBody>
      </p:sp>
      <p:sp>
        <p:nvSpPr>
          <p:cNvPr id="1370453411" name="TextBox 3"/>
          <p:cNvSpPr txBox="1"/>
          <p:nvPr/>
        </p:nvSpPr>
        <p:spPr bwMode="auto">
          <a:xfrm>
            <a:off x="685800" y="21945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  <a:latin typeface="Arial"/>
              </a:defRPr>
            </a:pPr>
            <a:r>
              <a:rPr/>
              <a:t>Functions: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Doctor Login &amp; Role Control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Schedule Procedure (Patient, CPT, Date, Room)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Manage Patient Checklist Tasks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Uploaded Medical PDF Reports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Verify Uploaded Reports &amp; Sign-off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Patient Vital Logs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Check Vital Risk Safety Alerts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Monitor Patient Readiness Scores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Send Patient Clinical Board Messages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and Export Clinical Summary Reports</a:t>
            </a:r>
            <a:endParaRPr/>
          </a:p>
        </p:txBody>
      </p:sp>
      <p:sp>
        <p:nvSpPr>
          <p:cNvPr id="991209685" name="TextBox 4"/>
          <p:cNvSpPr txBox="1"/>
          <p:nvPr/>
        </p:nvSpPr>
        <p:spPr bwMode="auto">
          <a:xfrm>
            <a:off x="6382512" y="21945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  <a:latin typeface="Arial"/>
              </a:defRPr>
            </a:pPr>
            <a:r>
              <a:rPr/>
              <a:t>Purpose:</a:t>
            </a:r>
            <a:endParaRPr/>
          </a:p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  <a:latin typeface="Arial"/>
              </a:defRPr>
            </a:pPr>
            <a:r>
              <a:rPr/>
              <a:t>Allows attending physicians to manage procedure bookings, audit patient compliance, verify lab files, and ensure patient safety from a centralized dashboard.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62967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2. Patient Module</a:t>
            </a:r>
          </a:p>
        </p:txBody>
      </p:sp>
      <p:sp>
        <p:nvSpPr>
          <p:cNvPr id="922801201" name="TextBox 2"/>
          <p:cNvSpPr txBox="1"/>
          <p:nvPr/>
        </p:nvSpPr>
        <p:spPr bwMode="auto">
          <a:xfrm>
            <a:off x="685800" y="128016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The Patient Module helps patients prepare for their scheduled procedures.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Functions: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Patient login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View scheduled procedure details and location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Read preparation instructions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Complete checklist tasks, such as fasting and escort arrangements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Upload required medical PDF reports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Enter pre-operative vital readings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View preparation progress and readiness status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Read messages from the doctor</a:t>
            </a:r>
          </a:p>
          <a:p>
            <a:pPr>
              <a:defRPr sz="2000">
                <a:solidFill>
                  <a:srgbClr val="232323"/>
                </a:solidFill>
              </a:defRPr>
            </a:pP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Purpose: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Gives patients a clear place to check what they need to do before their procedure.</a:t>
            </a:r>
          </a:p>
        </p:txBody>
      </p:sp>
      <p:sp>
        <p:nvSpPr>
          <p:cNvPr id="376461776" name="TextBox 3"/>
          <p:cNvSpPr txBox="1"/>
          <p:nvPr/>
        </p:nvSpPr>
        <p:spPr bwMode="auto">
          <a:xfrm>
            <a:off x="685800" y="21945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  <a:latin typeface="Arial"/>
              </a:defRPr>
            </a:pPr>
            <a:r>
              <a:rPr/>
              <a:t>Functions: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Patient Login &amp; Portal Access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Scheduled Procedure Details &amp; Location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Pre-operative Guidelines &amp; Instructions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Complete Checklist Tasks (Fasting, Driver Escort)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Upload Required Medical PDF Reports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Enter Pre-operative Vitals (Sugar, BP, Temp)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Live Readiness Percentage (0% - 100%)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View Readiness Status (Ready / Pending)</a:t>
            </a:r>
            <a:endParaRPr/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Arial"/>
              </a:defRPr>
            </a:pPr>
            <a:r>
              <a:rPr/>
              <a:t>•  Receive Direct Doctor Messages &amp; Directives</a:t>
            </a:r>
            <a:endParaRPr/>
          </a:p>
        </p:txBody>
      </p:sp>
      <p:sp>
        <p:nvSpPr>
          <p:cNvPr id="587988885" name="TextBox 4"/>
          <p:cNvSpPr txBox="1"/>
          <p:nvPr/>
        </p:nvSpPr>
        <p:spPr bwMode="auto">
          <a:xfrm>
            <a:off x="6382512" y="21945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  <a:latin typeface="Arial"/>
              </a:defRPr>
            </a:pPr>
            <a:r>
              <a:rPr/>
              <a:t>Purpose:</a:t>
            </a:r>
            <a:endParaRPr/>
          </a:p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  <a:latin typeface="Arial"/>
              </a:defRPr>
            </a:pPr>
            <a:r>
              <a:rPr/>
              <a:t>Provides patients with an easy, organized, and transparent experience to ensure 100% pre-procedure preparation compliance.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542718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Technology Stack</a:t>
            </a:r>
          </a:p>
        </p:txBody>
      </p:sp>
      <p:sp>
        <p:nvSpPr>
          <p:cNvPr id="1168008813" name="TextBox 2"/>
          <p:cNvSpPr txBox="1"/>
          <p:nvPr/>
        </p:nvSpPr>
        <p:spPr bwMode="auto"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• Frontend: HTML, CSS, JavaScript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Backend: Python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Framework: Flask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Database: MySQL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Development Environment: Visual Studio Code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Operating System: Windows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985429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System Workflow</a:t>
            </a:r>
            <a:endParaRPr/>
          </a:p>
        </p:txBody>
      </p:sp>
      <p:sp>
        <p:nvSpPr>
          <p:cNvPr id="1648973502" name="Rectangle 2"/>
          <p:cNvSpPr/>
          <p:nvPr/>
        </p:nvSpPr>
        <p:spPr bwMode="auto">
          <a:xfrm>
            <a:off x="685800" y="201168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Doctor schedules procedure</a:t>
            </a:r>
            <a:endParaRPr/>
          </a:p>
        </p:txBody>
      </p:sp>
      <p:sp>
        <p:nvSpPr>
          <p:cNvPr id="788399049" name="Rectangle 3"/>
          <p:cNvSpPr/>
          <p:nvPr/>
        </p:nvSpPr>
        <p:spPr bwMode="auto">
          <a:xfrm>
            <a:off x="3063240" y="2505074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9253761" name="Isosceles Triangle 4"/>
          <p:cNvSpPr/>
          <p:nvPr/>
        </p:nvSpPr>
        <p:spPr bwMode="auto">
          <a:xfrm rot="5400000">
            <a:off x="3319272" y="244144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750393" name="Rectangle 5"/>
          <p:cNvSpPr/>
          <p:nvPr/>
        </p:nvSpPr>
        <p:spPr bwMode="auto">
          <a:xfrm>
            <a:off x="3429000" y="201168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Checklist is created</a:t>
            </a:r>
            <a:endParaRPr/>
          </a:p>
        </p:txBody>
      </p:sp>
      <p:sp>
        <p:nvSpPr>
          <p:cNvPr id="573143631" name="Rectangle 6"/>
          <p:cNvSpPr/>
          <p:nvPr/>
        </p:nvSpPr>
        <p:spPr bwMode="auto">
          <a:xfrm>
            <a:off x="5806440" y="2505074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928863" name="Isosceles Triangle 7"/>
          <p:cNvSpPr/>
          <p:nvPr/>
        </p:nvSpPr>
        <p:spPr bwMode="auto">
          <a:xfrm rot="5400000">
            <a:off x="6062471" y="244144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938418" name="Rectangle 8"/>
          <p:cNvSpPr/>
          <p:nvPr/>
        </p:nvSpPr>
        <p:spPr bwMode="auto">
          <a:xfrm>
            <a:off x="6172200" y="201168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Patient views checklist</a:t>
            </a:r>
            <a:endParaRPr/>
          </a:p>
        </p:txBody>
      </p:sp>
      <p:sp>
        <p:nvSpPr>
          <p:cNvPr id="809493630" name="Rectangle 9"/>
          <p:cNvSpPr/>
          <p:nvPr/>
        </p:nvSpPr>
        <p:spPr bwMode="auto">
          <a:xfrm>
            <a:off x="8549640" y="2505074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0257728" name="Isosceles Triangle 10"/>
          <p:cNvSpPr/>
          <p:nvPr/>
        </p:nvSpPr>
        <p:spPr bwMode="auto">
          <a:xfrm rot="5400000">
            <a:off x="8805672" y="244144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670474" name="Rectangle 11"/>
          <p:cNvSpPr/>
          <p:nvPr/>
        </p:nvSpPr>
        <p:spPr bwMode="auto">
          <a:xfrm>
            <a:off x="8915400" y="201168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Patient completes tasks</a:t>
            </a:r>
            <a:endParaRPr/>
          </a:p>
        </p:txBody>
      </p:sp>
      <p:sp>
        <p:nvSpPr>
          <p:cNvPr id="707996820" name="Rectangle 12"/>
          <p:cNvSpPr/>
          <p:nvPr/>
        </p:nvSpPr>
        <p:spPr bwMode="auto">
          <a:xfrm>
            <a:off x="10094595" y="3017519"/>
            <a:ext cx="19050" cy="11887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382024" name="Rectangle 13"/>
          <p:cNvSpPr/>
          <p:nvPr/>
        </p:nvSpPr>
        <p:spPr bwMode="auto">
          <a:xfrm>
            <a:off x="9116568" y="4196715"/>
            <a:ext cx="98755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629072" name="Isosceles Triangle 14"/>
          <p:cNvSpPr/>
          <p:nvPr/>
        </p:nvSpPr>
        <p:spPr bwMode="auto">
          <a:xfrm rot="16199998">
            <a:off x="9006840" y="413308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420114" name="Rectangle 15"/>
          <p:cNvSpPr/>
          <p:nvPr/>
        </p:nvSpPr>
        <p:spPr bwMode="auto">
          <a:xfrm>
            <a:off x="8915400" y="370332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Patient uploads reports</a:t>
            </a:r>
            <a:endParaRPr/>
          </a:p>
        </p:txBody>
      </p:sp>
      <p:sp>
        <p:nvSpPr>
          <p:cNvPr id="1992851226" name="Rectangle 16"/>
          <p:cNvSpPr/>
          <p:nvPr/>
        </p:nvSpPr>
        <p:spPr bwMode="auto">
          <a:xfrm>
            <a:off x="8659368" y="419671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64678" name="Isosceles Triangle 17"/>
          <p:cNvSpPr/>
          <p:nvPr/>
        </p:nvSpPr>
        <p:spPr bwMode="auto">
          <a:xfrm rot="16199998">
            <a:off x="8549640" y="413308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006401" name="Rectangle 18"/>
          <p:cNvSpPr/>
          <p:nvPr/>
        </p:nvSpPr>
        <p:spPr bwMode="auto">
          <a:xfrm>
            <a:off x="6172200" y="370332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Doctor verifies reports</a:t>
            </a:r>
            <a:endParaRPr/>
          </a:p>
        </p:txBody>
      </p:sp>
      <p:sp>
        <p:nvSpPr>
          <p:cNvPr id="1713299606" name="Rectangle 19"/>
          <p:cNvSpPr/>
          <p:nvPr/>
        </p:nvSpPr>
        <p:spPr bwMode="auto">
          <a:xfrm>
            <a:off x="5916168" y="419671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946222" name="Isosceles Triangle 20"/>
          <p:cNvSpPr/>
          <p:nvPr/>
        </p:nvSpPr>
        <p:spPr bwMode="auto">
          <a:xfrm rot="16199998">
            <a:off x="5806440" y="413308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5576578" name="Rectangle 21"/>
          <p:cNvSpPr/>
          <p:nvPr/>
        </p:nvSpPr>
        <p:spPr bwMode="auto">
          <a:xfrm>
            <a:off x="3429000" y="370332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System checks readiness</a:t>
            </a:r>
            <a:endParaRPr/>
          </a:p>
        </p:txBody>
      </p:sp>
      <p:sp>
        <p:nvSpPr>
          <p:cNvPr id="410497939" name="Rectangle 22"/>
          <p:cNvSpPr/>
          <p:nvPr/>
        </p:nvSpPr>
        <p:spPr bwMode="auto">
          <a:xfrm>
            <a:off x="3172968" y="419671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9321051" name="Isosceles Triangle 23"/>
          <p:cNvSpPr/>
          <p:nvPr/>
        </p:nvSpPr>
        <p:spPr bwMode="auto">
          <a:xfrm rot="16199998">
            <a:off x="3063240" y="4133088"/>
            <a:ext cx="109728" cy="146304"/>
          </a:xfrm>
          <a:prstGeom prst="triangle">
            <a:avLst>
              <a:gd name="adj" fmla="val 50000"/>
            </a:avLst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9780770" name="Rectangle 24"/>
          <p:cNvSpPr/>
          <p:nvPr/>
        </p:nvSpPr>
        <p:spPr bwMode="auto">
          <a:xfrm>
            <a:off x="685800" y="3703320"/>
            <a:ext cx="2377440" cy="1005840"/>
          </a:xfrm>
          <a:prstGeom prst="rect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rPr/>
              <a:t>Ready / Pending status shown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908347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tbl_users</a:t>
            </a:r>
            <a:endParaRPr/>
          </a:p>
        </p:txBody>
      </p:sp>
      <p:graphicFrame>
        <p:nvGraphicFramePr>
          <p:cNvPr id="1135059222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email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120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Unique, Not Null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password_hash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255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role_name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 (doctor / patient)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full_name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100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phone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created_at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DATETIME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Current Timestamp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215645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tbl_procedures</a:t>
            </a:r>
            <a:endParaRPr/>
          </a:p>
        </p:txBody>
      </p:sp>
      <p:graphicFrame>
        <p:nvGraphicFramePr>
          <p:cNvPr id="129011253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2004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procedure_code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50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Unique, Not Null (e.g. CPT-93452)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name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150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category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50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 (Cardiology, Radiology)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description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TEXT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est_duration_mins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Default 60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202630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tbl_scheduled_procedures</a:t>
            </a:r>
            <a:endParaRPr/>
          </a:p>
        </p:txBody>
      </p:sp>
      <p:graphicFrame>
        <p:nvGraphicFramePr>
          <p:cNvPr id="90225357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patient_id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doctor_id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DATETIME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location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100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status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30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Default Scheduled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614761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tbl_checklist_items</a:t>
            </a:r>
            <a:endParaRPr/>
          </a:p>
        </p:txBody>
      </p:sp>
      <p:graphicFrame>
        <p:nvGraphicFramePr>
          <p:cNvPr id="489100912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2004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tbl_scheduled_procedures.id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task_name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200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task_type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50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 (text_check / file_upload)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status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30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Default pending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is_critical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BOOLEAN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Default True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429586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tbl_uploaded_reports</a:t>
            </a:r>
            <a:endParaRPr/>
          </a:p>
        </p:txBody>
      </p:sp>
      <p:graphicFrame>
        <p:nvGraphicFramePr>
          <p:cNvPr id="1675039628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checklist_item_id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tbl_checklist_items.id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uploaded_by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file_name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255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file_path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255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file_size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Bytes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uploaded_at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DATETIME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Current Timestamp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558972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tbl_patient_vitals</a:t>
            </a:r>
            <a:endParaRPr/>
          </a:p>
        </p:txBody>
      </p:sp>
      <p:graphicFrame>
        <p:nvGraphicFramePr>
          <p:cNvPr id="1316556931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41148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tbl_scheduled_procedures.id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patient_id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blood_sugar_mg_dl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FLOAT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bp_systolic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bp_diastolic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temperature_f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FLOAT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creatinine_mg_dl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FLOAT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519231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tbl_procedure_readiness</a:t>
            </a:r>
            <a:endParaRPr/>
          </a:p>
        </p:txBody>
      </p:sp>
      <p:graphicFrame>
        <p:nvGraphicFramePr>
          <p:cNvPr id="208357171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2743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tbl_scheduled_procedures.id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readiness_percentage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FLOAT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 (0.0 to 100.0)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readiness_status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30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 (Ready / Pending)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notes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TEXT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437705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tbl_health_suggestions</a:t>
            </a:r>
            <a:endParaRPr/>
          </a:p>
        </p:txBody>
      </p:sp>
      <p:graphicFrame>
        <p:nvGraphicFramePr>
          <p:cNvPr id="276669808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22860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suggestion_text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TEXT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trigger_condition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100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Nullable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124103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tbl_notifications</a:t>
            </a:r>
            <a:endParaRPr/>
          </a:p>
        </p:txBody>
      </p:sp>
      <p:graphicFrame>
        <p:nvGraphicFramePr>
          <p:cNvPr id="1624889330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user_id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sender_id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tbl_users.id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tbl_scheduled_procedures.id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title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150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message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TEXT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sent_at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DATETIME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Current Timestamp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637824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MediPrep – Table Designs: tbl_risk_alerts</a:t>
            </a:r>
            <a:endParaRPr/>
          </a:p>
        </p:txBody>
      </p:sp>
      <p:graphicFrame>
        <p:nvGraphicFramePr>
          <p:cNvPr id="1730794703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85800" y="1371600"/>
          <a:ext cx="10817352" cy="2743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4233672"/>
              </a:tblGrid>
              <a:tr h="457200"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Column Name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Data Type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Size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/>
                        <a:t>Constraint</a:t>
                      </a:r>
                      <a:endParaRPr/>
                    </a:p>
                  </a:txBody>
                  <a:tcPr>
                    <a:solidFill>
                      <a:srgbClr val="2969B0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Primary Key, Auto Increment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scheduled_procedure_id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INTEGER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Foreign Key → tbl_scheduled_procedures.id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alert_code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VARCHAR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50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description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TEXT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Not Null</a:t>
                      </a:r>
                      <a:endParaRPr/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defRPr sz="115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rPr/>
                        <a:t>is_resolved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BOOLEAN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  <a:tc>
                  <a:txBody>
                    <a:bodyPr/>
                    <a:p>
                      <a:pPr>
                        <a:defRPr sz="115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/>
                        <a:t>Default False</a:t>
                      </a:r>
                      <a:endParaRPr/>
                    </a:p>
                  </a:txBody>
                  <a:tcPr>
                    <a:solidFill>
                      <a:srgbClr val="E1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95414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9246" y="366712"/>
            <a:ext cx="11380625" cy="6124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018322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Use Case Diagram</a:t>
            </a:r>
            <a:endParaRPr/>
          </a:p>
        </p:txBody>
      </p:sp>
      <p:sp>
        <p:nvSpPr>
          <p:cNvPr id="226304029" name="Oval 2"/>
          <p:cNvSpPr/>
          <p:nvPr/>
        </p:nvSpPr>
        <p:spPr bwMode="auto">
          <a:xfrm>
            <a:off x="1097280" y="2560320"/>
            <a:ext cx="365760" cy="365760"/>
          </a:xfrm>
          <a:prstGeom prst="ellipse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016115" name="Rectangle 3"/>
          <p:cNvSpPr/>
          <p:nvPr/>
        </p:nvSpPr>
        <p:spPr bwMode="auto">
          <a:xfrm>
            <a:off x="1261872" y="2926080"/>
            <a:ext cx="36576" cy="54864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2267015" name="Rectangle 4"/>
          <p:cNvSpPr/>
          <p:nvPr/>
        </p:nvSpPr>
        <p:spPr bwMode="auto">
          <a:xfrm>
            <a:off x="1078992" y="3017519"/>
            <a:ext cx="402336" cy="36576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626522" name="Rectangle 5"/>
          <p:cNvSpPr/>
          <p:nvPr/>
        </p:nvSpPr>
        <p:spPr bwMode="auto">
          <a:xfrm rot="899999">
            <a:off x="1170432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160749" name="Rectangle 6"/>
          <p:cNvSpPr/>
          <p:nvPr/>
        </p:nvSpPr>
        <p:spPr bwMode="auto">
          <a:xfrm rot="20700000">
            <a:off x="1353312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5337811" name="TextBox 7"/>
          <p:cNvSpPr txBox="1"/>
          <p:nvPr/>
        </p:nvSpPr>
        <p:spPr bwMode="auto">
          <a:xfrm>
            <a:off x="731520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9"/>
                </a:solidFill>
              </a:defRPr>
            </a:pPr>
            <a:r>
              <a:rPr/>
              <a:t>DOCTOR</a:t>
            </a:r>
            <a:endParaRPr/>
          </a:p>
        </p:txBody>
      </p:sp>
      <p:sp>
        <p:nvSpPr>
          <p:cNvPr id="1830069226" name="Oval 8"/>
          <p:cNvSpPr/>
          <p:nvPr/>
        </p:nvSpPr>
        <p:spPr bwMode="auto">
          <a:xfrm>
            <a:off x="10725912" y="2560320"/>
            <a:ext cx="365760" cy="365760"/>
          </a:xfrm>
          <a:prstGeom prst="ellipse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7116863" name="Rectangle 9"/>
          <p:cNvSpPr/>
          <p:nvPr/>
        </p:nvSpPr>
        <p:spPr bwMode="auto">
          <a:xfrm>
            <a:off x="10890504" y="2926080"/>
            <a:ext cx="36576" cy="54864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8473702" name="Rectangle 10"/>
          <p:cNvSpPr/>
          <p:nvPr/>
        </p:nvSpPr>
        <p:spPr bwMode="auto">
          <a:xfrm>
            <a:off x="10707624" y="3017519"/>
            <a:ext cx="402336" cy="36576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7426" name="Rectangle 11"/>
          <p:cNvSpPr/>
          <p:nvPr/>
        </p:nvSpPr>
        <p:spPr bwMode="auto">
          <a:xfrm rot="899999">
            <a:off x="10799064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6555184" name="Rectangle 12"/>
          <p:cNvSpPr/>
          <p:nvPr/>
        </p:nvSpPr>
        <p:spPr bwMode="auto">
          <a:xfrm rot="20700000">
            <a:off x="10981943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0373590" name="TextBox 13"/>
          <p:cNvSpPr txBox="1"/>
          <p:nvPr/>
        </p:nvSpPr>
        <p:spPr bwMode="auto">
          <a:xfrm>
            <a:off x="10360152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9"/>
                </a:solidFill>
              </a:defRPr>
            </a:pPr>
            <a:r>
              <a:rPr/>
              <a:t>PATIENT</a:t>
            </a:r>
            <a:endParaRPr/>
          </a:p>
        </p:txBody>
      </p:sp>
      <p:sp>
        <p:nvSpPr>
          <p:cNvPr id="21744966" name="Rectangle 14"/>
          <p:cNvSpPr/>
          <p:nvPr/>
        </p:nvSpPr>
        <p:spPr bwMode="auto">
          <a:xfrm>
            <a:off x="2286000" y="1280160"/>
            <a:ext cx="7616952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defRPr sz="1000" b="0">
                <a:solidFill>
                  <a:srgbClr val="6C757D"/>
                </a:solidFill>
                <a:latin typeface="Arial"/>
              </a:defRPr>
            </a:pPr>
            <a:endParaRPr/>
          </a:p>
        </p:txBody>
      </p:sp>
      <p:sp>
        <p:nvSpPr>
          <p:cNvPr id="1485373553" name="Oval 15"/>
          <p:cNvSpPr/>
          <p:nvPr/>
        </p:nvSpPr>
        <p:spPr bwMode="auto">
          <a:xfrm>
            <a:off x="2743200" y="157276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Login</a:t>
            </a:r>
            <a:endParaRPr/>
          </a:p>
        </p:txBody>
      </p:sp>
      <p:sp>
        <p:nvSpPr>
          <p:cNvPr id="1017183526" name="Rectangle 16"/>
          <p:cNvSpPr/>
          <p:nvPr/>
        </p:nvSpPr>
        <p:spPr bwMode="auto">
          <a:xfrm>
            <a:off x="1639570" y="1737360"/>
            <a:ext cx="12700" cy="17373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6241833" name="Oval 17"/>
          <p:cNvSpPr/>
          <p:nvPr/>
        </p:nvSpPr>
        <p:spPr bwMode="auto">
          <a:xfrm>
            <a:off x="2743200" y="207568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Schedule Procedure</a:t>
            </a:r>
            <a:endParaRPr/>
          </a:p>
        </p:txBody>
      </p:sp>
      <p:sp>
        <p:nvSpPr>
          <p:cNvPr id="400509342" name="Rectangle 18"/>
          <p:cNvSpPr/>
          <p:nvPr/>
        </p:nvSpPr>
        <p:spPr bwMode="auto">
          <a:xfrm>
            <a:off x="1639570" y="2240280"/>
            <a:ext cx="12700" cy="1234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912469" name="Oval 19"/>
          <p:cNvSpPr/>
          <p:nvPr/>
        </p:nvSpPr>
        <p:spPr bwMode="auto">
          <a:xfrm>
            <a:off x="2743200" y="257860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Manage Checklist</a:t>
            </a:r>
            <a:endParaRPr/>
          </a:p>
        </p:txBody>
      </p:sp>
      <p:sp>
        <p:nvSpPr>
          <p:cNvPr id="1921778039" name="Rectangle 20"/>
          <p:cNvSpPr/>
          <p:nvPr/>
        </p:nvSpPr>
        <p:spPr bwMode="auto"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984915" name="Oval 21"/>
          <p:cNvSpPr/>
          <p:nvPr/>
        </p:nvSpPr>
        <p:spPr bwMode="auto">
          <a:xfrm>
            <a:off x="2743200" y="3081527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Reports</a:t>
            </a:r>
            <a:endParaRPr/>
          </a:p>
        </p:txBody>
      </p:sp>
      <p:sp>
        <p:nvSpPr>
          <p:cNvPr id="1843384528" name="Rectangle 22"/>
          <p:cNvSpPr/>
          <p:nvPr/>
        </p:nvSpPr>
        <p:spPr bwMode="auto"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4467" name="Oval 23"/>
          <p:cNvSpPr/>
          <p:nvPr/>
        </p:nvSpPr>
        <p:spPr bwMode="auto">
          <a:xfrm>
            <a:off x="2743200" y="3584447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Verify Reports</a:t>
            </a:r>
            <a:endParaRPr/>
          </a:p>
        </p:txBody>
      </p:sp>
      <p:sp>
        <p:nvSpPr>
          <p:cNvPr id="754321013" name="Rectangle 24"/>
          <p:cNvSpPr/>
          <p:nvPr/>
        </p:nvSpPr>
        <p:spPr bwMode="auto"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936580" name="Oval 25"/>
          <p:cNvSpPr/>
          <p:nvPr/>
        </p:nvSpPr>
        <p:spPr bwMode="auto">
          <a:xfrm>
            <a:off x="2743200" y="408736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Patient Vitals</a:t>
            </a:r>
            <a:endParaRPr/>
          </a:p>
        </p:txBody>
      </p:sp>
      <p:sp>
        <p:nvSpPr>
          <p:cNvPr id="1490873323" name="Rectangle 26"/>
          <p:cNvSpPr/>
          <p:nvPr/>
        </p:nvSpPr>
        <p:spPr bwMode="auto"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728463" name="Oval 27"/>
          <p:cNvSpPr/>
          <p:nvPr/>
        </p:nvSpPr>
        <p:spPr bwMode="auto">
          <a:xfrm>
            <a:off x="2743200" y="459028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Check Risk Alerts</a:t>
            </a:r>
            <a:endParaRPr/>
          </a:p>
        </p:txBody>
      </p:sp>
      <p:sp>
        <p:nvSpPr>
          <p:cNvPr id="905326574" name="Rectangle 28"/>
          <p:cNvSpPr/>
          <p:nvPr/>
        </p:nvSpPr>
        <p:spPr bwMode="auto">
          <a:xfrm>
            <a:off x="1639570" y="3474720"/>
            <a:ext cx="12700" cy="12801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6875557" name="Oval 29"/>
          <p:cNvSpPr/>
          <p:nvPr/>
        </p:nvSpPr>
        <p:spPr bwMode="auto">
          <a:xfrm>
            <a:off x="2743200" y="509320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Monitor Readiness</a:t>
            </a:r>
            <a:endParaRPr/>
          </a:p>
        </p:txBody>
      </p:sp>
      <p:sp>
        <p:nvSpPr>
          <p:cNvPr id="1265195581" name="Rectangle 30"/>
          <p:cNvSpPr/>
          <p:nvPr/>
        </p:nvSpPr>
        <p:spPr bwMode="auto">
          <a:xfrm>
            <a:off x="1639570" y="3474720"/>
            <a:ext cx="1270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9793929" name="Oval 31"/>
          <p:cNvSpPr/>
          <p:nvPr/>
        </p:nvSpPr>
        <p:spPr bwMode="auto">
          <a:xfrm>
            <a:off x="2743200" y="559612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Send Patient Message</a:t>
            </a:r>
            <a:endParaRPr/>
          </a:p>
        </p:txBody>
      </p:sp>
      <p:sp>
        <p:nvSpPr>
          <p:cNvPr id="909371078" name="Rectangle 32"/>
          <p:cNvSpPr/>
          <p:nvPr/>
        </p:nvSpPr>
        <p:spPr bwMode="auto">
          <a:xfrm>
            <a:off x="1639570" y="3474720"/>
            <a:ext cx="12700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7088837" name="Oval 33"/>
          <p:cNvSpPr/>
          <p:nvPr/>
        </p:nvSpPr>
        <p:spPr bwMode="auto">
          <a:xfrm>
            <a:off x="2743200" y="6099048"/>
            <a:ext cx="2560320" cy="365760"/>
          </a:xfrm>
          <a:prstGeom prst="ellipse">
            <a:avLst/>
          </a:prstGeom>
          <a:solidFill>
            <a:srgbClr val="DCEB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Clinical Reports</a:t>
            </a:r>
            <a:endParaRPr/>
          </a:p>
        </p:txBody>
      </p:sp>
      <p:sp>
        <p:nvSpPr>
          <p:cNvPr id="2025658206" name="Rectangle 34"/>
          <p:cNvSpPr/>
          <p:nvPr/>
        </p:nvSpPr>
        <p:spPr bwMode="auto">
          <a:xfrm>
            <a:off x="1639570" y="3474720"/>
            <a:ext cx="12700" cy="2788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5383632" name="Oval 35"/>
          <p:cNvSpPr/>
          <p:nvPr/>
        </p:nvSpPr>
        <p:spPr bwMode="auto">
          <a:xfrm>
            <a:off x="6858000" y="157276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Login</a:t>
            </a:r>
            <a:endParaRPr/>
          </a:p>
        </p:txBody>
      </p:sp>
      <p:sp>
        <p:nvSpPr>
          <p:cNvPr id="1312429663" name="Rectangle 36"/>
          <p:cNvSpPr/>
          <p:nvPr/>
        </p:nvSpPr>
        <p:spPr bwMode="auto">
          <a:xfrm>
            <a:off x="10353802" y="1737360"/>
            <a:ext cx="12700" cy="17373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4938618" name="Oval 37"/>
          <p:cNvSpPr/>
          <p:nvPr/>
        </p:nvSpPr>
        <p:spPr bwMode="auto">
          <a:xfrm>
            <a:off x="6858000" y="207568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Procedure</a:t>
            </a:r>
            <a:endParaRPr/>
          </a:p>
        </p:txBody>
      </p:sp>
      <p:sp>
        <p:nvSpPr>
          <p:cNvPr id="119606512" name="Rectangle 38"/>
          <p:cNvSpPr/>
          <p:nvPr/>
        </p:nvSpPr>
        <p:spPr bwMode="auto">
          <a:xfrm>
            <a:off x="10353802" y="2240280"/>
            <a:ext cx="12700" cy="1234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633553" name="Oval 39"/>
          <p:cNvSpPr/>
          <p:nvPr/>
        </p:nvSpPr>
        <p:spPr bwMode="auto">
          <a:xfrm>
            <a:off x="6858000" y="257860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Checklist</a:t>
            </a:r>
            <a:endParaRPr/>
          </a:p>
        </p:txBody>
      </p:sp>
      <p:sp>
        <p:nvSpPr>
          <p:cNvPr id="5468061" name="Rectangle 40"/>
          <p:cNvSpPr/>
          <p:nvPr/>
        </p:nvSpPr>
        <p:spPr bwMode="auto"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975678" name="Oval 41"/>
          <p:cNvSpPr/>
          <p:nvPr/>
        </p:nvSpPr>
        <p:spPr bwMode="auto">
          <a:xfrm>
            <a:off x="6858000" y="3081527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Complete Checklist</a:t>
            </a:r>
            <a:endParaRPr/>
          </a:p>
        </p:txBody>
      </p:sp>
      <p:sp>
        <p:nvSpPr>
          <p:cNvPr id="1706007111" name="Rectangle 42"/>
          <p:cNvSpPr/>
          <p:nvPr/>
        </p:nvSpPr>
        <p:spPr bwMode="auto"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473916" name="Oval 43"/>
          <p:cNvSpPr/>
          <p:nvPr/>
        </p:nvSpPr>
        <p:spPr bwMode="auto">
          <a:xfrm>
            <a:off x="6858000" y="3584447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Upload Report</a:t>
            </a:r>
            <a:endParaRPr/>
          </a:p>
        </p:txBody>
      </p:sp>
      <p:sp>
        <p:nvSpPr>
          <p:cNvPr id="957493903" name="Rectangle 44"/>
          <p:cNvSpPr/>
          <p:nvPr/>
        </p:nvSpPr>
        <p:spPr bwMode="auto"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745744" name="Oval 45"/>
          <p:cNvSpPr/>
          <p:nvPr/>
        </p:nvSpPr>
        <p:spPr bwMode="auto">
          <a:xfrm>
            <a:off x="6858000" y="408736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Enter Vitals</a:t>
            </a:r>
            <a:endParaRPr/>
          </a:p>
        </p:txBody>
      </p:sp>
      <p:sp>
        <p:nvSpPr>
          <p:cNvPr id="985613875" name="Rectangle 46"/>
          <p:cNvSpPr/>
          <p:nvPr/>
        </p:nvSpPr>
        <p:spPr bwMode="auto"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526815" name="Oval 47"/>
          <p:cNvSpPr/>
          <p:nvPr/>
        </p:nvSpPr>
        <p:spPr bwMode="auto">
          <a:xfrm>
            <a:off x="6858000" y="459028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Risk Alerts</a:t>
            </a:r>
            <a:endParaRPr/>
          </a:p>
        </p:txBody>
      </p:sp>
      <p:sp>
        <p:nvSpPr>
          <p:cNvPr id="1227037512" name="Rectangle 48"/>
          <p:cNvSpPr/>
          <p:nvPr/>
        </p:nvSpPr>
        <p:spPr bwMode="auto">
          <a:xfrm>
            <a:off x="10353802" y="3474720"/>
            <a:ext cx="12700" cy="12801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6618162" name="Oval 49"/>
          <p:cNvSpPr/>
          <p:nvPr/>
        </p:nvSpPr>
        <p:spPr bwMode="auto">
          <a:xfrm>
            <a:off x="6858000" y="509320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Readiness</a:t>
            </a:r>
            <a:endParaRPr/>
          </a:p>
        </p:txBody>
      </p:sp>
      <p:sp>
        <p:nvSpPr>
          <p:cNvPr id="1880119384" name="Rectangle 50"/>
          <p:cNvSpPr/>
          <p:nvPr/>
        </p:nvSpPr>
        <p:spPr bwMode="auto">
          <a:xfrm>
            <a:off x="10353802" y="3474720"/>
            <a:ext cx="1270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376340" name="Oval 51"/>
          <p:cNvSpPr/>
          <p:nvPr/>
        </p:nvSpPr>
        <p:spPr bwMode="auto">
          <a:xfrm>
            <a:off x="6858000" y="559612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rPr/>
              <a:t>View Messages</a:t>
            </a:r>
            <a:endParaRPr/>
          </a:p>
        </p:txBody>
      </p:sp>
      <p:sp>
        <p:nvSpPr>
          <p:cNvPr id="128292286" name="Rectangle 52"/>
          <p:cNvSpPr/>
          <p:nvPr/>
        </p:nvSpPr>
        <p:spPr bwMode="auto">
          <a:xfrm>
            <a:off x="10353802" y="3474720"/>
            <a:ext cx="12700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589966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User Login Form</a:t>
            </a:r>
            <a:endParaRPr/>
          </a:p>
        </p:txBody>
      </p:sp>
      <p:sp>
        <p:nvSpPr>
          <p:cNvPr id="1982494640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Secure role-based login for doctors and patients.</a:t>
            </a:r>
            <a:endParaRPr/>
          </a:p>
        </p:txBody>
      </p:sp>
      <p:sp>
        <p:nvSpPr>
          <p:cNvPr id="414441536" name="Rectangle 3"/>
          <p:cNvSpPr/>
          <p:nvPr/>
        </p:nvSpPr>
        <p:spPr bwMode="auto">
          <a:xfrm>
            <a:off x="1641347" y="1508759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0546647" name="TextBox 4"/>
          <p:cNvSpPr txBox="1"/>
          <p:nvPr/>
        </p:nvSpPr>
        <p:spPr bwMode="auto">
          <a:xfrm>
            <a:off x="2103120" y="1828800"/>
            <a:ext cx="2021687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Email Address/Username</a:t>
            </a:r>
            <a:endParaRPr/>
          </a:p>
        </p:txBody>
      </p:sp>
      <p:sp>
        <p:nvSpPr>
          <p:cNvPr id="1452890951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priya.nair@mediprep.com</a:t>
            </a:r>
            <a:endParaRPr/>
          </a:p>
        </p:txBody>
      </p:sp>
      <p:sp>
        <p:nvSpPr>
          <p:cNvPr id="1088093648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Password</a:t>
            </a:r>
            <a:endParaRPr/>
          </a:p>
        </p:txBody>
      </p:sp>
      <p:sp>
        <p:nvSpPr>
          <p:cNvPr id="1963161721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••••••••••••</a:t>
            </a:r>
            <a:endParaRPr/>
          </a:p>
        </p:txBody>
      </p:sp>
      <p:sp>
        <p:nvSpPr>
          <p:cNvPr id="644565445" name="TextBox 8"/>
          <p:cNvSpPr txBox="1"/>
          <p:nvPr/>
        </p:nvSpPr>
        <p:spPr bwMode="auto">
          <a:xfrm>
            <a:off x="2103120" y="2743200"/>
            <a:ext cx="183636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endParaRPr/>
          </a:p>
        </p:txBody>
      </p:sp>
      <p:sp>
        <p:nvSpPr>
          <p:cNvPr id="1839145355" name="TextBox 10"/>
          <p:cNvSpPr txBox="1"/>
          <p:nvPr/>
        </p:nvSpPr>
        <p:spPr bwMode="auto">
          <a:xfrm>
            <a:off x="6309360" y="2743200"/>
            <a:ext cx="183636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endParaRPr/>
          </a:p>
        </p:txBody>
      </p:sp>
      <p:sp>
        <p:nvSpPr>
          <p:cNvPr id="1467480865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LOGIN TO MEDIPREP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787525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Doctor Schedule Procedure Form</a:t>
            </a:r>
            <a:endParaRPr/>
          </a:p>
        </p:txBody>
      </p:sp>
      <p:sp>
        <p:nvSpPr>
          <p:cNvPr id="1808902259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Doctors schedule patient procedures and assign room allocations.</a:t>
            </a:r>
            <a:endParaRPr/>
          </a:p>
        </p:txBody>
      </p:sp>
      <p:sp>
        <p:nvSpPr>
          <p:cNvPr id="880937832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0301416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Patient Name</a:t>
            </a:r>
            <a:endParaRPr/>
          </a:p>
        </p:txBody>
      </p:sp>
      <p:sp>
        <p:nvSpPr>
          <p:cNvPr id="261459455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Rahul Sharma (PAT-8042)</a:t>
            </a:r>
            <a:endParaRPr/>
          </a:p>
        </p:txBody>
      </p:sp>
      <p:sp>
        <p:nvSpPr>
          <p:cNvPr id="349348501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Procedure Catalog</a:t>
            </a:r>
            <a:endParaRPr/>
          </a:p>
        </p:txBody>
      </p:sp>
      <p:sp>
        <p:nvSpPr>
          <p:cNvPr id="303283591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Left Heart Catheterization (CPT-93452)</a:t>
            </a:r>
            <a:endParaRPr/>
          </a:p>
        </p:txBody>
      </p:sp>
      <p:sp>
        <p:nvSpPr>
          <p:cNvPr id="495273299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Scheduled Date &amp; Time</a:t>
            </a:r>
            <a:endParaRPr/>
          </a:p>
        </p:txBody>
      </p:sp>
      <p:sp>
        <p:nvSpPr>
          <p:cNvPr id="473093749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05 Oct 2026, 10:00 AM</a:t>
            </a:r>
            <a:endParaRPr/>
          </a:p>
        </p:txBody>
      </p:sp>
      <p:sp>
        <p:nvSpPr>
          <p:cNvPr id="1399583897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Location / Room</a:t>
            </a:r>
            <a:endParaRPr/>
          </a:p>
        </p:txBody>
      </p:sp>
      <p:sp>
        <p:nvSpPr>
          <p:cNvPr id="855917371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Cardiology Dept - Lab 2</a:t>
            </a:r>
            <a:endParaRPr/>
          </a:p>
        </p:txBody>
      </p:sp>
      <p:sp>
        <p:nvSpPr>
          <p:cNvPr id="411745558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CONFIRM SCHEDULED PROCEDURE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688145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Patient Checklist Page</a:t>
            </a:r>
            <a:endParaRPr/>
          </a:p>
        </p:txBody>
      </p:sp>
      <p:sp>
        <p:nvSpPr>
          <p:cNvPr id="1108912909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Patients view scheduled procedure guidelines and preparation tasks.</a:t>
            </a:r>
            <a:endParaRPr/>
          </a:p>
        </p:txBody>
      </p:sp>
      <p:sp>
        <p:nvSpPr>
          <p:cNvPr id="545903445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936541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Procedure Name</a:t>
            </a:r>
            <a:endParaRPr/>
          </a:p>
        </p:txBody>
      </p:sp>
      <p:sp>
        <p:nvSpPr>
          <p:cNvPr id="1860314514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Left Heart Catheterization (CPT-93452)</a:t>
            </a:r>
            <a:endParaRPr/>
          </a:p>
        </p:txBody>
      </p:sp>
      <p:sp>
        <p:nvSpPr>
          <p:cNvPr id="655475698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Attending Doctor</a:t>
            </a:r>
            <a:endParaRPr/>
          </a:p>
        </p:txBody>
      </p:sp>
      <p:sp>
        <p:nvSpPr>
          <p:cNvPr id="1031455946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Dr. Priya Nair</a:t>
            </a:r>
            <a:endParaRPr/>
          </a:p>
        </p:txBody>
      </p:sp>
      <p:sp>
        <p:nvSpPr>
          <p:cNvPr id="1882724932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Task Checklist</a:t>
            </a:r>
            <a:endParaRPr/>
          </a:p>
        </p:txBody>
      </p:sp>
      <p:sp>
        <p:nvSpPr>
          <p:cNvPr id="1708722757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8-Hour NPO Fasting (Completed)</a:t>
            </a:r>
            <a:endParaRPr/>
          </a:p>
        </p:txBody>
      </p:sp>
      <p:sp>
        <p:nvSpPr>
          <p:cNvPr id="928012356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Document Status</a:t>
            </a:r>
            <a:endParaRPr/>
          </a:p>
        </p:txBody>
      </p:sp>
      <p:sp>
        <p:nvSpPr>
          <p:cNvPr id="1548389269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Blood Test PDF (Pending Upload)</a:t>
            </a:r>
            <a:endParaRPr/>
          </a:p>
        </p:txBody>
      </p:sp>
      <p:sp>
        <p:nvSpPr>
          <p:cNvPr id="438275630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VIEW CHECKLIST DETAILS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770028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Patient Report Upload Form</a:t>
            </a:r>
            <a:endParaRPr/>
          </a:p>
        </p:txBody>
      </p:sp>
      <p:sp>
        <p:nvSpPr>
          <p:cNvPr id="2133911229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Patients upload required medical PDF reports.</a:t>
            </a:r>
            <a:endParaRPr/>
          </a:p>
        </p:txBody>
      </p:sp>
      <p:sp>
        <p:nvSpPr>
          <p:cNvPr id="632867411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8465609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Checklist Item</a:t>
            </a:r>
            <a:endParaRPr/>
          </a:p>
        </p:txBody>
      </p:sp>
      <p:sp>
        <p:nvSpPr>
          <p:cNvPr id="1446823120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Upload Pre-op Blood Test Report</a:t>
            </a:r>
            <a:endParaRPr/>
          </a:p>
        </p:txBody>
      </p:sp>
      <p:sp>
        <p:nvSpPr>
          <p:cNvPr id="757943881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Select PDF File</a:t>
            </a:r>
            <a:endParaRPr/>
          </a:p>
        </p:txBody>
      </p:sp>
      <p:sp>
        <p:nvSpPr>
          <p:cNvPr id="1658171994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blood_test_report_rahul.pdf</a:t>
            </a:r>
            <a:endParaRPr/>
          </a:p>
        </p:txBody>
      </p:sp>
      <p:sp>
        <p:nvSpPr>
          <p:cNvPr id="428951151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Signed Consent Form</a:t>
            </a:r>
            <a:endParaRPr/>
          </a:p>
        </p:txBody>
      </p:sp>
      <p:sp>
        <p:nvSpPr>
          <p:cNvPr id="708718369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Upload signed consent form PDF</a:t>
            </a:r>
            <a:endParaRPr/>
          </a:p>
        </p:txBody>
      </p:sp>
      <p:sp>
        <p:nvSpPr>
          <p:cNvPr id="1283424583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Fasting Checkoff</a:t>
            </a:r>
            <a:endParaRPr/>
          </a:p>
        </p:txBody>
      </p:sp>
      <p:sp>
        <p:nvSpPr>
          <p:cNvPr id="225055497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Mark 8-hour NPO fasting as completed</a:t>
            </a:r>
            <a:endParaRPr/>
          </a:p>
        </p:txBody>
      </p:sp>
      <p:sp>
        <p:nvSpPr>
          <p:cNvPr id="270994485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SUBMIT COMPLIANCE REPORT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928049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Patient Vitals Form</a:t>
            </a:r>
            <a:endParaRPr/>
          </a:p>
        </p:txBody>
      </p:sp>
      <p:sp>
        <p:nvSpPr>
          <p:cNvPr id="621462814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Patients enter pre-operative vital parameters.</a:t>
            </a:r>
            <a:endParaRPr/>
          </a:p>
        </p:txBody>
      </p:sp>
      <p:sp>
        <p:nvSpPr>
          <p:cNvPr id="564852527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6465710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Fasting Blood Sugar</a:t>
            </a:r>
            <a:endParaRPr/>
          </a:p>
        </p:txBody>
      </p:sp>
      <p:sp>
        <p:nvSpPr>
          <p:cNvPr id="1701777413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110 mg/dL</a:t>
            </a:r>
            <a:endParaRPr/>
          </a:p>
        </p:txBody>
      </p:sp>
      <p:sp>
        <p:nvSpPr>
          <p:cNvPr id="119889153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Blood Pressure</a:t>
            </a:r>
            <a:endParaRPr/>
          </a:p>
        </p:txBody>
      </p:sp>
      <p:sp>
        <p:nvSpPr>
          <p:cNvPr id="1326958080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120 / 80 mmHg</a:t>
            </a:r>
            <a:endParaRPr/>
          </a:p>
        </p:txBody>
      </p:sp>
      <p:sp>
        <p:nvSpPr>
          <p:cNvPr id="1658689264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Body Temperature</a:t>
            </a:r>
            <a:endParaRPr/>
          </a:p>
        </p:txBody>
      </p:sp>
      <p:sp>
        <p:nvSpPr>
          <p:cNvPr id="1982121076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98.6 °F</a:t>
            </a:r>
            <a:endParaRPr/>
          </a:p>
        </p:txBody>
      </p:sp>
      <p:sp>
        <p:nvSpPr>
          <p:cNvPr id="1278065395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Serum Creatinine</a:t>
            </a:r>
            <a:endParaRPr/>
          </a:p>
        </p:txBody>
      </p:sp>
      <p:sp>
        <p:nvSpPr>
          <p:cNvPr id="920553933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0.9 mg/dL</a:t>
            </a:r>
            <a:endParaRPr/>
          </a:p>
        </p:txBody>
      </p:sp>
      <p:sp>
        <p:nvSpPr>
          <p:cNvPr id="1218811639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LOG VITALS RECORD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126967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Doctor Checklist / Verification Page</a:t>
            </a:r>
            <a:endParaRPr/>
          </a:p>
        </p:txBody>
      </p:sp>
      <p:sp>
        <p:nvSpPr>
          <p:cNvPr id="284245137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Doctors audit submitted reports and sign-off.</a:t>
            </a:r>
            <a:endParaRPr/>
          </a:p>
        </p:txBody>
      </p:sp>
      <p:sp>
        <p:nvSpPr>
          <p:cNvPr id="2057392231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5601542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Patient File</a:t>
            </a:r>
            <a:endParaRPr/>
          </a:p>
        </p:txBody>
      </p:sp>
      <p:sp>
        <p:nvSpPr>
          <p:cNvPr id="54633712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blood_test_report_rahul.pdf [Preview PDF]</a:t>
            </a:r>
            <a:endParaRPr/>
          </a:p>
        </p:txBody>
      </p:sp>
      <p:sp>
        <p:nvSpPr>
          <p:cNvPr id="613470172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Verification Action</a:t>
            </a:r>
            <a:endParaRPr/>
          </a:p>
        </p:txBody>
      </p:sp>
      <p:sp>
        <p:nvSpPr>
          <p:cNvPr id="1583047255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Verify &amp; Approve Report</a:t>
            </a:r>
            <a:endParaRPr/>
          </a:p>
        </p:txBody>
      </p:sp>
      <p:sp>
        <p:nvSpPr>
          <p:cNvPr id="2104885003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Clinical Board Directive</a:t>
            </a:r>
            <a:endParaRPr/>
          </a:p>
        </p:txBody>
      </p:sp>
      <p:sp>
        <p:nvSpPr>
          <p:cNvPr id="1810905880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Proceed with fasting. Report approved by Dr. Priya Nair.</a:t>
            </a:r>
            <a:endParaRPr/>
          </a:p>
        </p:txBody>
      </p:sp>
      <p:sp>
        <p:nvSpPr>
          <p:cNvPr id="228919385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Audit Status</a:t>
            </a:r>
            <a:endParaRPr/>
          </a:p>
        </p:txBody>
      </p:sp>
      <p:sp>
        <p:nvSpPr>
          <p:cNvPr id="519242890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Verified by Clinician</a:t>
            </a:r>
            <a:endParaRPr/>
          </a:p>
        </p:txBody>
      </p:sp>
      <p:sp>
        <p:nvSpPr>
          <p:cNvPr id="729697444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SUBMIT VERIFICATION SIGN-OFF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992282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Doctor Dashboard</a:t>
            </a:r>
            <a:endParaRPr/>
          </a:p>
        </p:txBody>
      </p:sp>
      <p:sp>
        <p:nvSpPr>
          <p:cNvPr id="298164589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Real-time summary monitoring readiness scores and active cases.</a:t>
            </a:r>
            <a:endParaRPr/>
          </a:p>
        </p:txBody>
      </p:sp>
      <p:sp>
        <p:nvSpPr>
          <p:cNvPr id="1703050663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332189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Today's Cases</a:t>
            </a:r>
            <a:endParaRPr/>
          </a:p>
        </p:txBody>
      </p:sp>
      <p:sp>
        <p:nvSpPr>
          <p:cNvPr id="1951580658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12 total scheduled procedures</a:t>
            </a:r>
            <a:endParaRPr/>
          </a:p>
        </p:txBody>
      </p:sp>
      <p:sp>
        <p:nvSpPr>
          <p:cNvPr id="1952451413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Ready Patients</a:t>
            </a:r>
            <a:endParaRPr/>
          </a:p>
        </p:txBody>
      </p:sp>
      <p:sp>
        <p:nvSpPr>
          <p:cNvPr id="1279073774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8 cases (100% Green)</a:t>
            </a:r>
            <a:endParaRPr/>
          </a:p>
        </p:txBody>
      </p:sp>
      <p:sp>
        <p:nvSpPr>
          <p:cNvPr id="818366573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Pending Patients</a:t>
            </a:r>
            <a:endParaRPr/>
          </a:p>
        </p:txBody>
      </p:sp>
      <p:sp>
        <p:nvSpPr>
          <p:cNvPr id="284538428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4 cases (Yellow / Orange)</a:t>
            </a:r>
            <a:endParaRPr/>
          </a:p>
        </p:txBody>
      </p:sp>
      <p:sp>
        <p:nvSpPr>
          <p:cNvPr id="2027686161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Compliance Overview</a:t>
            </a:r>
            <a:endParaRPr/>
          </a:p>
        </p:txBody>
      </p:sp>
      <p:sp>
        <p:nvSpPr>
          <p:cNvPr id="890397064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Chart.js Dynamic Distribution Graph</a:t>
            </a:r>
            <a:endParaRPr/>
          </a:p>
        </p:txBody>
      </p:sp>
      <p:sp>
        <p:nvSpPr>
          <p:cNvPr id="947353340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VIEW CLINICAL SUMMARY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009308" name="TextBox 1"/>
          <p:cNvSpPr txBox="1"/>
          <p:nvPr/>
        </p:nvSpPr>
        <p:spPr bwMode="auto"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rPr/>
              <a:t>Patient Readiness Dashboard</a:t>
            </a:r>
            <a:endParaRPr/>
          </a:p>
        </p:txBody>
      </p:sp>
      <p:sp>
        <p:nvSpPr>
          <p:cNvPr id="1223712078" name="TextBox 2"/>
          <p:cNvSpPr txBox="1"/>
          <p:nvPr/>
        </p:nvSpPr>
        <p:spPr bwMode="auto"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12529"/>
                </a:solidFill>
                <a:latin typeface="Arial"/>
              </a:defRPr>
            </a:pPr>
            <a:r>
              <a:rPr/>
              <a:t>Patient view of preparation progress and safety alerts.</a:t>
            </a:r>
            <a:endParaRPr/>
          </a:p>
        </p:txBody>
      </p:sp>
      <p:sp>
        <p:nvSpPr>
          <p:cNvPr id="620971687" name="Rectangle 3"/>
          <p:cNvSpPr/>
          <p:nvPr/>
        </p:nvSpPr>
        <p:spPr bwMode="auto">
          <a:xfrm>
            <a:off x="1645920" y="1554480"/>
            <a:ext cx="889711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294304" name="TextBox 4"/>
          <p:cNvSpPr txBox="1"/>
          <p:nvPr/>
        </p:nvSpPr>
        <p:spPr bwMode="auto">
          <a:xfrm>
            <a:off x="210312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Procedure Details</a:t>
            </a:r>
            <a:endParaRPr/>
          </a:p>
        </p:txBody>
      </p:sp>
      <p:sp>
        <p:nvSpPr>
          <p:cNvPr id="2113043273" name="Rounded Rectangle 5"/>
          <p:cNvSpPr/>
          <p:nvPr/>
        </p:nvSpPr>
        <p:spPr bwMode="auto">
          <a:xfrm>
            <a:off x="210312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Left Heart Catheterization (CPT-93452)</a:t>
            </a:r>
            <a:endParaRPr/>
          </a:p>
        </p:txBody>
      </p:sp>
      <p:sp>
        <p:nvSpPr>
          <p:cNvPr id="1307262759" name="TextBox 6"/>
          <p:cNvSpPr txBox="1"/>
          <p:nvPr/>
        </p:nvSpPr>
        <p:spPr bwMode="auto">
          <a:xfrm>
            <a:off x="630936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Preparation Progress</a:t>
            </a:r>
            <a:endParaRPr/>
          </a:p>
        </p:txBody>
      </p:sp>
      <p:sp>
        <p:nvSpPr>
          <p:cNvPr id="521773359" name="Rounded Rectangle 7"/>
          <p:cNvSpPr/>
          <p:nvPr/>
        </p:nvSpPr>
        <p:spPr bwMode="auto">
          <a:xfrm>
            <a:off x="6309360" y="21031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85% Completion Bar</a:t>
            </a:r>
            <a:endParaRPr/>
          </a:p>
        </p:txBody>
      </p:sp>
      <p:sp>
        <p:nvSpPr>
          <p:cNvPr id="2022661282" name="TextBox 8"/>
          <p:cNvSpPr txBox="1"/>
          <p:nvPr/>
        </p:nvSpPr>
        <p:spPr bwMode="auto"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Readiness Status</a:t>
            </a:r>
            <a:endParaRPr/>
          </a:p>
        </p:txBody>
      </p:sp>
      <p:sp>
        <p:nvSpPr>
          <p:cNvPr id="1686571509" name="Rounded Rectangle 9"/>
          <p:cNvSpPr/>
          <p:nvPr/>
        </p:nvSpPr>
        <p:spPr bwMode="auto">
          <a:xfrm>
            <a:off x="210312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YELLOW (Warning: Missing Lab File)</a:t>
            </a:r>
            <a:endParaRPr/>
          </a:p>
        </p:txBody>
      </p:sp>
      <p:sp>
        <p:nvSpPr>
          <p:cNvPr id="1374817786" name="TextBox 10"/>
          <p:cNvSpPr txBox="1"/>
          <p:nvPr/>
        </p:nvSpPr>
        <p:spPr bwMode="auto">
          <a:xfrm>
            <a:off x="6309360" y="2743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rPr/>
              <a:t>Risk Warnings &amp; Messages</a:t>
            </a:r>
            <a:endParaRPr/>
          </a:p>
        </p:txBody>
      </p:sp>
      <p:sp>
        <p:nvSpPr>
          <p:cNvPr id="1534156404" name="Rounded Rectangle 11"/>
          <p:cNvSpPr/>
          <p:nvPr/>
        </p:nvSpPr>
        <p:spPr bwMode="auto">
          <a:xfrm>
            <a:off x="6309360" y="3017519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64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rPr/>
              <a:t>Fasting Blood Sugar Alert (&gt; 200 mg/dL)</a:t>
            </a:r>
            <a:endParaRPr/>
          </a:p>
        </p:txBody>
      </p:sp>
      <p:sp>
        <p:nvSpPr>
          <p:cNvPr id="1826969118" name="Rounded Rectangle 12"/>
          <p:cNvSpPr/>
          <p:nvPr/>
        </p:nvSpPr>
        <p:spPr bwMode="auto">
          <a:xfrm>
            <a:off x="3803904" y="3931920"/>
            <a:ext cx="4572000" cy="502920"/>
          </a:xfrm>
          <a:prstGeom prst="roundRect">
            <a:avLst>
              <a:gd name="adj" fmla="val 16667"/>
            </a:avLst>
          </a:prstGeom>
          <a:solidFill>
            <a:srgbClr val="4B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VIEW READINESS STATUS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515073" name="TextBox 1"/>
          <p:cNvSpPr txBox="1"/>
          <p:nvPr/>
        </p:nvSpPr>
        <p:spPr bwMode="auto">
          <a:xfrm>
            <a:off x="914400" y="2693849"/>
            <a:ext cx="10360511" cy="13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82B49"/>
                </a:solidFill>
                <a:latin typeface="Arial"/>
              </a:defRPr>
            </a:pPr>
            <a:r>
              <a:rPr/>
              <a:t>THANK YOU</a:t>
            </a:r>
            <a:endParaRPr/>
          </a:p>
          <a:p>
            <a:pPr algn="ctr">
              <a:spcBef>
                <a:spcPts val="1500"/>
              </a:spcBef>
              <a:defRPr sz="1500">
                <a:solidFill>
                  <a:srgbClr val="6C757D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2026-09-02T17:24:53Z</dcterms:modified>
  <cp:category/>
</cp:coreProperties>
</file>